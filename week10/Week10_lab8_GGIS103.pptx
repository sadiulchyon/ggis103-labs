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60" r:id="rId3"/>
    <p:sldId id="278" r:id="rId4"/>
    <p:sldId id="279" r:id="rId5"/>
    <p:sldId id="277" r:id="rId6"/>
    <p:sldId id="280" r:id="rId7"/>
    <p:sldId id="281" r:id="rId8"/>
    <p:sldId id="282" r:id="rId9"/>
    <p:sldId id="283" r:id="rId10"/>
    <p:sldId id="284" r:id="rId11"/>
    <p:sldId id="28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A9F48-E7AF-324C-BD14-0DA8D174B2A8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C38C3-1C22-E24F-A154-0ECC3C80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358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A9F48-E7AF-324C-BD14-0DA8D174B2A8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C38C3-1C22-E24F-A154-0ECC3C80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5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A9F48-E7AF-324C-BD14-0DA8D174B2A8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C38C3-1C22-E24F-A154-0ECC3C80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907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A9F48-E7AF-324C-BD14-0DA8D174B2A8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C38C3-1C22-E24F-A154-0ECC3C80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398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A9F48-E7AF-324C-BD14-0DA8D174B2A8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C38C3-1C22-E24F-A154-0ECC3C80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589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A9F48-E7AF-324C-BD14-0DA8D174B2A8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C38C3-1C22-E24F-A154-0ECC3C80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622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A9F48-E7AF-324C-BD14-0DA8D174B2A8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C38C3-1C22-E24F-A154-0ECC3C80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934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A9F48-E7AF-324C-BD14-0DA8D174B2A8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C38C3-1C22-E24F-A154-0ECC3C80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99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A9F48-E7AF-324C-BD14-0DA8D174B2A8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C38C3-1C22-E24F-A154-0ECC3C80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650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A9F48-E7AF-324C-BD14-0DA8D174B2A8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C38C3-1C22-E24F-A154-0ECC3C80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082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A9F48-E7AF-324C-BD14-0DA8D174B2A8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C38C3-1C22-E24F-A154-0ECC3C80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8768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S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A9F48-E7AF-324C-BD14-0DA8D174B2A8}" type="datetimeFigureOut">
              <a:rPr lang="en-US" smtClean="0"/>
              <a:t>4/2/2026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FC38C3-1C22-E24F-A154-0ECC3C80B7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664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ahoma"/>
          <a:ea typeface="+mj-ea"/>
          <a:cs typeface="Tahoma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SzPct val="125000"/>
        <a:buFont typeface="Arial"/>
        <a:buChar char="•"/>
        <a:defRPr sz="32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Wingdings" charset="2"/>
        <a:buChar char="§"/>
        <a:defRPr sz="28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Font typeface="Wingdings" charset="2"/>
        <a:buChar char="ü"/>
        <a:defRPr sz="24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ransition spd="slow">
    <p:fade/>
  </p:transition>
  <p:txStyles>
    <p:titleStyle>
      <a:lvl1pPr algn="l" defTabSz="457200" rtl="0" eaLnBrk="1" latinLnBrk="0" hangingPunct="1">
        <a:spcBef>
          <a:spcPct val="0"/>
        </a:spcBef>
        <a:buNone/>
        <a:defRPr sz="2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7013" indent="-225425" algn="l" defTabSz="457200" rtl="0" eaLnBrk="1" latinLnBrk="0" hangingPunct="1">
        <a:spcBef>
          <a:spcPct val="20000"/>
        </a:spcBef>
        <a:buClr>
          <a:schemeClr val="accent1"/>
        </a:buClr>
        <a:buFont typeface="Wingdings" charset="2"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285750" indent="-285750" algn="l" defTabSz="457200" rtl="0" eaLnBrk="1" latinLnBrk="0" hangingPunct="1">
        <a:spcBef>
          <a:spcPct val="20000"/>
        </a:spcBef>
        <a:buClr>
          <a:schemeClr val="accent1"/>
        </a:buClr>
        <a:buFont typeface="Wingdings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455613" indent="0" algn="l" defTabSz="457200" rtl="0" eaLnBrk="1" latinLnBrk="0" hangingPunct="1">
        <a:spcBef>
          <a:spcPct val="20000"/>
        </a:spcBef>
        <a:buClr>
          <a:schemeClr val="accent1"/>
        </a:buClr>
        <a:buFont typeface="Arial"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141413" indent="-228600" algn="l" defTabSz="457200" rtl="0" eaLnBrk="1" latinLnBrk="0" hangingPunct="1">
        <a:spcBef>
          <a:spcPct val="20000"/>
        </a:spcBef>
        <a:buClr>
          <a:schemeClr val="accent1"/>
        </a:buClr>
        <a:buFont typeface="Lucida Grande"/>
        <a:buChar char="»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598613" indent="-228600" algn="l" defTabSz="457200" rtl="0" eaLnBrk="1" latinLnBrk="0" hangingPunct="1">
        <a:spcBef>
          <a:spcPct val="20000"/>
        </a:spcBef>
        <a:buClr>
          <a:schemeClr val="tx1"/>
        </a:buClr>
        <a:buFont typeface="Wingdings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X5mgHu2bMvI?feature=oembed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9921"/>
            <a:ext cx="8229600" cy="469433"/>
          </a:xfrm>
        </p:spPr>
        <p:txBody>
          <a:bodyPr>
            <a:normAutofit fontScale="90000"/>
          </a:bodyPr>
          <a:lstStyle/>
          <a:p>
            <a:r>
              <a:rPr lang="en-US" dirty="0"/>
              <a:t>stream table</a:t>
            </a:r>
          </a:p>
        </p:txBody>
      </p:sp>
      <p:pic>
        <p:nvPicPr>
          <p:cNvPr id="4" name="Content Placeholder 3" descr="IMG_7500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36" b="13336"/>
          <a:stretch>
            <a:fillRect/>
          </a:stretch>
        </p:blipFill>
        <p:spPr>
          <a:xfrm>
            <a:off x="0" y="793378"/>
            <a:ext cx="5208041" cy="286422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FF8587-6522-94D1-7C96-E692AD5C76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070" y="2653552"/>
            <a:ext cx="5605929" cy="4204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087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Why Model Rivers in the Lab?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dirty="0"/>
              <a:t>Real rivers: large, slow, expensive, and difficult to control</a:t>
            </a:r>
          </a:p>
          <a:p>
            <a:pPr lvl="0"/>
            <a:r>
              <a:rPr lang="en-US" dirty="0"/>
              <a:t>Stream tables let us isolate one variable at a time</a:t>
            </a:r>
          </a:p>
          <a:p>
            <a:pPr lvl="0"/>
            <a:r>
              <a:rPr lang="en-US" dirty="0"/>
              <a:t>Think about:</a:t>
            </a:r>
          </a:p>
          <a:p>
            <a:pPr lvl="1"/>
            <a:r>
              <a:rPr lang="en-US" dirty="0"/>
              <a:t>Cost and safety vs. fieldwork</a:t>
            </a:r>
          </a:p>
          <a:p>
            <a:pPr lvl="1"/>
            <a:r>
              <a:rPr lang="en-US" dirty="0"/>
              <a:t>Controlling slope, discharge, and sediment independently</a:t>
            </a:r>
          </a:p>
          <a:p>
            <a:pPr lvl="1"/>
            <a:r>
              <a:rPr lang="en-US" dirty="0"/>
              <a:t>Compressing years of change into minutes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Limitations of the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No model perfectly replicates a natural system</a:t>
            </a:r>
          </a:p>
          <a:p>
            <a:pPr lvl="0"/>
            <a:r>
              <a:rPr lang="en-US" dirty="0"/>
              <a:t>What does a stream table leave out?</a:t>
            </a:r>
          </a:p>
          <a:p>
            <a:pPr lvl="1"/>
            <a:r>
              <a:rPr lang="en-US" dirty="0"/>
              <a:t>Scale: lab table vs. kilometer-wide floodplains</a:t>
            </a:r>
          </a:p>
          <a:p>
            <a:pPr lvl="1"/>
            <a:r>
              <a:rPr lang="en-US" dirty="0"/>
              <a:t>Sediment: uniform lab sand vs. natural mixed grain sizes</a:t>
            </a:r>
          </a:p>
          <a:p>
            <a:pPr lvl="1"/>
            <a:r>
              <a:rPr lang="en-US" dirty="0"/>
              <a:t>No vegetation, biology, or human structures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299D2-5BD0-8262-96A7-B892EF9A1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 Table Demonstration</a:t>
            </a:r>
          </a:p>
        </p:txBody>
      </p:sp>
      <p:pic>
        <p:nvPicPr>
          <p:cNvPr id="4" name="Online Media 3" title="Stream Table Demonstration-Phenomenal Meanders, Delta, Erosion, Deposition">
            <a:hlinkClick r:id="" action="ppaction://media"/>
            <a:extLst>
              <a:ext uri="{FF2B5EF4-FFF2-40B4-BE49-F238E27FC236}">
                <a16:creationId xmlns:a16="http://schemas.microsoft.com/office/drawing/2014/main" id="{55F9C592-9EB9-D746-FFCB-B22A049B82DA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563563" y="1600200"/>
            <a:ext cx="8016875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660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Makes Water Move?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dirty="0"/>
              <a:t>Water flows from higher to lower elevation</a:t>
            </a:r>
          </a:p>
          <a:p>
            <a:pPr lvl="0"/>
            <a:r>
              <a:rPr lang="en-US" dirty="0"/>
              <a:t>The propping of the stream table on one side creates that elevation difference</a:t>
            </a:r>
          </a:p>
          <a:p>
            <a:pPr lvl="0"/>
            <a:r>
              <a:rPr lang="en-US" dirty="0"/>
              <a:t>Ask yourself:</a:t>
            </a:r>
          </a:p>
          <a:p>
            <a:pPr lvl="1"/>
            <a:r>
              <a:rPr lang="en-US" dirty="0"/>
              <a:t>What physical force pulls water downhill?</a:t>
            </a:r>
          </a:p>
          <a:p>
            <a:pPr lvl="1"/>
            <a:r>
              <a:rPr lang="en-US" dirty="0"/>
              <a:t>How does a steeper table slope affect velocity?</a:t>
            </a:r>
          </a:p>
          <a:p>
            <a:pPr lvl="1"/>
            <a:r>
              <a:rPr lang="en-US" dirty="0"/>
              <a:t>What happens to flow if the slope reaches zero?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Two Processes Shaping Every Channel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dirty="0"/>
              <a:t>Erosion: material is detached and removed from a surface</a:t>
            </a:r>
          </a:p>
          <a:p>
            <a:pPr lvl="0"/>
            <a:r>
              <a:rPr lang="en-US" dirty="0"/>
              <a:t>Deposition: transported material settles and accumulates</a:t>
            </a:r>
          </a:p>
          <a:p>
            <a:pPr lvl="0"/>
            <a:r>
              <a:rPr lang="en-US" dirty="0"/>
              <a:t>Observed during the video demo:</a:t>
            </a:r>
          </a:p>
          <a:p>
            <a:pPr lvl="1"/>
            <a:r>
              <a:rPr lang="en-US" dirty="0"/>
              <a:t>Where is bank material being worn away?</a:t>
            </a:r>
          </a:p>
          <a:p>
            <a:pPr lvl="1"/>
            <a:r>
              <a:rPr lang="en-US" dirty="0"/>
              <a:t>Where does sediment pile up?</a:t>
            </a:r>
          </a:p>
          <a:p>
            <a:pPr lvl="1"/>
            <a:r>
              <a:rPr lang="en-US" dirty="0"/>
              <a:t>Can both happen at the same time in one channel?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Increasing Discharge: What Changes?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Discharge = volume of water passing a point per unit time</a:t>
            </a:r>
          </a:p>
          <a:p>
            <a:pPr lvl="0"/>
            <a:r>
              <a:rPr lang="en-US" dirty="0"/>
              <a:t>Higher discharge means more energy available to do work</a:t>
            </a:r>
          </a:p>
          <a:p>
            <a:pPr lvl="0"/>
            <a:r>
              <a:rPr lang="en-US" dirty="0"/>
              <a:t>the channel banks when flow increases:</a:t>
            </a:r>
          </a:p>
          <a:p>
            <a:pPr lvl="1"/>
            <a:r>
              <a:rPr lang="en-US" dirty="0"/>
              <a:t>Does erosion speed up or slow down?</a:t>
            </a:r>
          </a:p>
          <a:p>
            <a:pPr lvl="1"/>
            <a:r>
              <a:rPr lang="en-US" dirty="0"/>
              <a:t>Does the channel widen, deepen, or both?</a:t>
            </a:r>
          </a:p>
          <a:p>
            <a:pPr lvl="1"/>
            <a:r>
              <a:rPr lang="en-US" dirty="0"/>
              <a:t>Where does eroded sediment end up?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Grain Size and Flow Competence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259"/>
          </a:xfrm>
        </p:spPr>
        <p:txBody>
          <a:bodyPr>
            <a:normAutofit lnSpcReduction="10000"/>
          </a:bodyPr>
          <a:lstStyle/>
          <a:p>
            <a:pPr lvl="0"/>
            <a:r>
              <a:rPr lang="en-US" dirty="0"/>
              <a:t>Competence: the largest particle a flow can move</a:t>
            </a:r>
          </a:p>
          <a:p>
            <a:pPr lvl="0"/>
            <a:r>
              <a:rPr lang="en-US" dirty="0"/>
              <a:t>Not all grains respond to flow the same way</a:t>
            </a:r>
          </a:p>
          <a:p>
            <a:pPr lvl="0"/>
            <a:r>
              <a:rPr lang="en-US" dirty="0"/>
              <a:t>Watch which grains move first when flow begins:</a:t>
            </a:r>
          </a:p>
          <a:p>
            <a:pPr lvl="1"/>
            <a:r>
              <a:rPr lang="en-US" dirty="0"/>
              <a:t>Fine grains vs. coarse grains -- which go first?</a:t>
            </a:r>
          </a:p>
          <a:p>
            <a:pPr lvl="1"/>
            <a:r>
              <a:rPr lang="en-US" dirty="0"/>
              <a:t>What happens to larger particles at the same flow?</a:t>
            </a:r>
          </a:p>
          <a:p>
            <a:pPr lvl="1"/>
            <a:r>
              <a:rPr lang="en-US" dirty="0"/>
              <a:t>What does this predict about where different grain sizes settle along a river?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Velocity Patterns Across the Channel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dirty="0"/>
              <a:t>Velocity is not uniform -- it varies with position</a:t>
            </a:r>
          </a:p>
          <a:p>
            <a:pPr lvl="0"/>
            <a:r>
              <a:rPr lang="en-US" dirty="0"/>
              <a:t>Friction from the bed and banks slows water near boundaries</a:t>
            </a:r>
          </a:p>
          <a:p>
            <a:pPr lvl="0"/>
            <a:r>
              <a:rPr lang="en-US" dirty="0"/>
              <a:t>Observed during the demo:</a:t>
            </a:r>
          </a:p>
          <a:p>
            <a:pPr lvl="1"/>
            <a:r>
              <a:rPr lang="en-US" dirty="0"/>
              <a:t>Channel center vs. edges: which is faster?</a:t>
            </a:r>
          </a:p>
          <a:p>
            <a:pPr lvl="1"/>
            <a:r>
              <a:rPr lang="en-US" dirty="0"/>
              <a:t>Inside of a bend vs. outside of a bend?</a:t>
            </a:r>
          </a:p>
          <a:p>
            <a:pPr lvl="1"/>
            <a:r>
              <a:rPr lang="en-US" dirty="0"/>
              <a:t>Where does erosion tend to concentrate, and why?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Where the River Meets Still Water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US" dirty="0"/>
              <a:t>Flow velocity requires a gradient -- what if the gradient disappears?</a:t>
            </a:r>
          </a:p>
          <a:p>
            <a:pPr lvl="0"/>
            <a:r>
              <a:rPr lang="en-US" dirty="0"/>
              <a:t>Watch the downstream end of the stream table:</a:t>
            </a:r>
          </a:p>
          <a:p>
            <a:pPr lvl="1"/>
            <a:r>
              <a:rPr lang="en-US" dirty="0"/>
              <a:t>Where does sediment first start to drop out?</a:t>
            </a:r>
          </a:p>
          <a:p>
            <a:pPr lvl="1"/>
            <a:r>
              <a:rPr lang="en-US" dirty="0"/>
              <a:t>What shape does the deposit form?</a:t>
            </a:r>
          </a:p>
          <a:p>
            <a:pPr lvl="1"/>
            <a:r>
              <a:rPr lang="en-US" dirty="0"/>
              <a:t>Do coarse and fine grains settle in the same place?</a:t>
            </a:r>
          </a:p>
          <a:p>
            <a:pPr lvl="0"/>
            <a:r>
              <a:rPr lang="en-US" dirty="0"/>
              <a:t>This landform has a Greek letter name -- identify it from what you observe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SU Content">
  <a:themeElements>
    <a:clrScheme name="Custom 2">
      <a:dk1>
        <a:srgbClr val="595959"/>
      </a:dk1>
      <a:lt1>
        <a:sysClr val="window" lastClr="FFFFFF"/>
      </a:lt1>
      <a:dk2>
        <a:srgbClr val="000000"/>
      </a:dk2>
      <a:lt2>
        <a:srgbClr val="FFFFFF"/>
      </a:lt2>
      <a:accent1>
        <a:srgbClr val="990000"/>
      </a:accent1>
      <a:accent2>
        <a:srgbClr val="DBA100"/>
      </a:accent2>
      <a:accent3>
        <a:srgbClr val="660000"/>
      </a:accent3>
      <a:accent4>
        <a:srgbClr val="002A42"/>
      </a:accent4>
      <a:accent5>
        <a:srgbClr val="5D3526"/>
      </a:accent5>
      <a:accent6>
        <a:srgbClr val="827C34"/>
      </a:accent6>
      <a:hlink>
        <a:srgbClr val="990000"/>
      </a:hlink>
      <a:folHlink>
        <a:srgbClr val="59595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464</Words>
  <Application>Microsoft Office PowerPoint</Application>
  <PresentationFormat>On-screen Show (4:3)</PresentationFormat>
  <Paragraphs>57</Paragraphs>
  <Slides>10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Lucida Grande</vt:lpstr>
      <vt:lpstr>Tahoma</vt:lpstr>
      <vt:lpstr>Wingdings</vt:lpstr>
      <vt:lpstr>Office Theme</vt:lpstr>
      <vt:lpstr>OSU Content</vt:lpstr>
      <vt:lpstr>stream table</vt:lpstr>
      <vt:lpstr>Why Model Rivers in the Lab?</vt:lpstr>
      <vt:lpstr>Limitations of the Model</vt:lpstr>
      <vt:lpstr>Stream Table Demonstration</vt:lpstr>
      <vt:lpstr>What Makes Water Move?</vt:lpstr>
      <vt:lpstr>Two Processes Shaping Every Channel</vt:lpstr>
      <vt:lpstr>Increasing Discharge: What Changes?</vt:lpstr>
      <vt:lpstr>Grain Size and Flow Competence</vt:lpstr>
      <vt:lpstr>Velocity Patterns Across the Channel</vt:lpstr>
      <vt:lpstr>Where the River Meets Still Water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Anne Carey</dc:creator>
  <cp:lastModifiedBy>Chyon, Sadiul</cp:lastModifiedBy>
  <cp:revision>33</cp:revision>
  <dcterms:created xsi:type="dcterms:W3CDTF">2014-06-11T17:21:38Z</dcterms:created>
  <dcterms:modified xsi:type="dcterms:W3CDTF">2026-04-02T17:14:36Z</dcterms:modified>
</cp:coreProperties>
</file>
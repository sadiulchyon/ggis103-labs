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9" r:id="rId3"/>
    <p:sldId id="265" r:id="rId4"/>
    <p:sldId id="260" r:id="rId5"/>
    <p:sldId id="266" r:id="rId6"/>
    <p:sldId id="264" r:id="rId7"/>
    <p:sldId id="263" r:id="rId8"/>
    <p:sldId id="267" r:id="rId9"/>
    <p:sldId id="269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DECE6-2A0E-4518-8CE3-15ACFE8035C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FDCFD-74AF-4F56-8BC7-8160708C3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65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FDCFD-74AF-4F56-8BC7-8160708C3E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50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57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4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2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0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87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5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83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0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85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06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CB2328CA-4999-4FCD-9FBB-9A605799A299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D8ECF4B-B326-4925-A9B0-3B52B43F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D87C-75F0-7355-207A-F294BB618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379663"/>
            <a:ext cx="9144000" cy="2387600"/>
          </a:xfrm>
        </p:spPr>
        <p:txBody>
          <a:bodyPr/>
          <a:lstStyle/>
          <a:p>
            <a:pPr algn="ctr"/>
            <a:r>
              <a:rPr lang="en-US" dirty="0"/>
              <a:t>Lab 5: </a:t>
            </a:r>
            <a:br>
              <a:rPr lang="en-US" dirty="0"/>
            </a:br>
            <a:r>
              <a:rPr lang="en-US" dirty="0"/>
              <a:t>Watersheds </a:t>
            </a:r>
          </a:p>
        </p:txBody>
      </p:sp>
    </p:spTree>
    <p:extLst>
      <p:ext uri="{BB962C8B-B14F-4D97-AF65-F5344CB8AC3E}">
        <p14:creationId xmlns:p14="http://schemas.microsoft.com/office/powerpoint/2010/main" val="328858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0460-2023-7859-55B2-076DFB93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Watersheds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06E55-C926-7A1F-DF1E-32F1A448F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5085969" cy="3766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Define the area of land that contributes water to a stream/river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Drainage basin</a:t>
            </a:r>
          </a:p>
          <a:p>
            <a:pPr marL="4572" lvl="1" indent="0">
              <a:buNone/>
            </a:pPr>
            <a:endParaRPr lang="en-US" sz="2800" dirty="0"/>
          </a:p>
          <a:p>
            <a:pPr marL="4572" lvl="1" indent="0">
              <a:buNone/>
            </a:pPr>
            <a:r>
              <a:rPr lang="en-US" sz="2800" dirty="0"/>
              <a:t>Identifies highest points surrounding a river</a:t>
            </a:r>
          </a:p>
          <a:p>
            <a:pPr marL="4572" lvl="1" indent="0">
              <a:buNone/>
            </a:pP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" lvl="1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14FBF-B521-34FA-851B-53F1589604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75" t="12360" r="21563" b="5972"/>
          <a:stretch/>
        </p:blipFill>
        <p:spPr>
          <a:xfrm>
            <a:off x="4782484" y="0"/>
            <a:ext cx="7400406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9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7A6FE7-2D39-50EB-0560-1746B0909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46" y="753351"/>
            <a:ext cx="9203411" cy="466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15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7656-951E-38CA-2712-C5251BEA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2" y="132825"/>
            <a:ext cx="10772775" cy="819680"/>
          </a:xfrm>
        </p:spPr>
        <p:txBody>
          <a:bodyPr/>
          <a:lstStyle/>
          <a:p>
            <a:r>
              <a:rPr lang="en-US" dirty="0"/>
              <a:t>Watersheds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7C124-8DD7-0DEC-63ED-57E780663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399" y="1145520"/>
            <a:ext cx="8336613" cy="1064281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Topographic maps can help us delineate watershed boundaries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Review from lab 1: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b="1" dirty="0"/>
          </a:p>
          <a:p>
            <a:pPr lvl="2"/>
            <a:r>
              <a:rPr lang="en-US" sz="2400" dirty="0"/>
              <a:t>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B3FF4-11B8-C212-4C03-C939E3A21BA1}"/>
              </a:ext>
            </a:extLst>
          </p:cNvPr>
          <p:cNvSpPr txBox="1"/>
          <p:nvPr/>
        </p:nvSpPr>
        <p:spPr>
          <a:xfrm>
            <a:off x="4694705" y="2002305"/>
            <a:ext cx="71258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Contour lines- lines connecting points of same elevation on the surface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Index contour – bold lines (every 5</a:t>
            </a:r>
            <a:r>
              <a:rPr lang="en-US" sz="2400" baseline="30000" dirty="0"/>
              <a:t>th</a:t>
            </a:r>
            <a:r>
              <a:rPr lang="en-US" sz="2400" dirty="0"/>
              <a:t> line)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Contour interval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24AC8F-53E8-FC8A-0711-9CE345E5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87" y="2264703"/>
            <a:ext cx="4014501" cy="437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0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32E7C-41C6-011D-9284-D12A3E288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1" y="87215"/>
            <a:ext cx="7378902" cy="39799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FA1337-8D84-CBDB-25E2-56A94AFA5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14" y="3144207"/>
            <a:ext cx="6826286" cy="35566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EFBA4E-8AA1-1E5E-87CD-99DE593723BA}"/>
              </a:ext>
            </a:extLst>
          </p:cNvPr>
          <p:cNvSpPr txBox="1"/>
          <p:nvPr/>
        </p:nvSpPr>
        <p:spPr>
          <a:xfrm>
            <a:off x="3843337" y="4715188"/>
            <a:ext cx="1885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7220" lvl="4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Ridges = V’s point downhill (towards lower elevation)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D21240-13C9-C4E1-4B7E-5F3B97B1CD39}"/>
              </a:ext>
            </a:extLst>
          </p:cNvPr>
          <p:cNvSpPr txBox="1"/>
          <p:nvPr/>
        </p:nvSpPr>
        <p:spPr>
          <a:xfrm>
            <a:off x="6562726" y="341590"/>
            <a:ext cx="31480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7220" lvl="4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Valleys = V’s point uphill (towards high elevation)</a:t>
            </a:r>
          </a:p>
        </p:txBody>
      </p:sp>
    </p:spTree>
    <p:extLst>
      <p:ext uri="{BB962C8B-B14F-4D97-AF65-F5344CB8AC3E}">
        <p14:creationId xmlns:p14="http://schemas.microsoft.com/office/powerpoint/2010/main" val="3731585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AEF581-8100-CD0C-20A4-E57F64755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3" y="-54269"/>
            <a:ext cx="6405334" cy="3549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CBB4A4-9079-6E51-7F71-C7CF64073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009" y="3182425"/>
            <a:ext cx="5689054" cy="3675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88AEC4-8511-9FCE-5602-E1E7EEC25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176" y="13212"/>
            <a:ext cx="5711591" cy="34824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BC370B-2472-DA1A-512F-4911CB32E35A}"/>
              </a:ext>
            </a:extLst>
          </p:cNvPr>
          <p:cNvSpPr txBox="1"/>
          <p:nvPr/>
        </p:nvSpPr>
        <p:spPr>
          <a:xfrm>
            <a:off x="-57150" y="4438963"/>
            <a:ext cx="1885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7220" lvl="4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Ridges = V’s point downhill (towards lower elevation)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9BB04-D2CE-694E-FE76-0FCED1505DBE}"/>
              </a:ext>
            </a:extLst>
          </p:cNvPr>
          <p:cNvSpPr txBox="1"/>
          <p:nvPr/>
        </p:nvSpPr>
        <p:spPr>
          <a:xfrm>
            <a:off x="8882064" y="3894415"/>
            <a:ext cx="31480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7220" lvl="4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Valleys = V’s point uphill (towards high elevation)</a:t>
            </a:r>
          </a:p>
        </p:txBody>
      </p:sp>
    </p:spTree>
    <p:extLst>
      <p:ext uri="{BB962C8B-B14F-4D97-AF65-F5344CB8AC3E}">
        <p14:creationId xmlns:p14="http://schemas.microsoft.com/office/powerpoint/2010/main" val="1713698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7656-951E-38CA-2712-C5251BEA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" y="56620"/>
            <a:ext cx="10772775" cy="943505"/>
          </a:xfrm>
        </p:spPr>
        <p:txBody>
          <a:bodyPr/>
          <a:lstStyle/>
          <a:p>
            <a:r>
              <a:rPr lang="en-US" dirty="0"/>
              <a:t>Steps for watershed delineation: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7C124-8DD7-0DEC-63ED-57E780663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394" y="1250173"/>
            <a:ext cx="7175781" cy="5422090"/>
          </a:xfrm>
        </p:spPr>
        <p:txBody>
          <a:bodyPr>
            <a:normAutofit fontScale="92500"/>
          </a:bodyPr>
          <a:lstStyle/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Step 1: </a:t>
            </a:r>
            <a:r>
              <a:rPr lang="en-US" b="1" dirty="0"/>
              <a:t>identify the outlet </a:t>
            </a:r>
            <a:r>
              <a:rPr lang="en-US" dirty="0"/>
              <a:t>and headwater (already labelled in worksheet) **next you may want to roughly mark the high elevation (headwater) and low elevation (outlet) region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Step 2: </a:t>
            </a:r>
            <a:r>
              <a:rPr lang="en-US" b="1" dirty="0"/>
              <a:t>identify the high areas </a:t>
            </a:r>
            <a:r>
              <a:rPr lang="en-US" dirty="0"/>
              <a:t>(look for closed area/circle) that are close to the river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Step 3: identify valleys and ridges</a:t>
            </a:r>
          </a:p>
          <a:p>
            <a:pPr marL="617220" lvl="4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Valleys = V’s point uphill (towards high elevation)</a:t>
            </a:r>
          </a:p>
          <a:p>
            <a:pPr marL="617220" lvl="4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/>
              <a:t>Ridges</a:t>
            </a:r>
            <a:r>
              <a:rPr lang="en-US" sz="2400" dirty="0"/>
              <a:t> = V’s point downhill (towards lower elevation)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Step 4: draw the streams along the valleys (</a:t>
            </a:r>
            <a:r>
              <a:rPr lang="en-US" dirty="0">
                <a:solidFill>
                  <a:srgbClr val="FF0000"/>
                </a:solidFill>
              </a:rPr>
              <a:t>no need to do for now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Step 5:  </a:t>
            </a:r>
            <a:r>
              <a:rPr lang="en-US" b="1" dirty="0"/>
              <a:t>connect the high points and ridges with the outlet </a:t>
            </a:r>
            <a:r>
              <a:rPr lang="en-US" dirty="0"/>
              <a:t>with perpendicular line </a:t>
            </a:r>
          </a:p>
          <a:p>
            <a:pPr marL="4572" lvl="1" indent="0">
              <a:spcAft>
                <a:spcPts val="60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***Watershed delineation is perpendicular to contour lines***</a:t>
            </a:r>
          </a:p>
        </p:txBody>
      </p:sp>
    </p:spTree>
    <p:extLst>
      <p:ext uri="{BB962C8B-B14F-4D97-AF65-F5344CB8AC3E}">
        <p14:creationId xmlns:p14="http://schemas.microsoft.com/office/powerpoint/2010/main" val="166393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opographic map with a red star&#10;&#10;Description automatically generated">
            <a:extLst>
              <a:ext uri="{FF2B5EF4-FFF2-40B4-BE49-F238E27FC236}">
                <a16:creationId xmlns:a16="http://schemas.microsoft.com/office/drawing/2014/main" id="{46BE86BB-11BC-47F1-93B8-B93274524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589" y="85724"/>
            <a:ext cx="9371543" cy="690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3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Water budget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B5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comparison of water supply and atmospheric demand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EAF3FB"/>
          </a:solidFill>
          <a:ln w="12700">
            <a:solidFill>
              <a:srgbClr val="B8D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Water budget = Precipitation (P) − Potential evapotranspiration (PE)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3383280" cy="2148840"/>
          </a:xfrm>
          <a:prstGeom prst="roundRect">
            <a:avLst>
              <a:gd name="adj" fmla="val 2128"/>
            </a:avLst>
          </a:prstGeom>
          <a:solidFill>
            <a:srgbClr val="DDF0FF"/>
          </a:solidFill>
          <a:ln w="12700">
            <a:solidFill>
              <a:srgbClr val="9EC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43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Precipitation (P)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886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7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 coming in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73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rain or snow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3913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with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33288" y="4251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A7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001000" y="3154680"/>
            <a:ext cx="3383280" cy="2148840"/>
          </a:xfrm>
          <a:prstGeom prst="roundRect">
            <a:avLst>
              <a:gd name="adj" fmla="val 2128"/>
            </a:avLst>
          </a:prstGeom>
          <a:solidFill>
            <a:srgbClr val="FFF0DC"/>
          </a:solidFill>
          <a:ln w="12700">
            <a:solidFill>
              <a:srgbClr val="E3BF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A4B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Potential ET (PE)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0" y="38221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C4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water the air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5C43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remove if water is available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120" y="5623560"/>
            <a:ext cx="4709160" cy="731520"/>
          </a:xfrm>
          <a:prstGeom prst="roundRect">
            <a:avLst>
              <a:gd name="adj" fmla="val 5000"/>
            </a:avLst>
          </a:prstGeom>
          <a:solidFill>
            <a:srgbClr val="E5F6EA"/>
          </a:solidFill>
          <a:ln w="12700">
            <a:solidFill>
              <a:srgbClr val="A3D3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58338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5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 &gt; PE  →  water surplus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37960" y="5623560"/>
            <a:ext cx="4709160" cy="731520"/>
          </a:xfrm>
          <a:prstGeom prst="roundRect">
            <a:avLst>
              <a:gd name="adj" fmla="val 5000"/>
            </a:avLst>
          </a:prstGeom>
          <a:solidFill>
            <a:srgbClr val="FDE9E7"/>
          </a:solidFill>
          <a:ln w="12700">
            <a:solidFill>
              <a:srgbClr val="E1AA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58338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A2E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 &lt; PE  →  water deficit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0537-B498-D9CE-BED3-59357951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674" y="432858"/>
            <a:ext cx="10772775" cy="1658198"/>
          </a:xfrm>
        </p:spPr>
        <p:txBody>
          <a:bodyPr/>
          <a:lstStyle/>
          <a:p>
            <a:r>
              <a:rPr lang="en-US" dirty="0"/>
              <a:t>Get started with the worksheet!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246A3-D925-6EA2-A6BF-0DF627145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7349" y="2730818"/>
            <a:ext cx="9405495" cy="37661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Option to use Excel spreadsheet to graph for question 2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If you do this option, </a:t>
            </a:r>
            <a:r>
              <a:rPr lang="en-US" b="1" dirty="0"/>
              <a:t>upload excel spreadsheet </a:t>
            </a:r>
            <a:r>
              <a:rPr lang="en-US" dirty="0"/>
              <a:t>to the Canvas assignment </a:t>
            </a:r>
            <a:r>
              <a:rPr lang="en-US" b="1" dirty="0"/>
              <a:t>“Lab 5”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Make sure to </a:t>
            </a:r>
            <a:r>
              <a:rPr lang="en-US" b="1" dirty="0"/>
              <a:t>label</a:t>
            </a:r>
            <a:r>
              <a:rPr lang="en-US" dirty="0"/>
              <a:t> </a:t>
            </a:r>
            <a:r>
              <a:rPr lang="en-US" b="1" dirty="0"/>
              <a:t>axes</a:t>
            </a:r>
            <a:r>
              <a:rPr lang="en-US" dirty="0"/>
              <a:t> and differentiate between P and PE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Label</a:t>
            </a:r>
            <a:r>
              <a:rPr lang="en-US" dirty="0"/>
              <a:t> which graph is </a:t>
            </a:r>
            <a:r>
              <a:rPr lang="en-US" b="1" dirty="0"/>
              <a:t>Champaign</a:t>
            </a:r>
            <a:r>
              <a:rPr lang="en-US" dirty="0"/>
              <a:t>, and which is </a:t>
            </a:r>
            <a:r>
              <a:rPr lang="en-US" b="1" dirty="0"/>
              <a:t>Austin</a:t>
            </a:r>
          </a:p>
          <a:p>
            <a:pPr marL="457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38606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4133</TotalTime>
  <Words>359</Words>
  <Application>Microsoft Office PowerPoint</Application>
  <PresentationFormat>Widescreen</PresentationFormat>
  <Paragraphs>48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Wingdings</vt:lpstr>
      <vt:lpstr>Metropolitan</vt:lpstr>
      <vt:lpstr>Lab 5:  Watersheds </vt:lpstr>
      <vt:lpstr>Watersheds</vt:lpstr>
      <vt:lpstr>PowerPoint Presentation</vt:lpstr>
      <vt:lpstr>Watersheds</vt:lpstr>
      <vt:lpstr>PowerPoint Presentation</vt:lpstr>
      <vt:lpstr>PowerPoint Presentation</vt:lpstr>
      <vt:lpstr>Steps for watershed delineation:</vt:lpstr>
      <vt:lpstr>PowerPoint Presentation</vt:lpstr>
      <vt:lpstr>PowerPoint Presentation</vt:lpstr>
      <vt:lpstr>Get started with the worksheet!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5:  Watersheds &amp; Midterm Review</dc:title>
  <dc:creator>Hall, Emma Catherine</dc:creator>
  <cp:lastModifiedBy>Chyon, Sadiul</cp:lastModifiedBy>
  <cp:revision>20</cp:revision>
  <dcterms:created xsi:type="dcterms:W3CDTF">2022-09-27T18:52:55Z</dcterms:created>
  <dcterms:modified xsi:type="dcterms:W3CDTF">2026-03-05T19:42:58Z</dcterms:modified>
</cp:coreProperties>
</file>
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5" r:id="rId3"/>
    <p:sldId id="276" r:id="rId4"/>
    <p:sldId id="257" r:id="rId5"/>
    <p:sldId id="263" r:id="rId6"/>
    <p:sldId id="264" r:id="rId7"/>
    <p:sldId id="265" r:id="rId8"/>
    <p:sldId id="277" r:id="rId9"/>
    <p:sldId id="266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21A9AD-3A9B-4F37-8C1A-403B3626D068}" v="4" dt="2022-10-11T20:27:12.6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10"/>
    <p:restoredTop sz="93544" autoAdjust="0"/>
  </p:normalViewPr>
  <p:slideViewPr>
    <p:cSldViewPr snapToGrid="0" snapToObjects="1">
      <p:cViewPr varScale="1">
        <p:scale>
          <a:sx n="79" d="100"/>
          <a:sy n="79" d="100"/>
        </p:scale>
        <p:origin x="10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4A2A4-B41F-4E15-AFED-A625158B0F93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2617E-D222-422A-A2E6-4EA2AEA5A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68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 height above ground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2617E-D222-422A-A2E6-4EA2AEA5A39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152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Ke</a:t>
            </a:r>
            <a:r>
              <a:rPr lang="en-US" dirty="0"/>
              <a:t> due to motion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2617E-D222-422A-A2E6-4EA2AEA5A39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462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13-mass movement lecture slide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2617E-D222-422A-A2E6-4EA2AEA5A39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650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Creep-slow downward movement of soil, low gradient, loose soil or burrowing animals could play a role</a:t>
            </a:r>
          </a:p>
          <a:p>
            <a:r>
              <a:rPr lang="en-US" dirty="0"/>
              <a:t>Flux diffusion- how much sediment is moving over a specific area</a:t>
            </a:r>
          </a:p>
          <a:p>
            <a:r>
              <a:rPr lang="en-US" dirty="0"/>
              <a:t>Roots of the vegetation hold the soil together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2617E-D222-422A-A2E6-4EA2AEA5A39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22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6451A-1184-0540-9C49-A986D0E09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532CC8-52F0-AD46-9CEB-E83C3A5D9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A017E-39EC-3840-ADF6-F8B494619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62BE-3D5F-A94A-89AC-866BCC7BEB1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FCA38-9756-D448-9578-E4C30DA91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96ECB-E76C-3A41-9B87-C990B8DF5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D21D-70A1-AB4A-A7C0-38B5C0790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83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617EE-C105-1740-9ED0-ED422DD1C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F73DA-C9BA-6B4C-8168-4FC52B2BB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90668-60E5-834A-B53A-25DDBEF5F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62BE-3D5F-A94A-89AC-866BCC7BEB1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133F9-6AB4-1545-852B-10AFF594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86A21-CEAE-A84A-87BD-D86937EC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D21D-70A1-AB4A-A7C0-38B5C0790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2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BA856-0424-8046-B577-0EF5CC68A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7FD6A-F394-9148-AB7C-16D01D78B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3E01F-D13E-E64D-8F44-B6CD4EBBE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62BE-3D5F-A94A-89AC-866BCC7BEB1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7B87C-3189-474D-BF12-BE03A5C6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957F7-3D98-A443-B2E4-99614FC7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D21D-70A1-AB4A-A7C0-38B5C0790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67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0ECC8-982B-7B4A-8567-B81BC63AA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85E46-DD79-1548-B0FE-F9F03D494B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4C0ABD-7885-F748-B66E-18ECC0C37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38B3F-A3F5-4545-B1C7-6483C5876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62BE-3D5F-A94A-89AC-866BCC7BEB1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B15D0-1662-6E46-B925-E6FBA1775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4B19D-B4D8-D04B-87DD-0F8E1C914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D21D-70A1-AB4A-A7C0-38B5C0790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325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3BC89-6028-3248-803F-49E5E25BA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2E1E4-597B-6147-871C-DE168C93C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016F3-27D9-FF47-AE1B-E0327A705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89EF4-9A68-1348-ACC8-3D5FA0CCEE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DBC8C0-7A84-4F49-81D8-F9FF30229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663181-1F96-304C-8BC9-2935815F7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62BE-3D5F-A94A-89AC-866BCC7BEB1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A93C99-B004-6C49-A35A-FAB1CF53E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A33B0C-E5B5-AB45-836F-2A853B5A3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D21D-70A1-AB4A-A7C0-38B5C0790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88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DB744-D0B5-1748-9F1D-AF1F682C8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BEAE0B-E83B-004B-92D4-E816231D4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62BE-3D5F-A94A-89AC-866BCC7BEB1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C7C607-338F-8949-BF68-0BF0164B9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5C577-0074-394B-BF1D-CA9384C23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D21D-70A1-AB4A-A7C0-38B5C0790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166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F1810F-6630-2C4E-8168-B1368F9BC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62BE-3D5F-A94A-89AC-866BCC7BEB1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1E967-2F60-4C40-B4D5-8B381FC86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6A26E-AC8B-DF4C-B8E8-D60E91C24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D21D-70A1-AB4A-A7C0-38B5C0790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34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7A723-8D43-244F-B156-82BC3E1A6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C15D-4298-954D-98D3-233D4DF89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01378E-29E3-FB4E-AE2E-A3F9359F6F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1BF82-C4DB-8D4F-8F0C-2DDE44057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62BE-3D5F-A94A-89AC-866BCC7BEB1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2C358-C5EA-6A40-B749-05622C10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CDCE8-F2C0-AD45-B1AA-6EB3A6BDA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D21D-70A1-AB4A-A7C0-38B5C0790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367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7005E-F6C0-BD4C-A06F-FA534291D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448037-D4CF-154C-9283-D5488BF53F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D8EB2-364B-DC4A-84F6-99D3D42E8F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99ECB-C7BC-0F4F-91FA-88FB43BF8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62BE-3D5F-A94A-89AC-866BCC7BEB1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F189C1-20C7-424E-9572-76180A75F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49899-DB45-084A-983D-3A02A5356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D21D-70A1-AB4A-A7C0-38B5C0790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22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2AD9-E08E-BB4A-A796-F8BAFBDAB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18F6C0-AE38-4641-8039-24186D24C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204CE-DB6F-AB49-85D9-28C123A2F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62BE-3D5F-A94A-89AC-866BCC7BEB1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86696-9824-E94B-8107-B1D87A6A3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414EF-EC63-DD4C-B095-D8B208E59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D21D-70A1-AB4A-A7C0-38B5C0790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21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7B8914-F4C5-7C4B-8F14-FD545516D8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B693B6-5660-D444-8A72-BD7979C947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A6326-2838-8447-8CC9-ACC27EEA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262BE-3D5F-A94A-89AC-866BCC7BEB1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1C134-5788-9245-839E-D458692D2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FD303-A245-514F-B167-96DB096A9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D21D-70A1-AB4A-A7C0-38B5C0790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78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0BD20-0365-A643-A304-0E5AB98B0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447DD-16BB-034B-90C4-D38BEA7CF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B8D16-D910-AD4E-B502-ABAEF71BF0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262BE-3D5F-A94A-89AC-866BCC7BEB1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064C0-88F2-D04B-B8A7-23DAE7295A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AFAE0-1799-0E4E-8F08-9B9568D0B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2D21D-70A1-AB4A-A7C0-38B5C0790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6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CD784-D0E2-3D48-8F12-F50C2834B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3981" y="1540043"/>
            <a:ext cx="9144000" cy="3441030"/>
          </a:xfrm>
        </p:spPr>
        <p:txBody>
          <a:bodyPr>
            <a:normAutofit fontScale="90000"/>
          </a:bodyPr>
          <a:lstStyle/>
          <a:p>
            <a:r>
              <a:rPr lang="en-US" dirty="0"/>
              <a:t>Lab 6: </a:t>
            </a:r>
            <a:br>
              <a:rPr lang="en-US" dirty="0"/>
            </a:br>
            <a:r>
              <a:rPr lang="en-US" dirty="0"/>
              <a:t>Mass movement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943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41414"/>
                </a:solidFill>
                <a:latin typeface="Calibri"/>
              </a:rPr>
              <a:t>Mass movement basics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17320"/>
            <a:ext cx="2148840" cy="54864"/>
          </a:xfrm>
          <a:prstGeom prst="rect">
            <a:avLst/>
          </a:prstGeom>
          <a:solidFill>
            <a:srgbClr val="6D8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78992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0">
                <a:solidFill>
                  <a:srgbClr val="6E6E6E"/>
                </a:solidFill>
                <a:latin typeface="Calibri"/>
              </a:rPr>
              <a:t>We simplify the landslide into one block and use math to track how gravity turns height into motion.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19" y="3360420"/>
            <a:ext cx="320041" cy="0"/>
          </a:xfrm>
          <a:prstGeom prst="line">
            <a:avLst/>
          </a:prstGeom>
          <a:ln w="25400">
            <a:solidFill>
              <a:srgbClr val="6D8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754879" y="3360420"/>
            <a:ext cx="320041" cy="0"/>
          </a:xfrm>
          <a:prstGeom prst="line">
            <a:avLst/>
          </a:prstGeom>
          <a:ln w="25400">
            <a:solidFill>
              <a:srgbClr val="6D8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49439" y="3360420"/>
            <a:ext cx="320041" cy="0"/>
          </a:xfrm>
          <a:prstGeom prst="line">
            <a:avLst/>
          </a:prstGeom>
          <a:ln w="25400">
            <a:solidFill>
              <a:srgbClr val="6D8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3999" y="3360420"/>
            <a:ext cx="320041" cy="0"/>
          </a:xfrm>
          <a:prstGeom prst="line">
            <a:avLst/>
          </a:prstGeom>
          <a:ln w="25400">
            <a:solidFill>
              <a:srgbClr val="6D8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" y="2743200"/>
            <a:ext cx="1874519" cy="1234440"/>
          </a:xfrm>
          <a:prstGeom prst="roundRect">
            <a:avLst/>
          </a:prstGeom>
          <a:solidFill>
            <a:srgbClr val="E8EFE3"/>
          </a:solidFill>
          <a:ln w="13970">
            <a:solidFill>
              <a:srgbClr val="6D8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41414"/>
                </a:solidFill>
                <a:latin typeface="Calibri"/>
              </a:rPr>
              <a:t>Block size</a:t>
            </a:r>
          </a:p>
          <a:p>
            <a:pPr algn="ctr"/>
            <a:r>
              <a:rPr sz="1200">
                <a:solidFill>
                  <a:srgbClr val="6E6E6E"/>
                </a:solidFill>
                <a:latin typeface="Calibri"/>
              </a:rPr>
              <a:t>length × width × height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743200"/>
            <a:ext cx="1874519" cy="1234440"/>
          </a:xfrm>
          <a:prstGeom prst="roundRect">
            <a:avLst/>
          </a:prstGeom>
          <a:solidFill>
            <a:srgbClr val="E8EFE3"/>
          </a:solidFill>
          <a:ln w="13970">
            <a:solidFill>
              <a:srgbClr val="6D8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41414"/>
                </a:solidFill>
                <a:latin typeface="Calibri"/>
              </a:rPr>
              <a:t>Volume</a:t>
            </a:r>
          </a:p>
          <a:p>
            <a:pPr algn="ctr"/>
            <a:r>
              <a:rPr sz="1200">
                <a:solidFill>
                  <a:srgbClr val="6E6E6E"/>
                </a:solidFill>
                <a:latin typeface="Calibri"/>
              </a:rPr>
              <a:t>how much
space the block fills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743200"/>
            <a:ext cx="1874519" cy="1234440"/>
          </a:xfrm>
          <a:prstGeom prst="roundRect">
            <a:avLst/>
          </a:prstGeom>
          <a:solidFill>
            <a:srgbClr val="E8EFE3"/>
          </a:solidFill>
          <a:ln w="13970">
            <a:solidFill>
              <a:srgbClr val="6D8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41414"/>
                </a:solidFill>
                <a:latin typeface="Calibri"/>
              </a:rPr>
              <a:t>Mass</a:t>
            </a:r>
          </a:p>
          <a:p>
            <a:pPr algn="ctr"/>
            <a:r>
              <a:rPr sz="1200">
                <a:solidFill>
                  <a:srgbClr val="6E6E6E"/>
                </a:solidFill>
                <a:latin typeface="Calibri"/>
              </a:rPr>
              <a:t>density × volume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2743200"/>
            <a:ext cx="1874519" cy="1234440"/>
          </a:xfrm>
          <a:prstGeom prst="roundRect">
            <a:avLst/>
          </a:prstGeom>
          <a:solidFill>
            <a:srgbClr val="E8EFE3"/>
          </a:solidFill>
          <a:ln w="13970">
            <a:solidFill>
              <a:srgbClr val="6D8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41414"/>
                </a:solidFill>
                <a:latin typeface="Calibri"/>
              </a:rPr>
              <a:t>Potential energy</a:t>
            </a:r>
          </a:p>
          <a:p>
            <a:pPr algn="ctr"/>
            <a:r>
              <a:rPr sz="1200">
                <a:solidFill>
                  <a:srgbClr val="6E6E6E"/>
                </a:solidFill>
                <a:latin typeface="Calibri"/>
              </a:rPr>
              <a:t>stored energy from
being high on the slope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2743200"/>
            <a:ext cx="1874519" cy="1234440"/>
          </a:xfrm>
          <a:prstGeom prst="roundRect">
            <a:avLst/>
          </a:prstGeom>
          <a:solidFill>
            <a:srgbClr val="E8EFE3"/>
          </a:solidFill>
          <a:ln w="13970">
            <a:solidFill>
              <a:srgbClr val="6D8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41414"/>
                </a:solidFill>
                <a:latin typeface="Calibri"/>
              </a:rPr>
              <a:t>Velocity</a:t>
            </a:r>
          </a:p>
          <a:p>
            <a:pPr algn="ctr"/>
            <a:r>
              <a:rPr sz="1200">
                <a:solidFill>
                  <a:srgbClr val="6E6E6E"/>
                </a:solidFill>
                <a:latin typeface="Calibri"/>
              </a:rPr>
              <a:t>speed after energy
becomes motion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074920"/>
            <a:ext cx="10698480" cy="685800"/>
          </a:xfrm>
          <a:prstGeom prst="roundRect">
            <a:avLst/>
          </a:prstGeom>
          <a:solidFill>
            <a:srgbClr val="EFF3EC"/>
          </a:solidFill>
          <a:ln w="13970">
            <a:solidFill>
              <a:srgbClr val="B5C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141414"/>
                </a:solidFill>
                <a:latin typeface="Calibri"/>
              </a:rPr>
              <a:t>Key idea: a bigger vertical drop gives the block more gravitational energy to convert into movement.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5852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rgbClr val="141414"/>
                </a:solidFill>
                <a:latin typeface="Calibri"/>
              </a:rPr>
              <a:t>How the equations connect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17320"/>
            <a:ext cx="2148840" cy="54864"/>
          </a:xfrm>
          <a:prstGeom prst="rect">
            <a:avLst/>
          </a:prstGeom>
          <a:solidFill>
            <a:srgbClr val="6D8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109728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100"/>
              </a:spcAft>
            </a:pPr>
            <a:r>
              <a:rPr sz="2000" b="0">
                <a:solidFill>
                  <a:srgbClr val="6E6E6E"/>
                </a:solidFill>
                <a:latin typeface="Calibri"/>
              </a:rPr>
              <a:t>Q1 moves from geometry to energy to speed.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40280" y="2971800"/>
            <a:ext cx="0" cy="137160"/>
          </a:xfrm>
          <a:prstGeom prst="line">
            <a:avLst/>
          </a:prstGeom>
          <a:ln w="25400">
            <a:solidFill>
              <a:srgbClr val="6D8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240280" y="3840480"/>
            <a:ext cx="0" cy="137159"/>
          </a:xfrm>
          <a:prstGeom prst="line">
            <a:avLst/>
          </a:prstGeom>
          <a:ln w="25400">
            <a:solidFill>
              <a:srgbClr val="6D8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40280" y="4709159"/>
            <a:ext cx="0" cy="137161"/>
          </a:xfrm>
          <a:prstGeom prst="line">
            <a:avLst/>
          </a:prstGeom>
          <a:ln w="25400">
            <a:solidFill>
              <a:srgbClr val="6D8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68680" y="2240280"/>
            <a:ext cx="2743200" cy="731520"/>
          </a:xfrm>
          <a:prstGeom prst="roundRect">
            <a:avLst/>
          </a:prstGeom>
          <a:solidFill>
            <a:srgbClr val="E8EFE3"/>
          </a:solidFill>
          <a:ln w="13970">
            <a:solidFill>
              <a:srgbClr val="6D8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  <a:latin typeface="Calibri"/>
              </a:rPr>
              <a:t>1  V = L × W ×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258568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414"/>
                </a:solidFill>
                <a:latin typeface="Calibri"/>
              </a:rPr>
              <a:t>Use the block dimensions to get volume.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108960"/>
            <a:ext cx="2743200" cy="731520"/>
          </a:xfrm>
          <a:prstGeom prst="roundRect">
            <a:avLst/>
          </a:prstGeom>
          <a:solidFill>
            <a:srgbClr val="E8EFE3"/>
          </a:solidFill>
          <a:ln w="13970">
            <a:solidFill>
              <a:srgbClr val="6D8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  <a:latin typeface="Calibri"/>
              </a:rPr>
              <a:t>2  m = density × 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127248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414"/>
                </a:solidFill>
                <a:latin typeface="Calibri"/>
              </a:rPr>
              <a:t>Turn volume into mass.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977639"/>
            <a:ext cx="2743200" cy="731520"/>
          </a:xfrm>
          <a:prstGeom prst="roundRect">
            <a:avLst/>
          </a:prstGeom>
          <a:solidFill>
            <a:srgbClr val="E8EFE3"/>
          </a:solidFill>
          <a:ln w="13970">
            <a:solidFill>
              <a:srgbClr val="6D8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  <a:latin typeface="Calibri"/>
              </a:rPr>
              <a:t>3  PE = mgh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995927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414"/>
                </a:solidFill>
                <a:latin typeface="Calibri"/>
              </a:rPr>
              <a:t>Compute stored gravitational energy from the starting height.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846320"/>
            <a:ext cx="2743200" cy="731520"/>
          </a:xfrm>
          <a:prstGeom prst="roundRect">
            <a:avLst/>
          </a:prstGeom>
          <a:solidFill>
            <a:srgbClr val="E8EFE3"/>
          </a:solidFill>
          <a:ln w="13970">
            <a:solidFill>
              <a:srgbClr val="6D8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  <a:latin typeface="Calibri"/>
              </a:rPr>
              <a:t>4  PE = KE = ½mv²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4864608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41414"/>
                </a:solidFill>
                <a:latin typeface="Calibri"/>
              </a:rPr>
              <a:t>Assume no losses, solve for v, then convert m/s to mph.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897880"/>
            <a:ext cx="10698480" cy="530352"/>
          </a:xfrm>
          <a:prstGeom prst="roundRect">
            <a:avLst/>
          </a:prstGeom>
          <a:solidFill>
            <a:srgbClr val="EFF3EC"/>
          </a:solidFill>
          <a:ln w="13970">
            <a:solidFill>
              <a:srgbClr val="B5C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6E6E6E"/>
                </a:solidFill>
                <a:latin typeface="Calibri"/>
              </a:rPr>
              <a:t>Real landslides lose energy to friction, roughness, and deformation, so actual speeds are lower.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DB0ABA4-C5FF-2E41-8D9D-8FDFCB14EA9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818" y="352565"/>
            <a:ext cx="7635240" cy="34923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20D210-5A84-474C-A09B-BC0FD1943866}"/>
              </a:ext>
            </a:extLst>
          </p:cNvPr>
          <p:cNvSpPr txBox="1"/>
          <p:nvPr/>
        </p:nvSpPr>
        <p:spPr>
          <a:xfrm>
            <a:off x="548640" y="4240164"/>
            <a:ext cx="518035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Volume = Length x width x height</a:t>
            </a:r>
          </a:p>
          <a:p>
            <a:r>
              <a:rPr lang="en-US" sz="2000" dirty="0"/>
              <a:t>Mass = Density * volume </a:t>
            </a:r>
          </a:p>
          <a:p>
            <a:endParaRPr lang="en-US" sz="2000" dirty="0"/>
          </a:p>
          <a:p>
            <a:r>
              <a:rPr lang="en-US" sz="2000" dirty="0"/>
              <a:t>Givens:   Height = .5 m</a:t>
            </a:r>
          </a:p>
          <a:p>
            <a:r>
              <a:rPr lang="en-US" sz="2000" dirty="0"/>
              <a:t>	Length = 12 m</a:t>
            </a:r>
          </a:p>
          <a:p>
            <a:r>
              <a:rPr lang="en-US" sz="2000" dirty="0"/>
              <a:t>	Width = 8 m</a:t>
            </a:r>
          </a:p>
          <a:p>
            <a:r>
              <a:rPr lang="en-US" sz="2000" dirty="0"/>
              <a:t>	Density of quartz = 2650 kg/m</a:t>
            </a:r>
            <a:r>
              <a:rPr lang="en-US" sz="2000" baseline="30000" dirty="0"/>
              <a:t>3</a:t>
            </a:r>
          </a:p>
          <a:p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5E384A-CBBB-8F46-9D93-3C5134D1DA00}"/>
              </a:ext>
            </a:extLst>
          </p:cNvPr>
          <p:cNvSpPr txBox="1"/>
          <p:nvPr/>
        </p:nvSpPr>
        <p:spPr>
          <a:xfrm>
            <a:off x="6791481" y="4240164"/>
            <a:ext cx="4921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Step 1: l x w x 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1B520C-47CA-AF45-8B5F-B606A922D406}"/>
              </a:ext>
            </a:extLst>
          </p:cNvPr>
          <p:cNvSpPr txBox="1"/>
          <p:nvPr/>
        </p:nvSpPr>
        <p:spPr>
          <a:xfrm>
            <a:off x="6791481" y="4697364"/>
            <a:ext cx="4921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         12m *8m *0.5m = ___ cubic meters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71944C-2EAC-4649-A11B-D8E057BB17FB}"/>
              </a:ext>
            </a:extLst>
          </p:cNvPr>
          <p:cNvSpPr txBox="1"/>
          <p:nvPr/>
        </p:nvSpPr>
        <p:spPr>
          <a:xfrm>
            <a:off x="6791481" y="5159802"/>
            <a:ext cx="4921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Step 2: Mass = volume * density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4FCA68-E1D5-4A4D-B96B-EC5D223049A5}"/>
              </a:ext>
            </a:extLst>
          </p:cNvPr>
          <p:cNvSpPr txBox="1"/>
          <p:nvPr/>
        </p:nvSpPr>
        <p:spPr>
          <a:xfrm>
            <a:off x="6791481" y="5622240"/>
            <a:ext cx="4921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dirty="0"/>
              <a:t>__ m</a:t>
            </a:r>
            <a:r>
              <a:rPr lang="en-US" sz="2000" baseline="30000" dirty="0"/>
              <a:t>3</a:t>
            </a:r>
            <a:r>
              <a:rPr lang="en-US" sz="2000" dirty="0"/>
              <a:t> * 2650 kg/m</a:t>
            </a:r>
            <a:r>
              <a:rPr lang="en-US" sz="2000" baseline="30000" dirty="0"/>
              <a:t>3</a:t>
            </a:r>
            <a:r>
              <a:rPr lang="en-US" sz="2000" dirty="0"/>
              <a:t> = ________ kg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78B720-9DEA-5C47-A269-5BCBC1B06D51}"/>
              </a:ext>
            </a:extLst>
          </p:cNvPr>
          <p:cNvSpPr txBox="1"/>
          <p:nvPr/>
        </p:nvSpPr>
        <p:spPr>
          <a:xfrm>
            <a:off x="548640" y="1041400"/>
            <a:ext cx="189959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Q1</a:t>
            </a:r>
          </a:p>
          <a:p>
            <a:r>
              <a:rPr lang="en-US" sz="4400" dirty="0"/>
              <a:t>Part a</a:t>
            </a:r>
          </a:p>
        </p:txBody>
      </p:sp>
    </p:spTree>
    <p:extLst>
      <p:ext uri="{BB962C8B-B14F-4D97-AF65-F5344CB8AC3E}">
        <p14:creationId xmlns:p14="http://schemas.microsoft.com/office/powerpoint/2010/main" val="59019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4A59-209A-A341-A82F-EBA5EEE4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362200" cy="1463675"/>
          </a:xfrm>
        </p:spPr>
        <p:txBody>
          <a:bodyPr>
            <a:normAutofit/>
          </a:bodyPr>
          <a:lstStyle/>
          <a:p>
            <a:r>
              <a:rPr lang="en-US" dirty="0"/>
              <a:t>Q1 </a:t>
            </a:r>
            <a:br>
              <a:rPr lang="en-US" dirty="0"/>
            </a:br>
            <a:r>
              <a:rPr lang="en-US" dirty="0"/>
              <a:t>Part 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A21B5-C8CF-BC4C-B1A4-ADDEAFD1D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3406140"/>
            <a:ext cx="11023600" cy="3389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Givens:</a:t>
            </a:r>
          </a:p>
          <a:p>
            <a:pPr marL="0" indent="0">
              <a:buNone/>
            </a:pPr>
            <a:r>
              <a:rPr lang="en-US" dirty="0"/>
              <a:t>Potential energy = mass*gravitational constant * height = ? J</a:t>
            </a:r>
          </a:p>
          <a:p>
            <a:pPr marL="0" indent="0">
              <a:buNone/>
            </a:pPr>
            <a:r>
              <a:rPr lang="en-US" dirty="0"/>
              <a:t>Mass = (see part a) kg</a:t>
            </a:r>
          </a:p>
          <a:p>
            <a:pPr marL="0" indent="0">
              <a:buNone/>
            </a:pPr>
            <a:r>
              <a:rPr lang="en-US" dirty="0"/>
              <a:t>Gravitational constant (g) = 9.81 m/s</a:t>
            </a:r>
            <a:r>
              <a:rPr lang="en-US" baseline="30000" dirty="0"/>
              <a:t>2</a:t>
            </a:r>
          </a:p>
          <a:p>
            <a:pPr marL="0" indent="0">
              <a:buNone/>
            </a:pPr>
            <a:r>
              <a:rPr lang="en-US" dirty="0"/>
              <a:t>Height (h) = 500 m</a:t>
            </a:r>
          </a:p>
          <a:p>
            <a:pPr marL="0" indent="0">
              <a:buNone/>
            </a:pPr>
            <a:r>
              <a:rPr lang="en-US" dirty="0"/>
              <a:t>Answer will be in Joules = kg*m</a:t>
            </a:r>
            <a:r>
              <a:rPr lang="en-US" baseline="30000" dirty="0"/>
              <a:t>2</a:t>
            </a:r>
            <a:r>
              <a:rPr lang="en-US" dirty="0"/>
              <a:t>/s</a:t>
            </a:r>
            <a:r>
              <a:rPr lang="en-US" baseline="30000" dirty="0"/>
              <a:t>2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2F74BA-0EDB-BF45-B0E4-2C695567D3B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0" y="0"/>
            <a:ext cx="6223000" cy="340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488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4A59-209A-A341-A82F-EBA5EEE4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362200" cy="1463675"/>
          </a:xfrm>
        </p:spPr>
        <p:txBody>
          <a:bodyPr>
            <a:normAutofit/>
          </a:bodyPr>
          <a:lstStyle/>
          <a:p>
            <a:r>
              <a:rPr lang="en-US" dirty="0"/>
              <a:t>Q1 </a:t>
            </a:r>
            <a:br>
              <a:rPr lang="en-US" dirty="0"/>
            </a:br>
            <a:r>
              <a:rPr lang="en-US" dirty="0"/>
              <a:t>Part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A21B5-C8CF-BC4C-B1A4-ADDEAFD1D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3406140"/>
            <a:ext cx="11023600" cy="3389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Givens:</a:t>
            </a:r>
          </a:p>
          <a:p>
            <a:pPr marL="0" indent="0">
              <a:buNone/>
            </a:pPr>
            <a:r>
              <a:rPr lang="en-US" dirty="0"/>
              <a:t>Kinetic energy = 0.5 *mass* velocity</a:t>
            </a:r>
            <a:r>
              <a:rPr lang="en-US" baseline="30000" dirty="0"/>
              <a:t>2</a:t>
            </a:r>
          </a:p>
          <a:p>
            <a:pPr marL="0" indent="0">
              <a:buNone/>
            </a:pPr>
            <a:r>
              <a:rPr lang="en-US" dirty="0"/>
              <a:t>Mass = (see part a) kg</a:t>
            </a:r>
          </a:p>
          <a:p>
            <a:pPr marL="0" indent="0">
              <a:buNone/>
            </a:pPr>
            <a:r>
              <a:rPr lang="en-US" dirty="0"/>
              <a:t>Height (h) = 500 m</a:t>
            </a:r>
          </a:p>
          <a:p>
            <a:pPr marL="0" indent="0">
              <a:buNone/>
            </a:pPr>
            <a:r>
              <a:rPr lang="en-US" dirty="0"/>
              <a:t>Velocity = 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2F74BA-0EDB-BF45-B0E4-2C695567D3B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0" y="0"/>
            <a:ext cx="6223000" cy="340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931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4A59-209A-A341-A82F-EBA5EEE4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362200" cy="1463675"/>
          </a:xfrm>
        </p:spPr>
        <p:txBody>
          <a:bodyPr>
            <a:normAutofit/>
          </a:bodyPr>
          <a:lstStyle/>
          <a:p>
            <a:r>
              <a:rPr lang="en-US" dirty="0"/>
              <a:t>Q1 </a:t>
            </a:r>
            <a:br>
              <a:rPr lang="en-US" dirty="0"/>
            </a:br>
            <a:r>
              <a:rPr lang="en-US" dirty="0"/>
              <a:t>Part 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A21B5-C8CF-BC4C-B1A4-ADDEAFD1D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3406140"/>
            <a:ext cx="11023600" cy="3389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Convert m/s to mph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 mile = 1609.34 meters</a:t>
            </a:r>
          </a:p>
          <a:p>
            <a:pPr marL="0" indent="0">
              <a:buNone/>
            </a:pPr>
            <a:r>
              <a:rPr lang="en-US" dirty="0"/>
              <a:t>1 hour = 3600 seconds (1 </a:t>
            </a:r>
            <a:r>
              <a:rPr lang="en-US" dirty="0" err="1"/>
              <a:t>hr</a:t>
            </a:r>
            <a:r>
              <a:rPr lang="en-US" dirty="0"/>
              <a:t> = 60 minutes = 60 seconds)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Is this speed realistic? (Think about the arrows)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2F74BA-0EDB-BF45-B0E4-2C695567D3B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0" y="0"/>
            <a:ext cx="6223000" cy="340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668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4937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41414"/>
                </a:solidFill>
                <a:latin typeface="Calibri"/>
              </a:rPr>
              <a:t>Before Q2: soil creep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417320"/>
            <a:ext cx="2148840" cy="54864"/>
          </a:xfrm>
          <a:prstGeom prst="rect">
            <a:avLst/>
          </a:prstGeom>
          <a:solidFill>
            <a:srgbClr val="6D82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1414"/>
                </a:solidFill>
                <a:latin typeface="Calibri"/>
              </a:rPr>
              <a:t>Soil creep is the very slow, downhill movement of soil and loose sediment under gravity. It is usually gradual, but over time it can reshape a slope.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26080"/>
            <a:ext cx="3840480" cy="1097280"/>
          </a:xfrm>
          <a:prstGeom prst="roundRect">
            <a:avLst/>
          </a:prstGeom>
          <a:solidFill>
            <a:srgbClr val="E6ECE1"/>
          </a:solidFill>
          <a:ln w="13970">
            <a:solidFill>
              <a:srgbClr val="6D8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41414"/>
                </a:solidFill>
                <a:latin typeface="Calibri"/>
              </a:rPr>
              <a:t>qₛ = kₑ × S</a:t>
            </a:r>
          </a:p>
          <a:p>
            <a:pPr algn="ctr"/>
            <a:r>
              <a:rPr sz="1500">
                <a:solidFill>
                  <a:srgbClr val="6E6E6E"/>
                </a:solidFill>
                <a:latin typeface="Calibri"/>
              </a:rPr>
              <a:t>soil creep rate = diffusion constant × slope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5212080" y="2743200"/>
            <a:ext cx="457200" cy="0"/>
          </a:xfrm>
          <a:prstGeom prst="line">
            <a:avLst/>
          </a:prstGeom>
          <a:ln w="20320">
            <a:solidFill>
              <a:srgbClr val="6D8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5212080" y="3749040"/>
            <a:ext cx="457200" cy="0"/>
          </a:xfrm>
          <a:prstGeom prst="line">
            <a:avLst/>
          </a:prstGeom>
          <a:ln w="20320">
            <a:solidFill>
              <a:srgbClr val="6D82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669280" y="2331720"/>
            <a:ext cx="5303520" cy="822960"/>
          </a:xfrm>
          <a:prstGeom prst="roundRect">
            <a:avLst/>
          </a:prstGeom>
          <a:solidFill>
            <a:srgbClr val="E8EFE3"/>
          </a:solidFill>
          <a:ln w="13970">
            <a:solidFill>
              <a:srgbClr val="6D8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  <a:latin typeface="Calibri"/>
              </a:rPr>
              <a:t>qₛ  </a:t>
            </a:r>
            <a:r>
              <a:rPr sz="1700">
                <a:solidFill>
                  <a:srgbClr val="141414"/>
                </a:solidFill>
                <a:latin typeface="Calibri"/>
              </a:rPr>
              <a:t>how fast soil is creeping downhill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3337560"/>
            <a:ext cx="5303520" cy="822960"/>
          </a:xfrm>
          <a:prstGeom prst="roundRect">
            <a:avLst/>
          </a:prstGeom>
          <a:solidFill>
            <a:srgbClr val="E8EFE3"/>
          </a:solidFill>
          <a:ln w="13970">
            <a:solidFill>
              <a:srgbClr val="6D8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  <a:latin typeface="Calibri"/>
              </a:rPr>
              <a:t>kᵈ  </a:t>
            </a:r>
            <a:r>
              <a:rPr sz="1700">
                <a:solidFill>
                  <a:srgbClr val="141414"/>
                </a:solidFill>
                <a:latin typeface="Calibri"/>
              </a:rPr>
              <a:t>how easily sediment moves; vegetation usually lowers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4343400"/>
            <a:ext cx="5303520" cy="822960"/>
          </a:xfrm>
          <a:prstGeom prst="roundRect">
            <a:avLst/>
          </a:prstGeom>
          <a:solidFill>
            <a:srgbClr val="E8EFE3"/>
          </a:solidFill>
          <a:ln w="13970">
            <a:solidFill>
              <a:srgbClr val="6D82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  <a:latin typeface="Calibri"/>
              </a:rPr>
              <a:t>S  </a:t>
            </a:r>
            <a:r>
              <a:rPr sz="1700">
                <a:solidFill>
                  <a:srgbClr val="141414"/>
                </a:solidFill>
                <a:latin typeface="Calibri"/>
              </a:rPr>
              <a:t>slope steepness, usually rise/run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305951"/>
            <a:ext cx="10698480" cy="777240"/>
          </a:xfrm>
          <a:prstGeom prst="roundRect">
            <a:avLst/>
          </a:prstGeom>
          <a:solidFill>
            <a:srgbClr val="EFF3EC"/>
          </a:solidFill>
          <a:ln w="13970">
            <a:solidFill>
              <a:srgbClr val="B5C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dirty="0">
                <a:solidFill>
                  <a:srgbClr val="141414"/>
                </a:solidFill>
                <a:latin typeface="Calibri"/>
              </a:rPr>
              <a:t>For this lab, both hills have the same slope geometry. The main change is kᵈ, which helps show why vegetation can reduce creep.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4A59-209A-A341-A82F-EBA5EEE4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0725"/>
            <a:ext cx="2362200" cy="1463675"/>
          </a:xfrm>
        </p:spPr>
        <p:txBody>
          <a:bodyPr>
            <a:normAutofit/>
          </a:bodyPr>
          <a:lstStyle/>
          <a:p>
            <a:r>
              <a:rPr lang="en-US" dirty="0"/>
              <a:t>Q2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A21B5-C8CF-BC4C-B1A4-ADDEAFD1D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3406140"/>
            <a:ext cx="11023600" cy="3389630"/>
          </a:xfrm>
        </p:spPr>
        <p:txBody>
          <a:bodyPr>
            <a:normAutofit/>
          </a:bodyPr>
          <a:lstStyle/>
          <a:p>
            <a:pPr marL="514350" indent="-514350">
              <a:buAutoNum type="alphaLcPeriod"/>
            </a:pPr>
            <a:r>
              <a:rPr lang="en-US" dirty="0"/>
              <a:t>Slope – rise over run, height/length</a:t>
            </a:r>
          </a:p>
          <a:p>
            <a:pPr marL="514350" indent="-514350">
              <a:buAutoNum type="alphaLcPeriod"/>
            </a:pPr>
            <a:r>
              <a:rPr lang="en-US" dirty="0"/>
              <a:t>Figure out your equation, figure out your givens, SOLVE!</a:t>
            </a:r>
          </a:p>
          <a:p>
            <a:pPr marL="514350" indent="-514350">
              <a:buAutoNum type="alphaLcPeriod"/>
            </a:pPr>
            <a:r>
              <a:rPr lang="en-US" dirty="0"/>
              <a:t>Why would being vegetated make a slope less vulnerable to soil creep?</a:t>
            </a:r>
          </a:p>
          <a:p>
            <a:pPr marL="514350" indent="-514350">
              <a:buAutoNum type="alphaLcPeriod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F5FCA2-F99C-EE4E-A7F7-E6DE04ACDF9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600" y="197166"/>
            <a:ext cx="8305800" cy="249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900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89E6C-FA38-DBF0-5E61-2BB0E2962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 earth pro</a:t>
            </a:r>
          </a:p>
          <a:p>
            <a:r>
              <a:rPr lang="en-US" dirty="0"/>
              <a:t>Ruler- </a:t>
            </a:r>
            <a:r>
              <a:rPr lang="en-US" dirty="0" err="1"/>
              <a:t>polyon</a:t>
            </a:r>
            <a:endParaRPr lang="en-US" dirty="0"/>
          </a:p>
          <a:p>
            <a:r>
              <a:rPr lang="en-US" dirty="0"/>
              <a:t>Show historical imagery (can go before April 2014 to better identify the </a:t>
            </a:r>
            <a:r>
              <a:rPr lang="en-US"/>
              <a:t>landslide area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77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</TotalTime>
  <Words>596</Words>
  <Application>Microsoft Office PowerPoint</Application>
  <PresentationFormat>Widescreen</PresentationFormat>
  <Paragraphs>83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Lab 6:  Mass movement   </vt:lpstr>
      <vt:lpstr>PowerPoint Presentation</vt:lpstr>
      <vt:lpstr>PowerPoint Presentation</vt:lpstr>
      <vt:lpstr>PowerPoint Presentation</vt:lpstr>
      <vt:lpstr>Q1  Part b</vt:lpstr>
      <vt:lpstr>Q1  Part c</vt:lpstr>
      <vt:lpstr>Q1  Part d</vt:lpstr>
      <vt:lpstr>PowerPoint Presentation</vt:lpstr>
      <vt:lpstr>Q2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7 – Hillslope Environments</dc:title>
  <dc:creator>Mamer, Emily Elizabeth</dc:creator>
  <cp:lastModifiedBy>Chyon, Sadiul</cp:lastModifiedBy>
  <cp:revision>33</cp:revision>
  <dcterms:created xsi:type="dcterms:W3CDTF">2019-03-14T16:27:31Z</dcterms:created>
  <dcterms:modified xsi:type="dcterms:W3CDTF">2026-03-12T17:32:45Z</dcterms:modified>
</cp:coreProperties>
</file>
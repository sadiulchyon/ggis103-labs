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3" r:id="rId2"/>
    <p:sldId id="285" r:id="rId3"/>
    <p:sldId id="286" r:id="rId4"/>
    <p:sldId id="287" r:id="rId5"/>
    <p:sldId id="288" r:id="rId6"/>
    <p:sldId id="283" r:id="rId7"/>
    <p:sldId id="289" r:id="rId8"/>
    <p:sldId id="268"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98" autoAdjust="0"/>
    <p:restoredTop sz="94660"/>
  </p:normalViewPr>
  <p:slideViewPr>
    <p:cSldViewPr snapToGrid="0">
      <p:cViewPr varScale="1">
        <p:scale>
          <a:sx n="107" d="100"/>
          <a:sy n="107" d="100"/>
        </p:scale>
        <p:origin x="109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EEA9A7-46B6-490B-9AFC-C262905BF9D2}" type="datetimeFigureOut">
              <a:rPr lang="en-US" smtClean="0"/>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B5DFE7-796E-4333-8A04-C8CCD500A50F}" type="slidenum">
              <a:rPr lang="en-US" smtClean="0"/>
              <a:t>‹#›</a:t>
            </a:fld>
            <a:endParaRPr lang="en-US"/>
          </a:p>
        </p:txBody>
      </p:sp>
    </p:spTree>
    <p:extLst>
      <p:ext uri="{BB962C8B-B14F-4D97-AF65-F5344CB8AC3E}">
        <p14:creationId xmlns:p14="http://schemas.microsoft.com/office/powerpoint/2010/main" val="1782680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stream network is a connected system of tributaries and main channels. At junctions, water from upstream branches combines, so downstream discharge is the sum of incoming flows.</a:t>
            </a:r>
          </a:p>
        </p:txBody>
      </p:sp>
      <p:sp>
        <p:nvSpPr>
          <p:cNvPr id="4" name="Slide Number Placeholder 3"/>
          <p:cNvSpPr>
            <a:spLocks noGrp="1"/>
          </p:cNvSpPr>
          <p:nvPr>
            <p:ph type="sldNum" sz="quarter" idx="5"/>
          </p:nvPr>
        </p:nvSpPr>
        <p:spPr/>
        <p:txBody>
          <a:bodyPr/>
          <a:lstStyle/>
          <a:p>
            <a:fld id="{EAB5DFE7-796E-4333-8A04-C8CCD500A50F}" type="slidenum">
              <a:rPr lang="en-US" smtClean="0"/>
              <a:t>2</a:t>
            </a:fld>
            <a:endParaRPr lang="en-US"/>
          </a:p>
        </p:txBody>
      </p:sp>
    </p:spTree>
    <p:extLst>
      <p:ext uri="{BB962C8B-B14F-4D97-AF65-F5344CB8AC3E}">
        <p14:creationId xmlns:p14="http://schemas.microsoft.com/office/powerpoint/2010/main" val="1386008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Discharge is the volume of water passing a point per unit time. The slides use the basic relation Q=VAQ = VAQ=VA, meaning discharge equals flow velocity times cross-sectional area.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Cross-sectional area is the shape and size of the wetted channel slice. In simple cases it is approximated from depth × width, but in real channels it varies across the section, so discharge is often estimated in segments.</a:t>
            </a:r>
          </a:p>
          <a:p>
            <a:endParaRPr lang="en-US" dirty="0"/>
          </a:p>
        </p:txBody>
      </p:sp>
      <p:sp>
        <p:nvSpPr>
          <p:cNvPr id="4" name="Slide Number Placeholder 3"/>
          <p:cNvSpPr>
            <a:spLocks noGrp="1"/>
          </p:cNvSpPr>
          <p:nvPr>
            <p:ph type="sldNum" sz="quarter" idx="5"/>
          </p:nvPr>
        </p:nvSpPr>
        <p:spPr/>
        <p:txBody>
          <a:bodyPr/>
          <a:lstStyle/>
          <a:p>
            <a:fld id="{EAB5DFE7-796E-4333-8A04-C8CCD500A50F}" type="slidenum">
              <a:rPr lang="en-US" smtClean="0"/>
              <a:t>3</a:t>
            </a:fld>
            <a:endParaRPr lang="en-US"/>
          </a:p>
        </p:txBody>
      </p:sp>
    </p:spTree>
    <p:extLst>
      <p:ext uri="{BB962C8B-B14F-4D97-AF65-F5344CB8AC3E}">
        <p14:creationId xmlns:p14="http://schemas.microsoft.com/office/powerpoint/2010/main" val="3881724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Water usually moves fastest near the deeper central part and slower near the banks and bed because friction is greater there. That is why some parts of the channel carry much more water than others.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cross-section plots show that rivers are deeper in some parts than others. Deeper zones usually have greater flow capacity, and the deepest path often helps define where the strongest current moves.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AB5DFE7-796E-4333-8A04-C8CCD500A50F}" type="slidenum">
              <a:rPr lang="en-US" smtClean="0"/>
              <a:t>4</a:t>
            </a:fld>
            <a:endParaRPr lang="en-US"/>
          </a:p>
        </p:txBody>
      </p:sp>
    </p:spTree>
    <p:extLst>
      <p:ext uri="{BB962C8B-B14F-4D97-AF65-F5344CB8AC3E}">
        <p14:creationId xmlns:p14="http://schemas.microsoft.com/office/powerpoint/2010/main" val="3543852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 object blocks part of the channel, velocity drops in that area. Even if both sides have water, the obstructed side contributes less to total discharge because QQQ depends on both area and velocity. </a:t>
            </a:r>
          </a:p>
        </p:txBody>
      </p:sp>
      <p:sp>
        <p:nvSpPr>
          <p:cNvPr id="4" name="Slide Number Placeholder 3"/>
          <p:cNvSpPr>
            <a:spLocks noGrp="1"/>
          </p:cNvSpPr>
          <p:nvPr>
            <p:ph type="sldNum" sz="quarter" idx="5"/>
          </p:nvPr>
        </p:nvSpPr>
        <p:spPr/>
        <p:txBody>
          <a:bodyPr/>
          <a:lstStyle/>
          <a:p>
            <a:fld id="{EAB5DFE7-796E-4333-8A04-C8CCD500A50F}" type="slidenum">
              <a:rPr lang="en-US" smtClean="0"/>
              <a:t>5</a:t>
            </a:fld>
            <a:endParaRPr lang="en-US"/>
          </a:p>
        </p:txBody>
      </p:sp>
    </p:spTree>
    <p:extLst>
      <p:ext uri="{BB962C8B-B14F-4D97-AF65-F5344CB8AC3E}">
        <p14:creationId xmlns:p14="http://schemas.microsoft.com/office/powerpoint/2010/main" val="3280293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Sinuosity measures how curved a channel is. It is the channel length divided by the straight valley length, so a straight river is near 1 and a meandering river has a higher value.</a:t>
            </a:r>
          </a:p>
          <a:p>
            <a:r>
              <a:rPr lang="en-US" dirty="0"/>
              <a:t>sinuosity is inversely related to slope. In general, flatter landscapes tend to allow more meandering, while steeper channels tend to be straighter.</a:t>
            </a:r>
          </a:p>
        </p:txBody>
      </p:sp>
      <p:sp>
        <p:nvSpPr>
          <p:cNvPr id="4" name="Slide Number Placeholder 3"/>
          <p:cNvSpPr>
            <a:spLocks noGrp="1"/>
          </p:cNvSpPr>
          <p:nvPr>
            <p:ph type="sldNum" sz="quarter" idx="5"/>
          </p:nvPr>
        </p:nvSpPr>
        <p:spPr/>
        <p:txBody>
          <a:bodyPr/>
          <a:lstStyle/>
          <a:p>
            <a:fld id="{EAB5DFE7-796E-4333-8A04-C8CCD500A50F}" type="slidenum">
              <a:rPr lang="en-US" smtClean="0"/>
              <a:t>6</a:t>
            </a:fld>
            <a:endParaRPr lang="en-US"/>
          </a:p>
        </p:txBody>
      </p:sp>
    </p:spTree>
    <p:extLst>
      <p:ext uri="{BB962C8B-B14F-4D97-AF65-F5344CB8AC3E}">
        <p14:creationId xmlns:p14="http://schemas.microsoft.com/office/powerpoint/2010/main" val="3431497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AB5DFE7-796E-4333-8A04-C8CCD500A50F}" type="slidenum">
              <a:rPr lang="en-US" smtClean="0"/>
              <a:t>7</a:t>
            </a:fld>
            <a:endParaRPr lang="en-US"/>
          </a:p>
        </p:txBody>
      </p:sp>
    </p:spTree>
    <p:extLst>
      <p:ext uri="{BB962C8B-B14F-4D97-AF65-F5344CB8AC3E}">
        <p14:creationId xmlns:p14="http://schemas.microsoft.com/office/powerpoint/2010/main" val="3550051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Meanders form because flow is faster on the outer bend and slower on the inner bend. This causes erosion on the outside and deposition on the inside, which gradually shifts the bend over time. </a:t>
            </a:r>
          </a:p>
        </p:txBody>
      </p:sp>
      <p:sp>
        <p:nvSpPr>
          <p:cNvPr id="4" name="Slide Number Placeholder 3"/>
          <p:cNvSpPr>
            <a:spLocks noGrp="1"/>
          </p:cNvSpPr>
          <p:nvPr>
            <p:ph type="sldNum" sz="quarter" idx="5"/>
          </p:nvPr>
        </p:nvSpPr>
        <p:spPr/>
        <p:txBody>
          <a:bodyPr/>
          <a:lstStyle/>
          <a:p>
            <a:fld id="{EAB5DFE7-796E-4333-8A04-C8CCD500A50F}" type="slidenum">
              <a:rPr lang="en-US" smtClean="0"/>
              <a:t>8</a:t>
            </a:fld>
            <a:endParaRPr lang="en-US"/>
          </a:p>
        </p:txBody>
      </p:sp>
    </p:spTree>
    <p:extLst>
      <p:ext uri="{BB962C8B-B14F-4D97-AF65-F5344CB8AC3E}">
        <p14:creationId xmlns:p14="http://schemas.microsoft.com/office/powerpoint/2010/main" val="5874742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Truly straight rivers are uncommon in nature. Many straight channels are human-modified, often for navigation, drainage, or agriculture, and this process is called channelization.</a:t>
            </a:r>
          </a:p>
        </p:txBody>
      </p:sp>
      <p:sp>
        <p:nvSpPr>
          <p:cNvPr id="4" name="Slide Number Placeholder 3"/>
          <p:cNvSpPr>
            <a:spLocks noGrp="1"/>
          </p:cNvSpPr>
          <p:nvPr>
            <p:ph type="sldNum" sz="quarter" idx="5"/>
          </p:nvPr>
        </p:nvSpPr>
        <p:spPr/>
        <p:txBody>
          <a:bodyPr/>
          <a:lstStyle/>
          <a:p>
            <a:fld id="{EAB5DFE7-796E-4333-8A04-C8CCD500A50F}" type="slidenum">
              <a:rPr lang="en-US" smtClean="0"/>
              <a:t>9</a:t>
            </a:fld>
            <a:endParaRPr lang="en-US"/>
          </a:p>
        </p:txBody>
      </p:sp>
    </p:spTree>
    <p:extLst>
      <p:ext uri="{BB962C8B-B14F-4D97-AF65-F5344CB8AC3E}">
        <p14:creationId xmlns:p14="http://schemas.microsoft.com/office/powerpoint/2010/main" val="2763004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8437B-B13D-4E58-9FE3-B8DDF62BE7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C93FF6-21BC-435D-A633-3B36AEDAD8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D991B4-5288-4EFF-AECB-2EEB06D18129}"/>
              </a:ext>
            </a:extLst>
          </p:cNvPr>
          <p:cNvSpPr>
            <a:spLocks noGrp="1"/>
          </p:cNvSpPr>
          <p:nvPr>
            <p:ph type="dt" sz="half" idx="10"/>
          </p:nvPr>
        </p:nvSpPr>
        <p:spPr/>
        <p:txBody>
          <a:bodyPr/>
          <a:lstStyle/>
          <a:p>
            <a:fld id="{E5EAD61C-0DC6-4AA8-9A60-A507B683F792}" type="datetime1">
              <a:rPr lang="en-US" smtClean="0"/>
              <a:t>3/26/2026</a:t>
            </a:fld>
            <a:endParaRPr lang="en-US"/>
          </a:p>
        </p:txBody>
      </p:sp>
      <p:sp>
        <p:nvSpPr>
          <p:cNvPr id="5" name="Footer Placeholder 4">
            <a:extLst>
              <a:ext uri="{FF2B5EF4-FFF2-40B4-BE49-F238E27FC236}">
                <a16:creationId xmlns:a16="http://schemas.microsoft.com/office/drawing/2014/main" id="{87D712C8-8EAB-443A-BD04-76E6FAC676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5C457F-B1E9-4FD8-89B6-C8DE433B1D0E}"/>
              </a:ext>
            </a:extLst>
          </p:cNvPr>
          <p:cNvSpPr>
            <a:spLocks noGrp="1"/>
          </p:cNvSpPr>
          <p:nvPr>
            <p:ph type="sldNum" sz="quarter" idx="12"/>
          </p:nvPr>
        </p:nvSpPr>
        <p:spPr/>
        <p:txBody>
          <a:bodyPr/>
          <a:lstStyle/>
          <a:p>
            <a:fld id="{F095BFCB-D1F5-4761-BC0A-6802F2AA5B64}" type="slidenum">
              <a:rPr lang="en-US" smtClean="0"/>
              <a:pPr/>
              <a:t>‹#›</a:t>
            </a:fld>
            <a:endParaRPr lang="en-US" dirty="0"/>
          </a:p>
        </p:txBody>
      </p:sp>
    </p:spTree>
    <p:extLst>
      <p:ext uri="{BB962C8B-B14F-4D97-AF65-F5344CB8AC3E}">
        <p14:creationId xmlns:p14="http://schemas.microsoft.com/office/powerpoint/2010/main" val="4006980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90067-C12D-42E1-8D58-7404A5A5FF3B}"/>
              </a:ext>
            </a:extLst>
          </p:cNvPr>
          <p:cNvSpPr>
            <a:spLocks noGrp="1"/>
          </p:cNvSpPr>
          <p:nvPr>
            <p:ph type="title"/>
          </p:nvPr>
        </p:nvSpPr>
        <p:spPr>
          <a:xfrm>
            <a:off x="745435" y="358498"/>
            <a:ext cx="10515600" cy="509519"/>
          </a:xfrm>
        </p:spPr>
        <p:txBody>
          <a:bodyPr>
            <a:noAutofit/>
          </a:bodyPr>
          <a:lstStyle>
            <a:lvl1pPr>
              <a:defRPr sz="4000" i="0" u="sng">
                <a:solidFill>
                  <a:schemeClr val="accent1">
                    <a:lumMod val="75000"/>
                  </a:schemeClr>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2CA93866-A723-4D52-863F-793AE18AEC25}"/>
              </a:ext>
            </a:extLst>
          </p:cNvPr>
          <p:cNvSpPr>
            <a:spLocks noGrp="1"/>
          </p:cNvSpPr>
          <p:nvPr>
            <p:ph idx="1"/>
          </p:nvPr>
        </p:nvSpPr>
        <p:spPr>
          <a:xfrm>
            <a:off x="838200" y="1080051"/>
            <a:ext cx="10515600" cy="50969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B60BE9-CED0-47F0-AC50-60BAC2752A34}"/>
              </a:ext>
            </a:extLst>
          </p:cNvPr>
          <p:cNvSpPr>
            <a:spLocks noGrp="1"/>
          </p:cNvSpPr>
          <p:nvPr>
            <p:ph type="dt" sz="half" idx="10"/>
          </p:nvPr>
        </p:nvSpPr>
        <p:spPr/>
        <p:txBody>
          <a:bodyPr/>
          <a:lstStyle/>
          <a:p>
            <a:fld id="{972A52C0-2BA5-4B03-AB13-8C49C77440F3}" type="datetime1">
              <a:rPr lang="en-US" smtClean="0"/>
              <a:t>3/26/2026</a:t>
            </a:fld>
            <a:endParaRPr lang="en-US"/>
          </a:p>
        </p:txBody>
      </p:sp>
      <p:sp>
        <p:nvSpPr>
          <p:cNvPr id="5" name="Footer Placeholder 4">
            <a:extLst>
              <a:ext uri="{FF2B5EF4-FFF2-40B4-BE49-F238E27FC236}">
                <a16:creationId xmlns:a16="http://schemas.microsoft.com/office/drawing/2014/main" id="{CD497784-5D0C-45B0-839D-045E2D4029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B92F8D-D05B-4A59-8C2D-4862F5989B42}"/>
              </a:ext>
            </a:extLst>
          </p:cNvPr>
          <p:cNvSpPr>
            <a:spLocks noGrp="1"/>
          </p:cNvSpPr>
          <p:nvPr>
            <p:ph type="sldNum" sz="quarter" idx="12"/>
          </p:nvPr>
        </p:nvSpPr>
        <p:spPr/>
        <p:txBody>
          <a:bodyPr/>
          <a:lstStyle/>
          <a:p>
            <a:fld id="{F095BFCB-D1F5-4761-BC0A-6802F2AA5B64}" type="slidenum">
              <a:rPr lang="en-US" smtClean="0"/>
              <a:pPr/>
              <a:t>‹#›</a:t>
            </a:fld>
            <a:r>
              <a:rPr lang="en-US" dirty="0"/>
              <a:t> /7</a:t>
            </a:r>
          </a:p>
        </p:txBody>
      </p:sp>
    </p:spTree>
    <p:extLst>
      <p:ext uri="{BB962C8B-B14F-4D97-AF65-F5344CB8AC3E}">
        <p14:creationId xmlns:p14="http://schemas.microsoft.com/office/powerpoint/2010/main" val="1351512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68386-3234-4DC5-B8EC-B6E43D1D54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EB705F-C637-4BC3-97D4-0F2B3459D8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33F430-2FDB-4D93-815A-CA473F2B7644}"/>
              </a:ext>
            </a:extLst>
          </p:cNvPr>
          <p:cNvSpPr>
            <a:spLocks noGrp="1"/>
          </p:cNvSpPr>
          <p:nvPr>
            <p:ph type="dt" sz="half" idx="10"/>
          </p:nvPr>
        </p:nvSpPr>
        <p:spPr/>
        <p:txBody>
          <a:bodyPr/>
          <a:lstStyle/>
          <a:p>
            <a:fld id="{33D49D3F-B90F-45F1-AFFD-D534C6641A70}" type="datetime1">
              <a:rPr lang="en-US" smtClean="0"/>
              <a:t>3/26/2026</a:t>
            </a:fld>
            <a:endParaRPr lang="en-US"/>
          </a:p>
        </p:txBody>
      </p:sp>
      <p:sp>
        <p:nvSpPr>
          <p:cNvPr id="5" name="Footer Placeholder 4">
            <a:extLst>
              <a:ext uri="{FF2B5EF4-FFF2-40B4-BE49-F238E27FC236}">
                <a16:creationId xmlns:a16="http://schemas.microsoft.com/office/drawing/2014/main" id="{83255CD3-58E0-405D-B6DC-9F2929B179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9BDC76-A9E2-48FF-870E-0BFEB21AF488}"/>
              </a:ext>
            </a:extLst>
          </p:cNvPr>
          <p:cNvSpPr>
            <a:spLocks noGrp="1"/>
          </p:cNvSpPr>
          <p:nvPr>
            <p:ph type="sldNum" sz="quarter" idx="12"/>
          </p:nvPr>
        </p:nvSpPr>
        <p:spPr/>
        <p:txBody>
          <a:bodyPr/>
          <a:lstStyle/>
          <a:p>
            <a:fld id="{F095BFCB-D1F5-4761-BC0A-6802F2AA5B64}" type="slidenum">
              <a:rPr lang="en-US" smtClean="0"/>
              <a:t>‹#›</a:t>
            </a:fld>
            <a:endParaRPr lang="en-US"/>
          </a:p>
        </p:txBody>
      </p:sp>
    </p:spTree>
    <p:extLst>
      <p:ext uri="{BB962C8B-B14F-4D97-AF65-F5344CB8AC3E}">
        <p14:creationId xmlns:p14="http://schemas.microsoft.com/office/powerpoint/2010/main" val="2092924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D8E82-3CC2-4F8A-B354-C70CE4CA7B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0D6316-E9A0-4D14-8EEC-CB7F10CF58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45F1D8-1842-44B4-8148-2B33DD7470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A347B7-EFC3-4CD4-B7ED-1A14AA5BF79C}"/>
              </a:ext>
            </a:extLst>
          </p:cNvPr>
          <p:cNvSpPr>
            <a:spLocks noGrp="1"/>
          </p:cNvSpPr>
          <p:nvPr>
            <p:ph type="dt" sz="half" idx="10"/>
          </p:nvPr>
        </p:nvSpPr>
        <p:spPr/>
        <p:txBody>
          <a:bodyPr/>
          <a:lstStyle/>
          <a:p>
            <a:fld id="{85BFDE47-6EBD-4BB1-AC14-A25480C6A0F8}" type="datetime1">
              <a:rPr lang="en-US" smtClean="0"/>
              <a:t>3/26/2026</a:t>
            </a:fld>
            <a:endParaRPr lang="en-US"/>
          </a:p>
        </p:txBody>
      </p:sp>
      <p:sp>
        <p:nvSpPr>
          <p:cNvPr id="6" name="Footer Placeholder 5">
            <a:extLst>
              <a:ext uri="{FF2B5EF4-FFF2-40B4-BE49-F238E27FC236}">
                <a16:creationId xmlns:a16="http://schemas.microsoft.com/office/drawing/2014/main" id="{FAD0D505-A4BC-419C-AF62-4DC7E01289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C75E90-2EC4-49F0-A25F-B363DABF00B1}"/>
              </a:ext>
            </a:extLst>
          </p:cNvPr>
          <p:cNvSpPr>
            <a:spLocks noGrp="1"/>
          </p:cNvSpPr>
          <p:nvPr>
            <p:ph type="sldNum" sz="quarter" idx="12"/>
          </p:nvPr>
        </p:nvSpPr>
        <p:spPr/>
        <p:txBody>
          <a:bodyPr/>
          <a:lstStyle/>
          <a:p>
            <a:fld id="{F095BFCB-D1F5-4761-BC0A-6802F2AA5B64}" type="slidenum">
              <a:rPr lang="en-US" smtClean="0"/>
              <a:t>‹#›</a:t>
            </a:fld>
            <a:endParaRPr lang="en-US"/>
          </a:p>
        </p:txBody>
      </p:sp>
    </p:spTree>
    <p:extLst>
      <p:ext uri="{BB962C8B-B14F-4D97-AF65-F5344CB8AC3E}">
        <p14:creationId xmlns:p14="http://schemas.microsoft.com/office/powerpoint/2010/main" val="3476102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41BBC-2275-4A17-A3D4-841CE25A40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9615E5-9E58-4973-80CE-644FA712F3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B2A849-11B6-46DD-8A12-923804383A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196FBE6-05C9-4F56-8597-54766906BA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483CBE-EF43-48E1-9102-4F4891D7A5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AD604A-D2C4-4E8E-880E-848514CD3F03}"/>
              </a:ext>
            </a:extLst>
          </p:cNvPr>
          <p:cNvSpPr>
            <a:spLocks noGrp="1"/>
          </p:cNvSpPr>
          <p:nvPr>
            <p:ph type="dt" sz="half" idx="10"/>
          </p:nvPr>
        </p:nvSpPr>
        <p:spPr/>
        <p:txBody>
          <a:bodyPr/>
          <a:lstStyle/>
          <a:p>
            <a:fld id="{36F89CF3-4EA7-4900-AFFE-D8B63AAA7FB5}" type="datetime1">
              <a:rPr lang="en-US" smtClean="0"/>
              <a:t>3/26/2026</a:t>
            </a:fld>
            <a:endParaRPr lang="en-US"/>
          </a:p>
        </p:txBody>
      </p:sp>
      <p:sp>
        <p:nvSpPr>
          <p:cNvPr id="8" name="Footer Placeholder 7">
            <a:extLst>
              <a:ext uri="{FF2B5EF4-FFF2-40B4-BE49-F238E27FC236}">
                <a16:creationId xmlns:a16="http://schemas.microsoft.com/office/drawing/2014/main" id="{7922FA80-0C19-44C3-A3B3-2097BCE80D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75EC87-9565-4A80-B4E6-E667ADDFB169}"/>
              </a:ext>
            </a:extLst>
          </p:cNvPr>
          <p:cNvSpPr>
            <a:spLocks noGrp="1"/>
          </p:cNvSpPr>
          <p:nvPr>
            <p:ph type="sldNum" sz="quarter" idx="12"/>
          </p:nvPr>
        </p:nvSpPr>
        <p:spPr/>
        <p:txBody>
          <a:bodyPr/>
          <a:lstStyle/>
          <a:p>
            <a:fld id="{F095BFCB-D1F5-4761-BC0A-6802F2AA5B64}" type="slidenum">
              <a:rPr lang="en-US" smtClean="0"/>
              <a:t>‹#›</a:t>
            </a:fld>
            <a:endParaRPr lang="en-US"/>
          </a:p>
        </p:txBody>
      </p:sp>
    </p:spTree>
    <p:extLst>
      <p:ext uri="{BB962C8B-B14F-4D97-AF65-F5344CB8AC3E}">
        <p14:creationId xmlns:p14="http://schemas.microsoft.com/office/powerpoint/2010/main" val="2727704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0AFF0-02F2-4625-8A97-0C64744D549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CBAB7E-F488-4E68-86D0-232FADFBFEF8}"/>
              </a:ext>
            </a:extLst>
          </p:cNvPr>
          <p:cNvSpPr>
            <a:spLocks noGrp="1"/>
          </p:cNvSpPr>
          <p:nvPr>
            <p:ph type="dt" sz="half" idx="10"/>
          </p:nvPr>
        </p:nvSpPr>
        <p:spPr/>
        <p:txBody>
          <a:bodyPr/>
          <a:lstStyle/>
          <a:p>
            <a:fld id="{E2D299F9-6254-4A26-925A-D3753E159E80}" type="datetime1">
              <a:rPr lang="en-US" smtClean="0"/>
              <a:t>3/26/2026</a:t>
            </a:fld>
            <a:endParaRPr lang="en-US"/>
          </a:p>
        </p:txBody>
      </p:sp>
      <p:sp>
        <p:nvSpPr>
          <p:cNvPr id="4" name="Footer Placeholder 3">
            <a:extLst>
              <a:ext uri="{FF2B5EF4-FFF2-40B4-BE49-F238E27FC236}">
                <a16:creationId xmlns:a16="http://schemas.microsoft.com/office/drawing/2014/main" id="{622E4177-CE87-4CFA-9EE2-B07317F694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979BC6-20A3-483D-8E8C-4CAD82EAA31B}"/>
              </a:ext>
            </a:extLst>
          </p:cNvPr>
          <p:cNvSpPr>
            <a:spLocks noGrp="1"/>
          </p:cNvSpPr>
          <p:nvPr>
            <p:ph type="sldNum" sz="quarter" idx="12"/>
          </p:nvPr>
        </p:nvSpPr>
        <p:spPr/>
        <p:txBody>
          <a:bodyPr/>
          <a:lstStyle/>
          <a:p>
            <a:fld id="{F095BFCB-D1F5-4761-BC0A-6802F2AA5B64}" type="slidenum">
              <a:rPr lang="en-US" smtClean="0"/>
              <a:t>‹#›</a:t>
            </a:fld>
            <a:endParaRPr lang="en-US"/>
          </a:p>
        </p:txBody>
      </p:sp>
    </p:spTree>
    <p:extLst>
      <p:ext uri="{BB962C8B-B14F-4D97-AF65-F5344CB8AC3E}">
        <p14:creationId xmlns:p14="http://schemas.microsoft.com/office/powerpoint/2010/main" val="438737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835330-160B-4DF2-B739-131A41231462}"/>
              </a:ext>
            </a:extLst>
          </p:cNvPr>
          <p:cNvSpPr>
            <a:spLocks noGrp="1"/>
          </p:cNvSpPr>
          <p:nvPr>
            <p:ph type="dt" sz="half" idx="10"/>
          </p:nvPr>
        </p:nvSpPr>
        <p:spPr/>
        <p:txBody>
          <a:bodyPr/>
          <a:lstStyle/>
          <a:p>
            <a:fld id="{A02053AB-4B27-4BC8-A570-ABE937003B08}" type="datetime1">
              <a:rPr lang="en-US" smtClean="0"/>
              <a:t>3/26/2026</a:t>
            </a:fld>
            <a:endParaRPr lang="en-US"/>
          </a:p>
        </p:txBody>
      </p:sp>
      <p:sp>
        <p:nvSpPr>
          <p:cNvPr id="3" name="Footer Placeholder 2">
            <a:extLst>
              <a:ext uri="{FF2B5EF4-FFF2-40B4-BE49-F238E27FC236}">
                <a16:creationId xmlns:a16="http://schemas.microsoft.com/office/drawing/2014/main" id="{3D909161-1C48-41D8-B668-FF9C483CAA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D978E6-923C-4066-B7E1-A0FE2F2D7CCE}"/>
              </a:ext>
            </a:extLst>
          </p:cNvPr>
          <p:cNvSpPr>
            <a:spLocks noGrp="1"/>
          </p:cNvSpPr>
          <p:nvPr>
            <p:ph type="sldNum" sz="quarter" idx="12"/>
          </p:nvPr>
        </p:nvSpPr>
        <p:spPr/>
        <p:txBody>
          <a:bodyPr/>
          <a:lstStyle/>
          <a:p>
            <a:fld id="{F095BFCB-D1F5-4761-BC0A-6802F2AA5B64}" type="slidenum">
              <a:rPr lang="en-US" smtClean="0"/>
              <a:t>‹#›</a:t>
            </a:fld>
            <a:endParaRPr lang="en-US"/>
          </a:p>
        </p:txBody>
      </p:sp>
    </p:spTree>
    <p:extLst>
      <p:ext uri="{BB962C8B-B14F-4D97-AF65-F5344CB8AC3E}">
        <p14:creationId xmlns:p14="http://schemas.microsoft.com/office/powerpoint/2010/main" val="2644018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2ABA5-D092-45B6-92C5-97A35735A8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5A4D91-81AD-4759-9BE1-7D7B1E128E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30E34B-90F4-455A-9DBC-75DBBF040F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E019B4-F5F5-437A-816D-4EE9D6F62617}"/>
              </a:ext>
            </a:extLst>
          </p:cNvPr>
          <p:cNvSpPr>
            <a:spLocks noGrp="1"/>
          </p:cNvSpPr>
          <p:nvPr>
            <p:ph type="dt" sz="half" idx="10"/>
          </p:nvPr>
        </p:nvSpPr>
        <p:spPr/>
        <p:txBody>
          <a:bodyPr/>
          <a:lstStyle/>
          <a:p>
            <a:fld id="{528715FC-4087-45F6-B950-5F933AEA6FB5}" type="datetime1">
              <a:rPr lang="en-US" smtClean="0"/>
              <a:t>3/26/2026</a:t>
            </a:fld>
            <a:endParaRPr lang="en-US"/>
          </a:p>
        </p:txBody>
      </p:sp>
      <p:sp>
        <p:nvSpPr>
          <p:cNvPr id="6" name="Footer Placeholder 5">
            <a:extLst>
              <a:ext uri="{FF2B5EF4-FFF2-40B4-BE49-F238E27FC236}">
                <a16:creationId xmlns:a16="http://schemas.microsoft.com/office/drawing/2014/main" id="{9DE03752-85D0-4AF3-B5EB-393004E96B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A31129-AAF1-41E1-9C3B-7172093818ED}"/>
              </a:ext>
            </a:extLst>
          </p:cNvPr>
          <p:cNvSpPr>
            <a:spLocks noGrp="1"/>
          </p:cNvSpPr>
          <p:nvPr>
            <p:ph type="sldNum" sz="quarter" idx="12"/>
          </p:nvPr>
        </p:nvSpPr>
        <p:spPr/>
        <p:txBody>
          <a:bodyPr/>
          <a:lstStyle/>
          <a:p>
            <a:fld id="{F095BFCB-D1F5-4761-BC0A-6802F2AA5B64}" type="slidenum">
              <a:rPr lang="en-US" smtClean="0"/>
              <a:t>‹#›</a:t>
            </a:fld>
            <a:endParaRPr lang="en-US"/>
          </a:p>
        </p:txBody>
      </p:sp>
    </p:spTree>
    <p:extLst>
      <p:ext uri="{BB962C8B-B14F-4D97-AF65-F5344CB8AC3E}">
        <p14:creationId xmlns:p14="http://schemas.microsoft.com/office/powerpoint/2010/main" val="3874859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A02BB-DC7D-4A41-A805-0A78F4A0A5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18924A-3951-44EF-A564-F802F5255D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6FE598-86A8-4B72-9C5F-C31A44DEB0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361A60-5CF2-42A9-8BB9-D853B4DB9C56}"/>
              </a:ext>
            </a:extLst>
          </p:cNvPr>
          <p:cNvSpPr>
            <a:spLocks noGrp="1"/>
          </p:cNvSpPr>
          <p:nvPr>
            <p:ph type="dt" sz="half" idx="10"/>
          </p:nvPr>
        </p:nvSpPr>
        <p:spPr/>
        <p:txBody>
          <a:bodyPr/>
          <a:lstStyle/>
          <a:p>
            <a:fld id="{FCBA76A0-6D12-4308-96FB-C770329D46B9}" type="datetime1">
              <a:rPr lang="en-US" smtClean="0"/>
              <a:t>3/26/2026</a:t>
            </a:fld>
            <a:endParaRPr lang="en-US"/>
          </a:p>
        </p:txBody>
      </p:sp>
      <p:sp>
        <p:nvSpPr>
          <p:cNvPr id="6" name="Footer Placeholder 5">
            <a:extLst>
              <a:ext uri="{FF2B5EF4-FFF2-40B4-BE49-F238E27FC236}">
                <a16:creationId xmlns:a16="http://schemas.microsoft.com/office/drawing/2014/main" id="{78E4ADA0-C63F-4BEB-A1AA-9D2177CD5D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4748A5-C517-4CEC-A968-C2DD9BA807AF}"/>
              </a:ext>
            </a:extLst>
          </p:cNvPr>
          <p:cNvSpPr>
            <a:spLocks noGrp="1"/>
          </p:cNvSpPr>
          <p:nvPr>
            <p:ph type="sldNum" sz="quarter" idx="12"/>
          </p:nvPr>
        </p:nvSpPr>
        <p:spPr/>
        <p:txBody>
          <a:bodyPr/>
          <a:lstStyle/>
          <a:p>
            <a:fld id="{F095BFCB-D1F5-4761-BC0A-6802F2AA5B64}" type="slidenum">
              <a:rPr lang="en-US" smtClean="0"/>
              <a:t>‹#›</a:t>
            </a:fld>
            <a:endParaRPr lang="en-US"/>
          </a:p>
        </p:txBody>
      </p:sp>
    </p:spTree>
    <p:extLst>
      <p:ext uri="{BB962C8B-B14F-4D97-AF65-F5344CB8AC3E}">
        <p14:creationId xmlns:p14="http://schemas.microsoft.com/office/powerpoint/2010/main" val="3684656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C2D9A-9D5E-4759-964C-157BCD04B2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684A9D-03F2-4E69-8195-F1ACCFAA7B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45CED1-233D-4037-BE84-E409F99CFEFF}"/>
              </a:ext>
            </a:extLst>
          </p:cNvPr>
          <p:cNvSpPr>
            <a:spLocks noGrp="1"/>
          </p:cNvSpPr>
          <p:nvPr>
            <p:ph type="dt" sz="half" idx="10"/>
          </p:nvPr>
        </p:nvSpPr>
        <p:spPr/>
        <p:txBody>
          <a:bodyPr/>
          <a:lstStyle/>
          <a:p>
            <a:fld id="{537DA194-44D8-4DED-9661-D034C7517176}" type="datetime1">
              <a:rPr lang="en-US" smtClean="0"/>
              <a:t>3/26/2026</a:t>
            </a:fld>
            <a:endParaRPr lang="en-US"/>
          </a:p>
        </p:txBody>
      </p:sp>
      <p:sp>
        <p:nvSpPr>
          <p:cNvPr id="5" name="Footer Placeholder 4">
            <a:extLst>
              <a:ext uri="{FF2B5EF4-FFF2-40B4-BE49-F238E27FC236}">
                <a16:creationId xmlns:a16="http://schemas.microsoft.com/office/drawing/2014/main" id="{F9FDB96A-733B-466C-B241-6176A4EF79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97617D-290F-4412-86EF-AF436039BAC5}"/>
              </a:ext>
            </a:extLst>
          </p:cNvPr>
          <p:cNvSpPr>
            <a:spLocks noGrp="1"/>
          </p:cNvSpPr>
          <p:nvPr>
            <p:ph type="sldNum" sz="quarter" idx="12"/>
          </p:nvPr>
        </p:nvSpPr>
        <p:spPr/>
        <p:txBody>
          <a:bodyPr/>
          <a:lstStyle/>
          <a:p>
            <a:fld id="{F095BFCB-D1F5-4761-BC0A-6802F2AA5B64}" type="slidenum">
              <a:rPr lang="en-US" smtClean="0"/>
              <a:t>‹#›</a:t>
            </a:fld>
            <a:endParaRPr lang="en-US"/>
          </a:p>
        </p:txBody>
      </p:sp>
    </p:spTree>
    <p:extLst>
      <p:ext uri="{BB962C8B-B14F-4D97-AF65-F5344CB8AC3E}">
        <p14:creationId xmlns:p14="http://schemas.microsoft.com/office/powerpoint/2010/main" val="431818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DA0748-4A88-4DF7-8FED-D08A2C3356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7824F1-B6CB-40FC-B311-3BA7875E6B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6E6D6B-E1E4-4D3D-A1F8-5C30B59BCD9E}"/>
              </a:ext>
            </a:extLst>
          </p:cNvPr>
          <p:cNvSpPr>
            <a:spLocks noGrp="1"/>
          </p:cNvSpPr>
          <p:nvPr>
            <p:ph type="dt" sz="half" idx="10"/>
          </p:nvPr>
        </p:nvSpPr>
        <p:spPr/>
        <p:txBody>
          <a:bodyPr/>
          <a:lstStyle/>
          <a:p>
            <a:fld id="{DDD38330-2A67-4247-9047-4518A98B459A}" type="datetime1">
              <a:rPr lang="en-US" smtClean="0"/>
              <a:t>3/26/2026</a:t>
            </a:fld>
            <a:endParaRPr lang="en-US"/>
          </a:p>
        </p:txBody>
      </p:sp>
      <p:sp>
        <p:nvSpPr>
          <p:cNvPr id="5" name="Footer Placeholder 4">
            <a:extLst>
              <a:ext uri="{FF2B5EF4-FFF2-40B4-BE49-F238E27FC236}">
                <a16:creationId xmlns:a16="http://schemas.microsoft.com/office/drawing/2014/main" id="{88D0DC57-CAD3-491E-8AF3-954AE1723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018B98-A9D2-4B76-9DCF-DBBD6A9BC8C8}"/>
              </a:ext>
            </a:extLst>
          </p:cNvPr>
          <p:cNvSpPr>
            <a:spLocks noGrp="1"/>
          </p:cNvSpPr>
          <p:nvPr>
            <p:ph type="sldNum" sz="quarter" idx="12"/>
          </p:nvPr>
        </p:nvSpPr>
        <p:spPr/>
        <p:txBody>
          <a:bodyPr/>
          <a:lstStyle/>
          <a:p>
            <a:fld id="{F095BFCB-D1F5-4761-BC0A-6802F2AA5B64}" type="slidenum">
              <a:rPr lang="en-US" smtClean="0"/>
              <a:t>‹#›</a:t>
            </a:fld>
            <a:endParaRPr lang="en-US"/>
          </a:p>
        </p:txBody>
      </p:sp>
    </p:spTree>
    <p:extLst>
      <p:ext uri="{BB962C8B-B14F-4D97-AF65-F5344CB8AC3E}">
        <p14:creationId xmlns:p14="http://schemas.microsoft.com/office/powerpoint/2010/main" val="2862699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B29E3D-7D0D-4891-B393-C03CA1ABFF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52D364-E51C-41C2-9661-B5C30F5438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8398F-7231-4C30-BE10-94CB5AE3E5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B8B060-083D-49EF-B240-054EFCB8E6BF}" type="datetime1">
              <a:rPr lang="en-US" smtClean="0"/>
              <a:t>3/26/2026</a:t>
            </a:fld>
            <a:endParaRPr lang="en-US"/>
          </a:p>
        </p:txBody>
      </p:sp>
      <p:sp>
        <p:nvSpPr>
          <p:cNvPr id="5" name="Footer Placeholder 4">
            <a:extLst>
              <a:ext uri="{FF2B5EF4-FFF2-40B4-BE49-F238E27FC236}">
                <a16:creationId xmlns:a16="http://schemas.microsoft.com/office/drawing/2014/main" id="{19969C74-52E8-4D5A-8387-8C3A45F48F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2B1F17A-9D60-479A-8D2E-025E196230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95BFCB-D1F5-4761-BC0A-6802F2AA5B64}" type="slidenum">
              <a:rPr lang="en-US" smtClean="0"/>
              <a:t>‹#›</a:t>
            </a:fld>
            <a:endParaRPr lang="en-US"/>
          </a:p>
        </p:txBody>
      </p:sp>
    </p:spTree>
    <p:extLst>
      <p:ext uri="{BB962C8B-B14F-4D97-AF65-F5344CB8AC3E}">
        <p14:creationId xmlns:p14="http://schemas.microsoft.com/office/powerpoint/2010/main" val="39894217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laurasriverfeatures.weebly.com/meanders.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https://en.wikipedia.org/wiki/Sioux_City,_Iowa" TargetMode="External"/><Relationship Id="rId4" Type="http://schemas.openxmlformats.org/officeDocument/2006/relationships/hyperlink" Target="https://en.wikipedia.org/wiki/Floyd_Riv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161A2-7EE4-40FB-946E-81F118845907}"/>
              </a:ext>
            </a:extLst>
          </p:cNvPr>
          <p:cNvSpPr>
            <a:spLocks noGrp="1"/>
          </p:cNvSpPr>
          <p:nvPr>
            <p:ph type="ctrTitle"/>
          </p:nvPr>
        </p:nvSpPr>
        <p:spPr>
          <a:xfrm>
            <a:off x="1262063" y="938212"/>
            <a:ext cx="9144000" cy="1019175"/>
          </a:xfrm>
        </p:spPr>
        <p:txBody>
          <a:bodyPr>
            <a:normAutofit/>
          </a:bodyPr>
          <a:lstStyle/>
          <a:p>
            <a:r>
              <a:rPr lang="en-US" sz="5400" b="1" u="sng" dirty="0">
                <a:solidFill>
                  <a:schemeClr val="accent1">
                    <a:lumMod val="75000"/>
                  </a:schemeClr>
                </a:solidFill>
              </a:rPr>
              <a:t>GGIS/ESE 103 </a:t>
            </a:r>
            <a:endParaRPr lang="en-US" sz="5400" dirty="0"/>
          </a:p>
        </p:txBody>
      </p:sp>
      <p:sp>
        <p:nvSpPr>
          <p:cNvPr id="3" name="Subtitle 2">
            <a:extLst>
              <a:ext uri="{FF2B5EF4-FFF2-40B4-BE49-F238E27FC236}">
                <a16:creationId xmlns:a16="http://schemas.microsoft.com/office/drawing/2014/main" id="{511FB5AE-087C-4F4F-A3B9-F40F33E87CBF}"/>
              </a:ext>
            </a:extLst>
          </p:cNvPr>
          <p:cNvSpPr>
            <a:spLocks noGrp="1"/>
          </p:cNvSpPr>
          <p:nvPr>
            <p:ph type="subTitle" idx="1"/>
          </p:nvPr>
        </p:nvSpPr>
        <p:spPr>
          <a:xfrm>
            <a:off x="1524000" y="2673350"/>
            <a:ext cx="9144000" cy="1655762"/>
          </a:xfrm>
        </p:spPr>
        <p:txBody>
          <a:bodyPr>
            <a:normAutofit/>
          </a:bodyPr>
          <a:lstStyle/>
          <a:p>
            <a:r>
              <a:rPr lang="en-US" sz="4800" b="1" dirty="0">
                <a:solidFill>
                  <a:schemeClr val="accent1">
                    <a:lumMod val="75000"/>
                  </a:schemeClr>
                </a:solidFill>
              </a:rPr>
              <a:t>Lab 7 – Stream network and stream hydrology </a:t>
            </a:r>
          </a:p>
          <a:p>
            <a:endParaRPr lang="en-US" sz="4800" b="1" dirty="0"/>
          </a:p>
        </p:txBody>
      </p:sp>
    </p:spTree>
    <p:extLst>
      <p:ext uri="{BB962C8B-B14F-4D97-AF65-F5344CB8AC3E}">
        <p14:creationId xmlns:p14="http://schemas.microsoft.com/office/powerpoint/2010/main" val="1392502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39353-788C-7FF2-A634-1AB53A9F1622}"/>
              </a:ext>
            </a:extLst>
          </p:cNvPr>
          <p:cNvSpPr>
            <a:spLocks noGrp="1"/>
          </p:cNvSpPr>
          <p:nvPr>
            <p:ph type="title"/>
          </p:nvPr>
        </p:nvSpPr>
        <p:spPr/>
        <p:txBody>
          <a:bodyPr/>
          <a:lstStyle/>
          <a:p>
            <a:r>
              <a:rPr lang="en-US" dirty="0"/>
              <a:t>Question 1</a:t>
            </a:r>
          </a:p>
        </p:txBody>
      </p:sp>
      <p:pic>
        <p:nvPicPr>
          <p:cNvPr id="4" name="image1.png">
            <a:extLst>
              <a:ext uri="{FF2B5EF4-FFF2-40B4-BE49-F238E27FC236}">
                <a16:creationId xmlns:a16="http://schemas.microsoft.com/office/drawing/2014/main" id="{FE2975D7-9B95-8C5B-A328-F778569050D0}"/>
              </a:ext>
            </a:extLst>
          </p:cNvPr>
          <p:cNvPicPr/>
          <p:nvPr/>
        </p:nvPicPr>
        <p:blipFill>
          <a:blip r:embed="rId3"/>
          <a:srcRect t="6949" b="13899"/>
          <a:stretch>
            <a:fillRect/>
          </a:stretch>
        </p:blipFill>
        <p:spPr>
          <a:xfrm>
            <a:off x="3162300" y="1840864"/>
            <a:ext cx="7862887" cy="3316923"/>
          </a:xfrm>
          <a:prstGeom prst="rect">
            <a:avLst/>
          </a:prstGeom>
          <a:ln/>
        </p:spPr>
      </p:pic>
    </p:spTree>
    <p:extLst>
      <p:ext uri="{BB962C8B-B14F-4D97-AF65-F5344CB8AC3E}">
        <p14:creationId xmlns:p14="http://schemas.microsoft.com/office/powerpoint/2010/main" val="1449831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39353-788C-7FF2-A634-1AB53A9F1622}"/>
              </a:ext>
            </a:extLst>
          </p:cNvPr>
          <p:cNvSpPr>
            <a:spLocks noGrp="1"/>
          </p:cNvSpPr>
          <p:nvPr>
            <p:ph type="title"/>
          </p:nvPr>
        </p:nvSpPr>
        <p:spPr/>
        <p:txBody>
          <a:bodyPr/>
          <a:lstStyle/>
          <a:p>
            <a:r>
              <a:rPr lang="en-US" dirty="0"/>
              <a:t>Question 2 , 3 &amp; 4</a:t>
            </a:r>
          </a:p>
        </p:txBody>
      </p:sp>
      <p:pic>
        <p:nvPicPr>
          <p:cNvPr id="3" name="image3.png">
            <a:extLst>
              <a:ext uri="{FF2B5EF4-FFF2-40B4-BE49-F238E27FC236}">
                <a16:creationId xmlns:a16="http://schemas.microsoft.com/office/drawing/2014/main" id="{367C80DF-7107-E3A5-40DC-0B775D633591}"/>
              </a:ext>
            </a:extLst>
          </p:cNvPr>
          <p:cNvPicPr/>
          <p:nvPr/>
        </p:nvPicPr>
        <p:blipFill>
          <a:blip r:embed="rId3"/>
          <a:srcRect/>
          <a:stretch>
            <a:fillRect/>
          </a:stretch>
        </p:blipFill>
        <p:spPr>
          <a:xfrm>
            <a:off x="4302815" y="2885655"/>
            <a:ext cx="7889185" cy="2562646"/>
          </a:xfrm>
          <a:prstGeom prst="rect">
            <a:avLst/>
          </a:prstGeom>
          <a:ln/>
        </p:spPr>
      </p:pic>
      <p:sp>
        <p:nvSpPr>
          <p:cNvPr id="6" name="TextBox 5">
            <a:extLst>
              <a:ext uri="{FF2B5EF4-FFF2-40B4-BE49-F238E27FC236}">
                <a16:creationId xmlns:a16="http://schemas.microsoft.com/office/drawing/2014/main" id="{B2E9157B-1488-6313-C199-8593BDFB2D0A}"/>
              </a:ext>
            </a:extLst>
          </p:cNvPr>
          <p:cNvSpPr txBox="1"/>
          <p:nvPr/>
        </p:nvSpPr>
        <p:spPr>
          <a:xfrm>
            <a:off x="561974" y="1862137"/>
            <a:ext cx="9596438" cy="1815882"/>
          </a:xfrm>
          <a:prstGeom prst="rect">
            <a:avLst/>
          </a:prstGeom>
          <a:noFill/>
        </p:spPr>
        <p:txBody>
          <a:bodyPr wrap="square">
            <a:spAutoFit/>
          </a:bodyPr>
          <a:lstStyle/>
          <a:p>
            <a:r>
              <a:rPr lang="en-US" sz="2800" b="1" i="1" dirty="0">
                <a:effectLst/>
                <a:latin typeface="Calibri" panose="020F0502020204030204" pitchFamily="34" charset="0"/>
                <a:ea typeface="Arial" panose="020B0604020202020204" pitchFamily="34" charset="0"/>
              </a:rPr>
              <a:t>Q= VA</a:t>
            </a:r>
            <a:r>
              <a:rPr lang="en-US" sz="2800" b="1" i="1" dirty="0">
                <a:latin typeface="Calibri" panose="020F0502020204030204" pitchFamily="34" charset="0"/>
                <a:ea typeface="Arial" panose="020B0604020202020204" pitchFamily="34" charset="0"/>
              </a:rPr>
              <a:t>= V* depth*width</a:t>
            </a:r>
            <a:endParaRPr lang="en-US" sz="2800" dirty="0">
              <a:effectLst/>
              <a:latin typeface="Calibri" panose="020F0502020204030204" pitchFamily="34" charset="0"/>
              <a:ea typeface="Arial" panose="020B0604020202020204" pitchFamily="34" charset="0"/>
            </a:endParaRPr>
          </a:p>
          <a:p>
            <a:r>
              <a:rPr lang="en-US" sz="2800" i="1" dirty="0">
                <a:effectLst/>
                <a:latin typeface="Calibri" panose="020F0502020204030204" pitchFamily="34" charset="0"/>
                <a:ea typeface="Arial" panose="020B0604020202020204" pitchFamily="34" charset="0"/>
              </a:rPr>
              <a:t>Q</a:t>
            </a:r>
            <a:r>
              <a:rPr lang="en-US" sz="2800" dirty="0">
                <a:effectLst/>
                <a:latin typeface="Calibri" panose="020F0502020204030204" pitchFamily="34" charset="0"/>
                <a:ea typeface="Arial" panose="020B0604020202020204" pitchFamily="34" charset="0"/>
              </a:rPr>
              <a:t> is discharge, </a:t>
            </a:r>
          </a:p>
          <a:p>
            <a:r>
              <a:rPr lang="en-US" sz="2800" i="1" dirty="0">
                <a:effectLst/>
                <a:latin typeface="Calibri" panose="020F0502020204030204" pitchFamily="34" charset="0"/>
                <a:ea typeface="Arial" panose="020B0604020202020204" pitchFamily="34" charset="0"/>
              </a:rPr>
              <a:t>V</a:t>
            </a:r>
            <a:r>
              <a:rPr lang="en-US" sz="2800" dirty="0">
                <a:effectLst/>
                <a:latin typeface="Calibri" panose="020F0502020204030204" pitchFamily="34" charset="0"/>
                <a:ea typeface="Arial" panose="020B0604020202020204" pitchFamily="34" charset="0"/>
              </a:rPr>
              <a:t> is velocity, and </a:t>
            </a:r>
          </a:p>
          <a:p>
            <a:r>
              <a:rPr lang="en-US" sz="2800" i="1" dirty="0">
                <a:effectLst/>
                <a:latin typeface="Calibri" panose="020F0502020204030204" pitchFamily="34" charset="0"/>
                <a:ea typeface="Arial" panose="020B0604020202020204" pitchFamily="34" charset="0"/>
              </a:rPr>
              <a:t>A </a:t>
            </a:r>
            <a:r>
              <a:rPr lang="en-US" sz="2800" dirty="0">
                <a:effectLst/>
                <a:latin typeface="Calibri" panose="020F0502020204030204" pitchFamily="34" charset="0"/>
                <a:ea typeface="Arial" panose="020B0604020202020204" pitchFamily="34" charset="0"/>
              </a:rPr>
              <a:t>is cross-sectional area</a:t>
            </a:r>
            <a:endParaRPr lang="en-US" sz="2800" dirty="0"/>
          </a:p>
        </p:txBody>
      </p:sp>
    </p:spTree>
    <p:extLst>
      <p:ext uri="{BB962C8B-B14F-4D97-AF65-F5344CB8AC3E}">
        <p14:creationId xmlns:p14="http://schemas.microsoft.com/office/powerpoint/2010/main" val="3567905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39353-788C-7FF2-A634-1AB53A9F1622}"/>
              </a:ext>
            </a:extLst>
          </p:cNvPr>
          <p:cNvSpPr>
            <a:spLocks noGrp="1"/>
          </p:cNvSpPr>
          <p:nvPr>
            <p:ph type="title"/>
          </p:nvPr>
        </p:nvSpPr>
        <p:spPr/>
        <p:txBody>
          <a:bodyPr/>
          <a:lstStyle/>
          <a:p>
            <a:r>
              <a:rPr lang="en-US" dirty="0"/>
              <a:t>Question 5 &amp; 6</a:t>
            </a:r>
          </a:p>
        </p:txBody>
      </p:sp>
      <p:pic>
        <p:nvPicPr>
          <p:cNvPr id="3" name="Picture 2" descr="Question 11 schematic 2">
            <a:extLst>
              <a:ext uri="{FF2B5EF4-FFF2-40B4-BE49-F238E27FC236}">
                <a16:creationId xmlns:a16="http://schemas.microsoft.com/office/drawing/2014/main" id="{98B2AB37-317A-FEBD-95F6-F298A206CF6F}"/>
              </a:ext>
            </a:extLst>
          </p:cNvPr>
          <p:cNvPicPr>
            <a:picLocks noChangeAspect="1"/>
          </p:cNvPicPr>
          <p:nvPr/>
        </p:nvPicPr>
        <p:blipFill rotWithShape="1">
          <a:blip r:embed="rId3">
            <a:extLst>
              <a:ext uri="{28A0092B-C50C-407E-A947-70E740481C1C}">
                <a14:useLocalDpi xmlns:a14="http://schemas.microsoft.com/office/drawing/2010/main" val="0"/>
              </a:ext>
            </a:extLst>
          </a:blip>
          <a:srcRect l="-1" t="5209" r="1064"/>
          <a:stretch/>
        </p:blipFill>
        <p:spPr bwMode="auto">
          <a:xfrm rot="60000">
            <a:off x="845598" y="2317706"/>
            <a:ext cx="5051283" cy="2963970"/>
          </a:xfrm>
          <a:prstGeom prst="rect">
            <a:avLst/>
          </a:prstGeom>
          <a:noFill/>
          <a:ln>
            <a:noFill/>
          </a:ln>
          <a:extLst>
            <a:ext uri="{53640926-AAD7-44D8-BBD7-CCE9431645EC}">
              <a14:shadowObscured xmlns:a14="http://schemas.microsoft.com/office/drawing/2010/main"/>
            </a:ext>
          </a:extLst>
        </p:spPr>
      </p:pic>
      <p:pic>
        <p:nvPicPr>
          <p:cNvPr id="5" name="Picture 4" descr="A graph of a line graph&#10;&#10;Description automatically generated">
            <a:extLst>
              <a:ext uri="{FF2B5EF4-FFF2-40B4-BE49-F238E27FC236}">
                <a16:creationId xmlns:a16="http://schemas.microsoft.com/office/drawing/2014/main" id="{433D1C70-F296-34A3-8636-E776B61E4804}"/>
              </a:ext>
            </a:extLst>
          </p:cNvPr>
          <p:cNvPicPr>
            <a:picLocks noChangeAspect="1"/>
          </p:cNvPicPr>
          <p:nvPr/>
        </p:nvPicPr>
        <p:blipFill>
          <a:blip r:embed="rId4">
            <a:extLst>
              <a:ext uri="{28A0092B-C50C-407E-A947-70E740481C1C}">
                <a14:useLocalDpi xmlns:a14="http://schemas.microsoft.com/office/drawing/2010/main" val="0"/>
              </a:ext>
            </a:extLst>
          </a:blip>
          <a:srcRect t="5013"/>
          <a:stretch>
            <a:fillRect/>
          </a:stretch>
        </p:blipFill>
        <p:spPr bwMode="auto">
          <a:xfrm>
            <a:off x="7085646" y="2655252"/>
            <a:ext cx="4527182" cy="2893061"/>
          </a:xfrm>
          <a:prstGeom prst="rect">
            <a:avLst/>
          </a:prstGeom>
          <a:noFill/>
          <a:ln>
            <a:noFill/>
          </a:ln>
        </p:spPr>
      </p:pic>
    </p:spTree>
    <p:extLst>
      <p:ext uri="{BB962C8B-B14F-4D97-AF65-F5344CB8AC3E}">
        <p14:creationId xmlns:p14="http://schemas.microsoft.com/office/powerpoint/2010/main" val="3744907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39353-788C-7FF2-A634-1AB53A9F1622}"/>
              </a:ext>
            </a:extLst>
          </p:cNvPr>
          <p:cNvSpPr>
            <a:spLocks noGrp="1"/>
          </p:cNvSpPr>
          <p:nvPr>
            <p:ph type="title"/>
          </p:nvPr>
        </p:nvSpPr>
        <p:spPr/>
        <p:txBody>
          <a:bodyPr/>
          <a:lstStyle/>
          <a:p>
            <a:r>
              <a:rPr lang="en-US" dirty="0"/>
              <a:t>Question 7</a:t>
            </a:r>
          </a:p>
        </p:txBody>
      </p:sp>
      <p:pic>
        <p:nvPicPr>
          <p:cNvPr id="4" name="Picture 3" descr="A graph with a diagram and a graph&#10;&#10;Description automatically generated with medium confidence">
            <a:extLst>
              <a:ext uri="{FF2B5EF4-FFF2-40B4-BE49-F238E27FC236}">
                <a16:creationId xmlns:a16="http://schemas.microsoft.com/office/drawing/2014/main" id="{4F7E2507-5404-E43B-C5BA-407B380AB6F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32324" y="1837055"/>
            <a:ext cx="7002463" cy="4290710"/>
          </a:xfrm>
          <a:prstGeom prst="rect">
            <a:avLst/>
          </a:prstGeom>
          <a:noFill/>
          <a:ln>
            <a:noFill/>
          </a:ln>
        </p:spPr>
      </p:pic>
      <p:sp>
        <p:nvSpPr>
          <p:cNvPr id="7" name="TextBox 6">
            <a:extLst>
              <a:ext uri="{FF2B5EF4-FFF2-40B4-BE49-F238E27FC236}">
                <a16:creationId xmlns:a16="http://schemas.microsoft.com/office/drawing/2014/main" id="{4B63A8AC-1A8C-3E21-1799-00556516A04B}"/>
              </a:ext>
            </a:extLst>
          </p:cNvPr>
          <p:cNvSpPr txBox="1"/>
          <p:nvPr/>
        </p:nvSpPr>
        <p:spPr>
          <a:xfrm>
            <a:off x="481013" y="1136521"/>
            <a:ext cx="6096000" cy="1077218"/>
          </a:xfrm>
          <a:prstGeom prst="rect">
            <a:avLst/>
          </a:prstGeom>
          <a:noFill/>
        </p:spPr>
        <p:txBody>
          <a:bodyPr wrap="square">
            <a:spAutoFit/>
          </a:bodyPr>
          <a:lstStyle/>
          <a:p>
            <a:r>
              <a:rPr lang="en-US" sz="3200" b="1" i="1" dirty="0">
                <a:effectLst/>
                <a:latin typeface="Calibri" panose="020F0502020204030204" pitchFamily="34" charset="0"/>
                <a:ea typeface="Arial" panose="020B0604020202020204" pitchFamily="34" charset="0"/>
              </a:rPr>
              <a:t>Q = VA</a:t>
            </a:r>
          </a:p>
          <a:p>
            <a:r>
              <a:rPr lang="en-US" sz="3200" b="1" i="1" dirty="0">
                <a:latin typeface="Calibri" panose="020F0502020204030204" pitchFamily="34" charset="0"/>
                <a:ea typeface="Arial" panose="020B0604020202020204" pitchFamily="34" charset="0"/>
              </a:rPr>
              <a:t>    = V* depth*width</a:t>
            </a:r>
            <a:endParaRPr lang="en-US" sz="3200" dirty="0">
              <a:effectLst/>
              <a:latin typeface="Calibri" panose="020F0502020204030204" pitchFamily="34" charset="0"/>
              <a:ea typeface="Arial" panose="020B0604020202020204" pitchFamily="34" charset="0"/>
            </a:endParaRPr>
          </a:p>
        </p:txBody>
      </p:sp>
    </p:spTree>
    <p:extLst>
      <p:ext uri="{BB962C8B-B14F-4D97-AF65-F5344CB8AC3E}">
        <p14:creationId xmlns:p14="http://schemas.microsoft.com/office/powerpoint/2010/main" val="3072465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AA289-C6C5-8CC8-6140-5FF6778DF0C9}"/>
              </a:ext>
            </a:extLst>
          </p:cNvPr>
          <p:cNvSpPr>
            <a:spLocks noGrp="1"/>
          </p:cNvSpPr>
          <p:nvPr>
            <p:ph type="title"/>
          </p:nvPr>
        </p:nvSpPr>
        <p:spPr/>
        <p:txBody>
          <a:bodyPr/>
          <a:lstStyle/>
          <a:p>
            <a:r>
              <a:rPr lang="en-US" dirty="0"/>
              <a:t>Sinuosity</a:t>
            </a:r>
          </a:p>
        </p:txBody>
      </p:sp>
      <p:sp>
        <p:nvSpPr>
          <p:cNvPr id="3" name="Content Placeholder 2">
            <a:extLst>
              <a:ext uri="{FF2B5EF4-FFF2-40B4-BE49-F238E27FC236}">
                <a16:creationId xmlns:a16="http://schemas.microsoft.com/office/drawing/2014/main" id="{7E86F55A-3B0F-AE37-3BC9-F39237FDA68C}"/>
              </a:ext>
            </a:extLst>
          </p:cNvPr>
          <p:cNvSpPr>
            <a:spLocks noGrp="1"/>
          </p:cNvSpPr>
          <p:nvPr>
            <p:ph idx="1"/>
          </p:nvPr>
        </p:nvSpPr>
        <p:spPr>
          <a:xfrm>
            <a:off x="266699" y="880544"/>
            <a:ext cx="10515600" cy="5096911"/>
          </a:xfrm>
        </p:spPr>
        <p:txBody>
          <a:bodyPr/>
          <a:lstStyle/>
          <a:p>
            <a:pPr>
              <a:lnSpc>
                <a:spcPct val="200000"/>
              </a:lnSpc>
            </a:pPr>
            <a:r>
              <a:rPr lang="en-US" dirty="0"/>
              <a:t>Sinuosity= Length along the channel /valley length(straight line distance between the 2 points)</a:t>
            </a:r>
          </a:p>
          <a:p>
            <a:pPr>
              <a:lnSpc>
                <a:spcPct val="200000"/>
              </a:lnSpc>
            </a:pPr>
            <a:r>
              <a:rPr lang="en-US" dirty="0"/>
              <a:t>Inversely related to channel slope</a:t>
            </a:r>
          </a:p>
          <a:p>
            <a:pPr>
              <a:lnSpc>
                <a:spcPct val="200000"/>
              </a:lnSpc>
            </a:pPr>
            <a:r>
              <a:rPr lang="en-US" dirty="0"/>
              <a:t>Slope=elevation drop per unit distance</a:t>
            </a:r>
          </a:p>
        </p:txBody>
      </p:sp>
      <p:pic>
        <p:nvPicPr>
          <p:cNvPr id="5" name="Picture 4">
            <a:extLst>
              <a:ext uri="{FF2B5EF4-FFF2-40B4-BE49-F238E27FC236}">
                <a16:creationId xmlns:a16="http://schemas.microsoft.com/office/drawing/2014/main" id="{18227B2A-E694-D0E2-7626-D5CFDD517363}"/>
              </a:ext>
            </a:extLst>
          </p:cNvPr>
          <p:cNvPicPr>
            <a:picLocks noChangeAspect="1"/>
          </p:cNvPicPr>
          <p:nvPr/>
        </p:nvPicPr>
        <p:blipFill>
          <a:blip r:embed="rId3"/>
          <a:stretch>
            <a:fillRect/>
          </a:stretch>
        </p:blipFill>
        <p:spPr>
          <a:xfrm>
            <a:off x="6763661" y="2147131"/>
            <a:ext cx="5375952" cy="4319818"/>
          </a:xfrm>
          <a:prstGeom prst="rect">
            <a:avLst/>
          </a:prstGeom>
        </p:spPr>
      </p:pic>
    </p:spTree>
    <p:extLst>
      <p:ext uri="{BB962C8B-B14F-4D97-AF65-F5344CB8AC3E}">
        <p14:creationId xmlns:p14="http://schemas.microsoft.com/office/powerpoint/2010/main" val="1159933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332FC-C7FB-94B1-7632-17232BED56D5}"/>
              </a:ext>
            </a:extLst>
          </p:cNvPr>
          <p:cNvSpPr>
            <a:spLocks noGrp="1"/>
          </p:cNvSpPr>
          <p:nvPr>
            <p:ph type="title"/>
          </p:nvPr>
        </p:nvSpPr>
        <p:spPr/>
        <p:txBody>
          <a:bodyPr/>
          <a:lstStyle/>
          <a:p>
            <a:r>
              <a:rPr lang="en-US" dirty="0"/>
              <a:t>Question 8</a:t>
            </a:r>
          </a:p>
        </p:txBody>
      </p:sp>
      <p:pic>
        <p:nvPicPr>
          <p:cNvPr id="5" name="Picture 4">
            <a:extLst>
              <a:ext uri="{FF2B5EF4-FFF2-40B4-BE49-F238E27FC236}">
                <a16:creationId xmlns:a16="http://schemas.microsoft.com/office/drawing/2014/main" id="{0F5CDDB5-9DB6-F871-C5E8-1C3CFAEDE1D8}"/>
              </a:ext>
            </a:extLst>
          </p:cNvPr>
          <p:cNvPicPr>
            <a:picLocks noChangeAspect="1"/>
          </p:cNvPicPr>
          <p:nvPr/>
        </p:nvPicPr>
        <p:blipFill>
          <a:blip r:embed="rId3"/>
          <a:stretch>
            <a:fillRect/>
          </a:stretch>
        </p:blipFill>
        <p:spPr>
          <a:xfrm>
            <a:off x="1185373" y="1634415"/>
            <a:ext cx="10265081" cy="3914738"/>
          </a:xfrm>
          <a:prstGeom prst="rect">
            <a:avLst/>
          </a:prstGeom>
        </p:spPr>
      </p:pic>
    </p:spTree>
    <p:extLst>
      <p:ext uri="{BB962C8B-B14F-4D97-AF65-F5344CB8AC3E}">
        <p14:creationId xmlns:p14="http://schemas.microsoft.com/office/powerpoint/2010/main" val="1913522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4F185-B951-4850-B19F-CC43786FB2B8}"/>
              </a:ext>
            </a:extLst>
          </p:cNvPr>
          <p:cNvSpPr>
            <a:spLocks noGrp="1"/>
          </p:cNvSpPr>
          <p:nvPr>
            <p:ph type="title"/>
          </p:nvPr>
        </p:nvSpPr>
        <p:spPr/>
        <p:txBody>
          <a:bodyPr/>
          <a:lstStyle/>
          <a:p>
            <a:r>
              <a:rPr lang="en-US" dirty="0"/>
              <a:t>Meandering rivers</a:t>
            </a:r>
          </a:p>
        </p:txBody>
      </p:sp>
      <p:sp>
        <p:nvSpPr>
          <p:cNvPr id="4" name="Google Shape;158;p28">
            <a:extLst>
              <a:ext uri="{FF2B5EF4-FFF2-40B4-BE49-F238E27FC236}">
                <a16:creationId xmlns:a16="http://schemas.microsoft.com/office/drawing/2014/main" id="{E3E4A507-9921-4E99-8E02-190546D7F51D}"/>
              </a:ext>
            </a:extLst>
          </p:cNvPr>
          <p:cNvSpPr txBox="1">
            <a:spLocks/>
          </p:cNvSpPr>
          <p:nvPr/>
        </p:nvSpPr>
        <p:spPr>
          <a:xfrm>
            <a:off x="415600" y="1536633"/>
            <a:ext cx="11360800" cy="4555200"/>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a:p>
            <a:pPr marL="0" indent="0">
              <a:spcBef>
                <a:spcPts val="2133"/>
              </a:spcBef>
              <a:buFont typeface="Arial" panose="020B0604020202020204" pitchFamily="34" charset="0"/>
              <a:buNone/>
            </a:pPr>
            <a:endParaRPr lang="en-US" dirty="0"/>
          </a:p>
          <a:p>
            <a:pPr marL="0" indent="0">
              <a:spcBef>
                <a:spcPts val="2133"/>
              </a:spcBef>
              <a:buFont typeface="Arial" panose="020B0604020202020204" pitchFamily="34" charset="0"/>
              <a:buNone/>
            </a:pPr>
            <a:endParaRPr lang="en-US" dirty="0"/>
          </a:p>
          <a:p>
            <a:pPr marL="0" indent="0">
              <a:spcBef>
                <a:spcPts val="2133"/>
              </a:spcBef>
              <a:buFont typeface="Arial" panose="020B0604020202020204" pitchFamily="34" charset="0"/>
              <a:buNone/>
            </a:pPr>
            <a:endParaRPr lang="en-US" dirty="0"/>
          </a:p>
          <a:p>
            <a:pPr marL="0" indent="0">
              <a:spcBef>
                <a:spcPts val="2133"/>
              </a:spcBef>
              <a:buFont typeface="Arial" panose="020B0604020202020204" pitchFamily="34" charset="0"/>
              <a:buNone/>
            </a:pPr>
            <a:endParaRPr lang="en-US" dirty="0"/>
          </a:p>
          <a:p>
            <a:pPr marL="0" indent="0">
              <a:spcBef>
                <a:spcPts val="2133"/>
              </a:spcBef>
              <a:buFont typeface="Arial" panose="020B0604020202020204" pitchFamily="34" charset="0"/>
              <a:buNone/>
            </a:pPr>
            <a:endParaRPr lang="en-US" sz="1467" dirty="0"/>
          </a:p>
          <a:p>
            <a:pPr marL="0" indent="0" algn="r">
              <a:spcBef>
                <a:spcPts val="2133"/>
              </a:spcBef>
              <a:spcAft>
                <a:spcPts val="2133"/>
              </a:spcAft>
              <a:buFont typeface="Arial" panose="020B0604020202020204" pitchFamily="34" charset="0"/>
              <a:buNone/>
            </a:pPr>
            <a:r>
              <a:rPr lang="en-US" sz="1067" dirty="0">
                <a:hlinkClick r:id="rId3"/>
              </a:rPr>
              <a:t>https://laurasriverfeatures.weebly.com/meanders.html</a:t>
            </a:r>
            <a:endParaRPr lang="en-US" sz="1067" dirty="0"/>
          </a:p>
          <a:p>
            <a:pPr marL="0" indent="0" algn="r">
              <a:spcBef>
                <a:spcPts val="2133"/>
              </a:spcBef>
              <a:spcAft>
                <a:spcPts val="2133"/>
              </a:spcAft>
              <a:buFont typeface="Arial" panose="020B0604020202020204" pitchFamily="34" charset="0"/>
              <a:buNone/>
            </a:pPr>
            <a:endParaRPr lang="en-US" sz="1067" dirty="0"/>
          </a:p>
        </p:txBody>
      </p:sp>
      <p:pic>
        <p:nvPicPr>
          <p:cNvPr id="5" name="Google Shape;159;p28">
            <a:extLst>
              <a:ext uri="{FF2B5EF4-FFF2-40B4-BE49-F238E27FC236}">
                <a16:creationId xmlns:a16="http://schemas.microsoft.com/office/drawing/2014/main" id="{A613B5B3-AF4E-4331-88D7-C743E27AEF7D}"/>
              </a:ext>
            </a:extLst>
          </p:cNvPr>
          <p:cNvPicPr preferRelativeResize="0"/>
          <p:nvPr/>
        </p:nvPicPr>
        <p:blipFill>
          <a:blip r:embed="rId4">
            <a:alphaModFix/>
          </a:blip>
          <a:stretch>
            <a:fillRect/>
          </a:stretch>
        </p:blipFill>
        <p:spPr>
          <a:xfrm>
            <a:off x="1327134" y="1025237"/>
            <a:ext cx="9832783" cy="4436918"/>
          </a:xfrm>
          <a:prstGeom prst="rect">
            <a:avLst/>
          </a:prstGeom>
          <a:noFill/>
          <a:ln>
            <a:noFill/>
          </a:ln>
        </p:spPr>
      </p:pic>
    </p:spTree>
    <p:extLst>
      <p:ext uri="{BB962C8B-B14F-4D97-AF65-F5344CB8AC3E}">
        <p14:creationId xmlns:p14="http://schemas.microsoft.com/office/powerpoint/2010/main" val="888729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B8126-CDE8-4540-A7BA-B0C952C5FE91}"/>
              </a:ext>
            </a:extLst>
          </p:cNvPr>
          <p:cNvSpPr>
            <a:spLocks noGrp="1"/>
          </p:cNvSpPr>
          <p:nvPr>
            <p:ph type="title"/>
          </p:nvPr>
        </p:nvSpPr>
        <p:spPr/>
        <p:txBody>
          <a:bodyPr/>
          <a:lstStyle/>
          <a:p>
            <a:r>
              <a:rPr lang="en-US" dirty="0"/>
              <a:t>Straight rivers</a:t>
            </a:r>
          </a:p>
        </p:txBody>
      </p:sp>
      <p:sp>
        <p:nvSpPr>
          <p:cNvPr id="6" name="TextBox 5">
            <a:extLst>
              <a:ext uri="{FF2B5EF4-FFF2-40B4-BE49-F238E27FC236}">
                <a16:creationId xmlns:a16="http://schemas.microsoft.com/office/drawing/2014/main" id="{6A0E220C-AC2A-4117-B3F7-A97570E64D9E}"/>
              </a:ext>
            </a:extLst>
          </p:cNvPr>
          <p:cNvSpPr txBox="1"/>
          <p:nvPr/>
        </p:nvSpPr>
        <p:spPr>
          <a:xfrm>
            <a:off x="267855" y="2890982"/>
            <a:ext cx="2623127" cy="923330"/>
          </a:xfrm>
          <a:prstGeom prst="rect">
            <a:avLst/>
          </a:prstGeom>
          <a:noFill/>
        </p:spPr>
        <p:txBody>
          <a:bodyPr wrap="square" rtlCol="0">
            <a:spAutoFit/>
          </a:bodyPr>
          <a:lstStyle/>
          <a:p>
            <a:r>
              <a:rPr lang="en-US" dirty="0"/>
              <a:t>Rare, usually human modified for navigation, agriculture</a:t>
            </a:r>
          </a:p>
        </p:txBody>
      </p:sp>
      <p:pic>
        <p:nvPicPr>
          <p:cNvPr id="8" name="Picture 7" descr="A body of water&#10;&#10;Description automatically generated">
            <a:extLst>
              <a:ext uri="{FF2B5EF4-FFF2-40B4-BE49-F238E27FC236}">
                <a16:creationId xmlns:a16="http://schemas.microsoft.com/office/drawing/2014/main" id="{3C6616BC-BDB7-42A3-A612-C9454B15FB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0724" y="1034272"/>
            <a:ext cx="7802237" cy="4203892"/>
          </a:xfrm>
          <a:prstGeom prst="rect">
            <a:avLst/>
          </a:prstGeom>
        </p:spPr>
      </p:pic>
      <p:sp>
        <p:nvSpPr>
          <p:cNvPr id="9" name="TextBox 8">
            <a:extLst>
              <a:ext uri="{FF2B5EF4-FFF2-40B4-BE49-F238E27FC236}">
                <a16:creationId xmlns:a16="http://schemas.microsoft.com/office/drawing/2014/main" id="{4992E7F8-4820-47B7-B6D5-85111906E269}"/>
              </a:ext>
            </a:extLst>
          </p:cNvPr>
          <p:cNvSpPr txBox="1"/>
          <p:nvPr/>
        </p:nvSpPr>
        <p:spPr>
          <a:xfrm>
            <a:off x="4063686" y="5071909"/>
            <a:ext cx="5036315" cy="584775"/>
          </a:xfrm>
          <a:prstGeom prst="rect">
            <a:avLst/>
          </a:prstGeom>
          <a:noFill/>
        </p:spPr>
        <p:txBody>
          <a:bodyPr wrap="none" rtlCol="0">
            <a:spAutoFit/>
          </a:bodyPr>
          <a:lstStyle/>
          <a:p>
            <a:br>
              <a:rPr lang="en-US" sz="1600" dirty="0"/>
            </a:br>
            <a:r>
              <a:rPr lang="en-US" sz="1600" dirty="0"/>
              <a:t>A channelized section of the </a:t>
            </a:r>
            <a:r>
              <a:rPr lang="en-US" sz="1600" dirty="0">
                <a:hlinkClick r:id="rId4" tooltip="Floyd River"/>
              </a:rPr>
              <a:t>Floyd River</a:t>
            </a:r>
            <a:r>
              <a:rPr lang="en-US" sz="1600" dirty="0"/>
              <a:t> in </a:t>
            </a:r>
            <a:r>
              <a:rPr lang="en-US" sz="1600" dirty="0">
                <a:hlinkClick r:id="rId5" tooltip="Sioux City, Iowa"/>
              </a:rPr>
              <a:t>Sioux City, Iowa</a:t>
            </a:r>
            <a:endParaRPr lang="en-US" sz="1600" dirty="0"/>
          </a:p>
        </p:txBody>
      </p:sp>
    </p:spTree>
    <p:extLst>
      <p:ext uri="{BB962C8B-B14F-4D97-AF65-F5344CB8AC3E}">
        <p14:creationId xmlns:p14="http://schemas.microsoft.com/office/powerpoint/2010/main" val="9615223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4793</TotalTime>
  <Words>486</Words>
  <Application>Microsoft Office PowerPoint</Application>
  <PresentationFormat>Widescreen</PresentationFormat>
  <Paragraphs>46</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GGIS/ESE 103 </vt:lpstr>
      <vt:lpstr>Question 1</vt:lpstr>
      <vt:lpstr>Question 2 , 3 &amp; 4</vt:lpstr>
      <vt:lpstr>Question 5 &amp; 6</vt:lpstr>
      <vt:lpstr>Question 7</vt:lpstr>
      <vt:lpstr>Sinuosity</vt:lpstr>
      <vt:lpstr>Question 8</vt:lpstr>
      <vt:lpstr>Meandering rivers</vt:lpstr>
      <vt:lpstr>Straight rivers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GEOG/ESE 103</dc:title>
  <dc:creator>Shukla, Tanya</dc:creator>
  <cp:lastModifiedBy>Chyon, Sadiul</cp:lastModifiedBy>
  <cp:revision>36</cp:revision>
  <dcterms:created xsi:type="dcterms:W3CDTF">2020-02-11T16:49:14Z</dcterms:created>
  <dcterms:modified xsi:type="dcterms:W3CDTF">2026-03-26T17:14:36Z</dcterms:modified>
</cp:coreProperties>
</file>
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57" r:id="rId3"/>
    <p:sldId id="258" r:id="rId4"/>
    <p:sldId id="264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514A3-AC3E-46B8-B446-F04BEBCB7A28}" v="7" dt="2020-02-13T19:53:28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ya Shukla" userId="30ff5b12-a9bb-47de-bccf-0513f5004f2a" providerId="ADAL" clId="{584514A3-AC3E-46B8-B446-F04BEBCB7A28}"/>
    <pc:docChg chg="modSld">
      <pc:chgData name="Tanya Shukla" userId="30ff5b12-a9bb-47de-bccf-0513f5004f2a" providerId="ADAL" clId="{584514A3-AC3E-46B8-B446-F04BEBCB7A28}" dt="2020-02-13T19:53:28.237" v="3" actId="207"/>
      <pc:docMkLst>
        <pc:docMk/>
      </pc:docMkLst>
      <pc:sldChg chg="modSp">
        <pc:chgData name="Tanya Shukla" userId="30ff5b12-a9bb-47de-bccf-0513f5004f2a" providerId="ADAL" clId="{584514A3-AC3E-46B8-B446-F04BEBCB7A28}" dt="2020-02-13T19:53:28.237" v="3" actId="207"/>
        <pc:sldMkLst>
          <pc:docMk/>
          <pc:sldMk cId="3256142232" sldId="257"/>
        </pc:sldMkLst>
        <pc:spChg chg="mod">
          <ac:chgData name="Tanya Shukla" userId="30ff5b12-a9bb-47de-bccf-0513f5004f2a" providerId="ADAL" clId="{584514A3-AC3E-46B8-B446-F04BEBCB7A28}" dt="2020-02-13T19:53:28.237" v="3" actId="207"/>
          <ac:spMkLst>
            <pc:docMk/>
            <pc:sldMk cId="3256142232" sldId="257"/>
            <ac:spMk id="3" creationId="{328F96A4-23CC-4C02-867C-8889D87FC0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EA9A7-46B6-490B-9AFC-C262905BF9D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DFE7-796E-4333-8A04-C8CCD500A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8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437B-B13D-4E58-9FE3-B8DDF62BE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93FF6-21BC-435D-A633-3B36AEDAD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991B4-5288-4EFF-AECB-2EEB06D1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5080-03FD-4151-B261-735BA57E4057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12C8-8EAB-443A-BD04-76E6FAC6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457F-B1E9-4FD8-89B6-C8DE433B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8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0067-C12D-42E1-8D58-7404A5A5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35" y="358498"/>
            <a:ext cx="10515600" cy="509519"/>
          </a:xfrm>
        </p:spPr>
        <p:txBody>
          <a:bodyPr>
            <a:noAutofit/>
          </a:bodyPr>
          <a:lstStyle>
            <a:lvl1pPr>
              <a:defRPr sz="4000" i="0" u="sng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93866-A723-4D52-863F-793AE18AE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051"/>
            <a:ext cx="10515600" cy="5096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60BE9-CED0-47F0-AC50-60BAC275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ADE44-2FF6-4607-A781-9AD98775B0C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7784-5D0C-45B0-839D-045E2D40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92F8D-D05B-4A59-8C2D-4862F598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pPr/>
              <a:t>‹#›</a:t>
            </a:fld>
            <a:r>
              <a:rPr lang="en-US" dirty="0"/>
              <a:t> /7</a:t>
            </a:r>
          </a:p>
        </p:txBody>
      </p:sp>
    </p:spTree>
    <p:extLst>
      <p:ext uri="{BB962C8B-B14F-4D97-AF65-F5344CB8AC3E}">
        <p14:creationId xmlns:p14="http://schemas.microsoft.com/office/powerpoint/2010/main" val="135151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8386-3234-4DC5-B8EC-B6E43D1D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B705F-C637-4BC3-97D4-0F2B3459D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F430-2FDB-4D93-815A-CA473F2B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EDF1E-1EE7-466C-87FA-338AC82CF802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55CD3-58E0-405D-B6DC-9F2929B1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DC76-A9E2-48FF-870E-0BFEB21A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2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8E82-3CC2-4F8A-B354-C70CE4CA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6316-E9A0-4D14-8EEC-CB7F10CF5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5F1D8-1842-44B4-8148-2B33DD747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347B7-EFC3-4CD4-B7ED-1A14AA5B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310E-8B17-4858-B8BB-C640F7C740A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0D505-A4BC-419C-AF62-4DC7E012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75E90-2EC4-49F0-A25F-B363DABF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0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1BBC-2275-4A17-A3D4-841CE25A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615E5-9E58-4973-80CE-644FA712F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2A849-11B6-46DD-8A12-923804383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6FBE6-05C9-4F56-8597-54766906B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83CBE-EF43-48E1-9102-4F4891D7A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604A-D2C4-4E8E-880E-848514CD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AEED-0D61-4D35-BEED-4E785DE17A54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22FA80-0C19-44C3-A3B3-2097BCE80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5EC87-9565-4A80-B4E6-E667ADDFB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0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AFF0-02F2-4625-8A97-0C64744D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BAB7E-F488-4E68-86D0-232FADF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D840-7FA2-4EB4-9A55-B1BDAC6F8E0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E4177-CE87-4CFA-9EE2-B07317F6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79BC6-20A3-483D-8E8C-4CAD82EA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3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35330-160B-4DF2-B739-131A4123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A2E0A-1D86-43AE-97DB-F9385191870E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09161-1C48-41D8-B668-FF9C483C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978E6-923C-4066-B7E1-A0FE2F2D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1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ABA5-D092-45B6-92C5-97A35735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4D91-81AD-4759-9BE1-7D7B1E12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0E34B-90F4-455A-9DBC-75DBBF040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019B4-F5F5-437A-816D-4EE9D6F6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EE51-9BE4-4B02-AACA-6E045941D30C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03752-85D0-4AF3-B5EB-393004E9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31129-AAF1-41E1-9C3B-71720938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5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02BB-DC7D-4A41-A805-0A78F4A0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8924A-3951-44EF-A564-F802F5255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FE598-86A8-4B72-9C5F-C31A44DEB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61A60-5CF2-42A9-8BB9-D853B4DB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C0E2-42EA-4DF4-AF00-38FB7CE4F52C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4ADA0-C63F-4BEB-A1AA-9D2177CD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748A5-C517-4CEC-A968-C2DD9BA8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5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2D9A-9D5E-4759-964C-157BCD04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84A9D-03F2-4E69-8195-F1ACCFAA7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5CED1-233D-4037-BE84-E409F99C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E015-D59F-4D22-B683-3E732DF0FD5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DB96A-733B-466C-B241-6176A4EF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617D-290F-4412-86EF-AF436039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1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A0748-4A88-4DF7-8FED-D08A2C335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824F1-B6CB-40FC-B311-3BA7875E6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6D6B-E1E4-4D3D-A1F8-5C30B59B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D429-1403-43B2-99F6-66EB9C6E225E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DC57-CAD3-491E-8AF3-954AE172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18B98-A9D2-4B76-9DCF-DBBD6A9B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9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29E3D-7D0D-4891-B393-C03CA1AB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2D364-E51C-41C2-9661-B5C30F54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8398F-7231-4C30-BE10-94CB5AE3E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E234F-A5E2-40AF-9053-7322304C5979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69C74-52E8-4D5A-8387-8C3A45F48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F17A-9D60-479A-8D2E-025E19623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5BFCB-D1F5-4761-BC0A-6802F2AA5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2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tahr.hawaii.edu/mauisoil/a_profile.aspx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61A2-7EE4-40FB-946E-81F118845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GEOG/ESE 103 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FB5AE-087C-4F4F-A3B9-F40F33E87C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Lab 4 – Soils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0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1034-BB03-4695-BE1B-9365B2BE8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3" y="467587"/>
            <a:ext cx="10515600" cy="509519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96A4-23CC-4C02-867C-8889D87F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722"/>
            <a:ext cx="10515600" cy="4825240"/>
          </a:xfrm>
        </p:spPr>
        <p:txBody>
          <a:bodyPr/>
          <a:lstStyle/>
          <a:p>
            <a:pPr algn="just"/>
            <a:r>
              <a:rPr lang="en-US" dirty="0"/>
              <a:t>How to determine </a:t>
            </a:r>
            <a:r>
              <a:rPr lang="en-US" dirty="0">
                <a:solidFill>
                  <a:schemeClr val="accent4"/>
                </a:solidFill>
              </a:rPr>
              <a:t>soil texture </a:t>
            </a:r>
            <a:r>
              <a:rPr lang="en-US" dirty="0"/>
              <a:t>based on a </a:t>
            </a:r>
            <a:r>
              <a:rPr lang="en-US" dirty="0">
                <a:solidFill>
                  <a:schemeClr val="accent4"/>
                </a:solidFill>
              </a:rPr>
              <a:t>grain size ternary diagram</a:t>
            </a:r>
          </a:p>
          <a:p>
            <a:pPr algn="just"/>
            <a:r>
              <a:rPr lang="en-US" dirty="0"/>
              <a:t>What is a </a:t>
            </a:r>
            <a:r>
              <a:rPr lang="en-US" dirty="0">
                <a:solidFill>
                  <a:schemeClr val="accent4"/>
                </a:solidFill>
              </a:rPr>
              <a:t>soil profile</a:t>
            </a:r>
            <a:r>
              <a:rPr lang="en-US" dirty="0"/>
              <a:t>, and how do you </a:t>
            </a:r>
            <a:r>
              <a:rPr lang="en-US" dirty="0">
                <a:solidFill>
                  <a:schemeClr val="accent4"/>
                </a:solidFill>
              </a:rPr>
              <a:t>classify soils </a:t>
            </a:r>
            <a:r>
              <a:rPr lang="en-US" dirty="0"/>
              <a:t>based on their texture, climate and geographic location?</a:t>
            </a:r>
          </a:p>
        </p:txBody>
      </p:sp>
    </p:spTree>
    <p:extLst>
      <p:ext uri="{BB962C8B-B14F-4D97-AF65-F5344CB8AC3E}">
        <p14:creationId xmlns:p14="http://schemas.microsoft.com/office/powerpoint/2010/main" val="325614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4149C95-99C0-45D3-A5CB-114309090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443" y="1146313"/>
            <a:ext cx="5612557" cy="5437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0FCFA6-F428-4D91-AEFA-E7F62FA2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1B67-2F90-4868-8AB9-6977F0243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46313"/>
            <a:ext cx="6129170" cy="5030650"/>
          </a:xfrm>
        </p:spPr>
        <p:txBody>
          <a:bodyPr/>
          <a:lstStyle/>
          <a:p>
            <a:pPr algn="just"/>
            <a:r>
              <a:rPr lang="en-US" dirty="0"/>
              <a:t>Based on particle size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Soils rarely have single particle size; most are composite of different sized particles – soil texture is % weight of sand, silt and clay particles</a:t>
            </a:r>
          </a:p>
          <a:p>
            <a:pPr algn="just"/>
            <a:r>
              <a:rPr lang="en-US" dirty="0">
                <a:solidFill>
                  <a:schemeClr val="accent4"/>
                </a:solidFill>
              </a:rPr>
              <a:t>Textural triangle</a:t>
            </a:r>
          </a:p>
          <a:p>
            <a:pPr algn="just"/>
            <a:endParaRPr lang="en-US" dirty="0">
              <a:solidFill>
                <a:schemeClr val="accent4"/>
              </a:solidFill>
            </a:endParaRPr>
          </a:p>
          <a:p>
            <a:pPr algn="just"/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0D368F8-7674-4AC8-8072-5795E3906F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11"/>
          <a:stretch/>
        </p:blipFill>
        <p:spPr>
          <a:xfrm>
            <a:off x="4266029" y="303564"/>
            <a:ext cx="3987088" cy="1229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DAAD33-643A-4D65-B991-26973B20D991}"/>
              </a:ext>
            </a:extLst>
          </p:cNvPr>
          <p:cNvSpPr txBox="1"/>
          <p:nvPr/>
        </p:nvSpPr>
        <p:spPr>
          <a:xfrm>
            <a:off x="6211479" y="75577"/>
            <a:ext cx="2041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Adapted from Fan et al., 2019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F9BEF-78C3-4D93-8B7F-FEB057BA1B02}"/>
              </a:ext>
            </a:extLst>
          </p:cNvPr>
          <p:cNvSpPr txBox="1"/>
          <p:nvPr/>
        </p:nvSpPr>
        <p:spPr>
          <a:xfrm>
            <a:off x="8318501" y="6581001"/>
            <a:ext cx="1859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Groenendyk</a:t>
            </a:r>
            <a:r>
              <a:rPr lang="en-US" sz="1200" dirty="0"/>
              <a:t> et al., (2015)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216D51-6B34-2A0E-819C-A5A941DEB190}"/>
              </a:ext>
            </a:extLst>
          </p:cNvPr>
          <p:cNvCxnSpPr/>
          <p:nvPr/>
        </p:nvCxnSpPr>
        <p:spPr>
          <a:xfrm flipH="1" flipV="1">
            <a:off x="8458200" y="6105525"/>
            <a:ext cx="161925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542CCA-CC2A-460B-801A-35E65D81A34F}"/>
              </a:ext>
            </a:extLst>
          </p:cNvPr>
          <p:cNvCxnSpPr>
            <a:cxnSpLocks/>
          </p:cNvCxnSpPr>
          <p:nvPr/>
        </p:nvCxnSpPr>
        <p:spPr>
          <a:xfrm>
            <a:off x="7518821" y="2493393"/>
            <a:ext cx="253579" cy="2318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05C183-65F1-1DE2-ABFB-E6FA65D9C0D4}"/>
              </a:ext>
            </a:extLst>
          </p:cNvPr>
          <p:cNvCxnSpPr>
            <a:cxnSpLocks/>
          </p:cNvCxnSpPr>
          <p:nvPr/>
        </p:nvCxnSpPr>
        <p:spPr>
          <a:xfrm flipH="1">
            <a:off x="11391088" y="3719795"/>
            <a:ext cx="194665" cy="288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77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61ED-C634-4709-B084-EB073C51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2194-E21E-4152-B4D3-6C207E77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0051"/>
            <a:ext cx="11019817" cy="5765815"/>
          </a:xfrm>
        </p:spPr>
        <p:txBody>
          <a:bodyPr>
            <a:normAutofit/>
          </a:bodyPr>
          <a:lstStyle/>
          <a:p>
            <a:r>
              <a:rPr lang="en-US" dirty="0"/>
              <a:t> sequence of </a:t>
            </a:r>
            <a:r>
              <a:rPr lang="en-US" dirty="0">
                <a:solidFill>
                  <a:schemeClr val="accent4"/>
                </a:solidFill>
              </a:rPr>
              <a:t>horizons</a:t>
            </a:r>
            <a:r>
              <a:rPr lang="en-US" dirty="0"/>
              <a:t> – nearly horizontal layers of soils with different color, texture and composition</a:t>
            </a:r>
          </a:p>
          <a:p>
            <a:pPr lvl="1"/>
            <a:r>
              <a:rPr lang="en-US" dirty="0"/>
              <a:t>~1-2m from surface; related to </a:t>
            </a:r>
            <a:r>
              <a:rPr lang="en-US" dirty="0">
                <a:solidFill>
                  <a:schemeClr val="accent4"/>
                </a:solidFill>
              </a:rPr>
              <a:t>water availability </a:t>
            </a:r>
            <a:r>
              <a:rPr lang="en-US" dirty="0"/>
              <a:t>– hence reflects regional climate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891BB2F1-A9E0-4BC9-B5E5-B49BAFA4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290" y="2330348"/>
            <a:ext cx="2835420" cy="4169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89A5E8-3BCF-4AD1-A8D4-FBB397742CE4}"/>
              </a:ext>
            </a:extLst>
          </p:cNvPr>
          <p:cNvSpPr txBox="1"/>
          <p:nvPr/>
        </p:nvSpPr>
        <p:spPr>
          <a:xfrm>
            <a:off x="4580200" y="6599645"/>
            <a:ext cx="3031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3"/>
              </a:rPr>
              <a:t>https://www.ctahr.hawaii.edu/mauisoil/a_profile.aspx</a:t>
            </a:r>
            <a:endParaRPr lang="en-US" sz="1000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57F16F6-38BA-41BC-A253-1861EA81B536}"/>
              </a:ext>
            </a:extLst>
          </p:cNvPr>
          <p:cNvSpPr/>
          <p:nvPr/>
        </p:nvSpPr>
        <p:spPr>
          <a:xfrm>
            <a:off x="4326717" y="2840110"/>
            <a:ext cx="175491" cy="6834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5ECA9-FD9B-4F0E-910D-B7AAE4349329}"/>
              </a:ext>
            </a:extLst>
          </p:cNvPr>
          <p:cNvSpPr txBox="1"/>
          <p:nvPr/>
        </p:nvSpPr>
        <p:spPr>
          <a:xfrm>
            <a:off x="3358418" y="2886058"/>
            <a:ext cx="836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Topsoil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68054-40D8-4E58-9724-D37C24A35503}"/>
              </a:ext>
            </a:extLst>
          </p:cNvPr>
          <p:cNvSpPr txBox="1"/>
          <p:nvPr/>
        </p:nvSpPr>
        <p:spPr>
          <a:xfrm>
            <a:off x="2527254" y="5367390"/>
            <a:ext cx="1683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material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BE370DB-3AB1-4354-8464-4378CC7092E3}"/>
              </a:ext>
            </a:extLst>
          </p:cNvPr>
          <p:cNvSpPr/>
          <p:nvPr/>
        </p:nvSpPr>
        <p:spPr>
          <a:xfrm>
            <a:off x="4307590" y="4605066"/>
            <a:ext cx="272610" cy="16720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F7BBB-9EC3-471F-9B23-EF9D6471EDBF}"/>
              </a:ext>
            </a:extLst>
          </p:cNvPr>
          <p:cNvSpPr txBox="1"/>
          <p:nvPr/>
        </p:nvSpPr>
        <p:spPr>
          <a:xfrm>
            <a:off x="3144449" y="4091759"/>
            <a:ext cx="1104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Zone of </a:t>
            </a:r>
          </a:p>
          <a:p>
            <a:r>
              <a:rPr lang="en-US" dirty="0"/>
              <a:t>illuviation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5C7F89-6D31-419E-9972-75010EDA1BCE}"/>
              </a:ext>
            </a:extLst>
          </p:cNvPr>
          <p:cNvCxnSpPr>
            <a:cxnSpLocks/>
          </p:cNvCxnSpPr>
          <p:nvPr/>
        </p:nvCxnSpPr>
        <p:spPr>
          <a:xfrm flipV="1">
            <a:off x="4248726" y="4341649"/>
            <a:ext cx="1331896" cy="21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7ACBDF-FABC-46D3-8E9B-3C5532F5F96B}"/>
              </a:ext>
            </a:extLst>
          </p:cNvPr>
          <p:cNvSpPr txBox="1"/>
          <p:nvPr/>
        </p:nvSpPr>
        <p:spPr>
          <a:xfrm>
            <a:off x="3144449" y="3412470"/>
            <a:ext cx="1104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Zone of </a:t>
            </a:r>
          </a:p>
          <a:p>
            <a:r>
              <a:rPr lang="en-US" dirty="0"/>
              <a:t>eluviation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1A7759-C870-4CBE-AE6A-FA5249352F4B}"/>
              </a:ext>
            </a:extLst>
          </p:cNvPr>
          <p:cNvCxnSpPr>
            <a:cxnSpLocks/>
          </p:cNvCxnSpPr>
          <p:nvPr/>
        </p:nvCxnSpPr>
        <p:spPr>
          <a:xfrm>
            <a:off x="4284903" y="3852367"/>
            <a:ext cx="12957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75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7A53-122B-4EEA-BDE4-15737548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question 1, this is what your AOI should look like</a:t>
            </a: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19ED056C-394F-43DB-9692-38B29DFFA48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199861" y="1219200"/>
            <a:ext cx="8647044" cy="55718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97506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2903</TotalTime>
  <Words>164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GEOG/ESE 103 </vt:lpstr>
      <vt:lpstr>Lecture goals</vt:lpstr>
      <vt:lpstr>Soil texture</vt:lpstr>
      <vt:lpstr>Soil profile</vt:lpstr>
      <vt:lpstr>For question 1, this is what your AOI should look like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GEOG/ESE 103 </dc:title>
  <dc:creator>Shukla, Tanya</dc:creator>
  <cp:lastModifiedBy>Chyon, Sadiul</cp:lastModifiedBy>
  <cp:revision>21</cp:revision>
  <dcterms:created xsi:type="dcterms:W3CDTF">2020-02-11T16:49:14Z</dcterms:created>
  <dcterms:modified xsi:type="dcterms:W3CDTF">2026-02-26T19:16:01Z</dcterms:modified>
</cp:coreProperties>
</file>
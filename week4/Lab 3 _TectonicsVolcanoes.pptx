
<file path=[Content_Types].xml><?xml version="1.0" encoding="utf-8"?>
<Types xmlns="http://schemas.openxmlformats.org/package/2006/content-types">
  <Default Extension="crdownload" ContentType="image/png"/>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media/image13.jpg" ContentType="image/jpeg"/>
  <Override PartName="/ppt/notesSlides/notesSlide16.xml" ContentType="application/vnd.openxmlformats-officedocument.presentationml.notesSlide+xml"/>
  <Override PartName="/ppt/notesSlides/notesSlide17.xml" ContentType="application/vnd.openxmlformats-officedocument.presentationml.notesSlide+xml"/>
  <Override PartName="/ppt/media/image15.jpg" ContentType="image/jpeg"/>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media/image18.jpg" ContentType="image/jpeg"/>
  <Override PartName="/ppt/notesSlides/notesSlide22.xml" ContentType="application/vnd.openxmlformats-officedocument.presentationml.notesSlide+xml"/>
  <Override PartName="/ppt/media/image19.jpg" ContentType="image/jpeg"/>
  <Override PartName="/ppt/notesSlides/notesSlide23.xml" ContentType="application/vnd.openxmlformats-officedocument.presentationml.notesSlide+xml"/>
  <Override PartName="/ppt/notesSlides/notesSlide24.xml" ContentType="application/vnd.openxmlformats-officedocument.presentationml.notesSlide+xml"/>
  <Override PartName="/ppt/media/image21.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64" r:id="rId3"/>
    <p:sldId id="297" r:id="rId4"/>
    <p:sldId id="309" r:id="rId5"/>
    <p:sldId id="304" r:id="rId6"/>
    <p:sldId id="329" r:id="rId7"/>
    <p:sldId id="302" r:id="rId8"/>
    <p:sldId id="300" r:id="rId9"/>
    <p:sldId id="306" r:id="rId10"/>
    <p:sldId id="301" r:id="rId11"/>
    <p:sldId id="308" r:id="rId12"/>
    <p:sldId id="299" r:id="rId13"/>
    <p:sldId id="305" r:id="rId14"/>
    <p:sldId id="324" r:id="rId15"/>
    <p:sldId id="322" r:id="rId16"/>
    <p:sldId id="331" r:id="rId17"/>
    <p:sldId id="332" r:id="rId18"/>
    <p:sldId id="333" r:id="rId19"/>
    <p:sldId id="334" r:id="rId20"/>
    <p:sldId id="316" r:id="rId21"/>
    <p:sldId id="328" r:id="rId22"/>
    <p:sldId id="317" r:id="rId23"/>
    <p:sldId id="336" r:id="rId24"/>
    <p:sldId id="318" r:id="rId25"/>
    <p:sldId id="337" r:id="rId2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695" autoAdjust="0"/>
  </p:normalViewPr>
  <p:slideViewPr>
    <p:cSldViewPr>
      <p:cViewPr varScale="1">
        <p:scale>
          <a:sx n="80" d="100"/>
          <a:sy n="80" d="100"/>
        </p:scale>
        <p:origin x="1907" y="27"/>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9403165-5B06-46DF-A6CC-6E41553231C4}" type="datetimeFigureOut">
              <a:rPr lang="en-US" smtClean="0"/>
              <a:t>9/19/2024</a:t>
            </a:fld>
            <a:endParaRPr lang="en-US"/>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D2F102B6-B1AB-4588-994D-CDDCBF6A36BA}" type="slidenum">
              <a:rPr lang="en-US" smtClean="0"/>
              <a:t>‹#›</a:t>
            </a:fld>
            <a:endParaRPr lang="en-US"/>
          </a:p>
        </p:txBody>
      </p:sp>
    </p:spTree>
    <p:extLst>
      <p:ext uri="{BB962C8B-B14F-4D97-AF65-F5344CB8AC3E}">
        <p14:creationId xmlns:p14="http://schemas.microsoft.com/office/powerpoint/2010/main" val="3470082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commons.wikimedia.org/wiki/File:Capulin_1980_tde00005.jpg"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flic.kr/p/c8mAwY"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flic.kr/p/kGjpq3"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b="1" i="1" dirty="0">
              <a:solidFill>
                <a:srgbClr val="000000"/>
              </a:solidFill>
              <a:effectLst/>
              <a:latin typeface="Helvetica Neue"/>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a:t>
            </a:fld>
            <a:endParaRPr lang="en-US"/>
          </a:p>
        </p:txBody>
      </p:sp>
    </p:spTree>
    <p:extLst>
      <p:ext uri="{BB962C8B-B14F-4D97-AF65-F5344CB8AC3E}">
        <p14:creationId xmlns:p14="http://schemas.microsoft.com/office/powerpoint/2010/main" val="3064451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2F102B6-B1AB-4588-994D-CDDCBF6A36BA}" type="slidenum">
              <a:rPr lang="en-US" smtClean="0"/>
              <a:t>2</a:t>
            </a:fld>
            <a:endParaRPr lang="en-US"/>
          </a:p>
        </p:txBody>
      </p:sp>
    </p:spTree>
    <p:extLst>
      <p:ext uri="{BB962C8B-B14F-4D97-AF65-F5344CB8AC3E}">
        <p14:creationId xmlns:p14="http://schemas.microsoft.com/office/powerpoint/2010/main" val="1858419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Litosphere</a:t>
            </a:r>
            <a:r>
              <a:rPr lang="en-US" dirty="0"/>
              <a:t> is divided into tectonic plates. It covers upper 200km. It’s rigid.</a:t>
            </a:r>
          </a:p>
          <a:p>
            <a:r>
              <a:rPr lang="en-US" dirty="0" err="1"/>
              <a:t>Astenosphere</a:t>
            </a:r>
            <a:r>
              <a:rPr lang="en-US" dirty="0"/>
              <a:t>: 200 km to 700km, upper mantle, high temperature, high pressure. Little strength, ductile, plastic. NOT A LIQUID. Plates moves above this. Magma generation.</a:t>
            </a:r>
          </a:p>
        </p:txBody>
      </p:sp>
      <p:sp>
        <p:nvSpPr>
          <p:cNvPr id="4" name="Slide Number Placeholder 3"/>
          <p:cNvSpPr>
            <a:spLocks noGrp="1"/>
          </p:cNvSpPr>
          <p:nvPr>
            <p:ph type="sldNum" sz="quarter" idx="5"/>
          </p:nvPr>
        </p:nvSpPr>
        <p:spPr/>
        <p:txBody>
          <a:bodyPr/>
          <a:lstStyle/>
          <a:p>
            <a:fld id="{D2F102B6-B1AB-4588-994D-CDDCBF6A36BA}" type="slidenum">
              <a:rPr lang="en-US" smtClean="0"/>
              <a:t>3</a:t>
            </a:fld>
            <a:endParaRPr lang="en-US"/>
          </a:p>
        </p:txBody>
      </p:sp>
    </p:spTree>
    <p:extLst>
      <p:ext uri="{BB962C8B-B14F-4D97-AF65-F5344CB8AC3E}">
        <p14:creationId xmlns:p14="http://schemas.microsoft.com/office/powerpoint/2010/main" val="3581004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4</a:t>
            </a:fld>
            <a:endParaRPr lang="en-US"/>
          </a:p>
        </p:txBody>
      </p:sp>
    </p:spTree>
    <p:extLst>
      <p:ext uri="{BB962C8B-B14F-4D97-AF65-F5344CB8AC3E}">
        <p14:creationId xmlns:p14="http://schemas.microsoft.com/office/powerpoint/2010/main" val="1931155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3525B"/>
                </a:solidFill>
                <a:effectLst/>
                <a:latin typeface="Open Sans"/>
              </a:rPr>
              <a:t>What kind of plate boundary does this diagram show?</a:t>
            </a:r>
          </a:p>
          <a:p>
            <a:r>
              <a:rPr lang="en-US" b="0" i="0" dirty="0">
                <a:solidFill>
                  <a:srgbClr val="43525B"/>
                </a:solidFill>
                <a:effectLst/>
                <a:latin typeface="Open Sans"/>
              </a:rPr>
              <a:t>One crust is thrust under the other one, usually the denser one</a:t>
            </a:r>
          </a:p>
        </p:txBody>
      </p:sp>
      <p:sp>
        <p:nvSpPr>
          <p:cNvPr id="4" name="Slide Number Placeholder 3"/>
          <p:cNvSpPr>
            <a:spLocks noGrp="1"/>
          </p:cNvSpPr>
          <p:nvPr>
            <p:ph type="sldNum" sz="quarter" idx="5"/>
          </p:nvPr>
        </p:nvSpPr>
        <p:spPr/>
        <p:txBody>
          <a:bodyPr/>
          <a:lstStyle/>
          <a:p>
            <a:fld id="{D2F102B6-B1AB-4588-994D-CDDCBF6A36BA}" type="slidenum">
              <a:rPr lang="en-US" smtClean="0"/>
              <a:t>5</a:t>
            </a:fld>
            <a:endParaRPr lang="en-US"/>
          </a:p>
        </p:txBody>
      </p:sp>
    </p:spTree>
    <p:extLst>
      <p:ext uri="{BB962C8B-B14F-4D97-AF65-F5344CB8AC3E}">
        <p14:creationId xmlns:p14="http://schemas.microsoft.com/office/powerpoint/2010/main" val="19004751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3525B"/>
                </a:solidFill>
                <a:effectLst/>
                <a:latin typeface="Open Sans"/>
              </a:rPr>
              <a:t>Why volcanoes occur at subduction zone? Oceanic plate will have water within it and that water </a:t>
            </a:r>
            <a:r>
              <a:rPr lang="en-US" b="1" i="0" dirty="0">
                <a:solidFill>
                  <a:srgbClr val="43525B"/>
                </a:solidFill>
                <a:effectLst/>
                <a:latin typeface="Open Sans"/>
              </a:rPr>
              <a:t>will release and help melt the rock and produce magma. And eventually that </a:t>
            </a:r>
            <a:r>
              <a:rPr lang="en-US" b="1" i="0" dirty="0" err="1">
                <a:solidFill>
                  <a:srgbClr val="43525B"/>
                </a:solidFill>
                <a:effectLst/>
                <a:latin typeface="Open Sans"/>
              </a:rPr>
              <a:t>boyant</a:t>
            </a:r>
            <a:r>
              <a:rPr lang="en-US" b="1" i="0" dirty="0">
                <a:solidFill>
                  <a:srgbClr val="43525B"/>
                </a:solidFill>
                <a:effectLst/>
                <a:latin typeface="Open Sans"/>
              </a:rPr>
              <a:t> magma will rise up and form volcanoes.</a:t>
            </a:r>
          </a:p>
        </p:txBody>
      </p:sp>
      <p:sp>
        <p:nvSpPr>
          <p:cNvPr id="4" name="Slide Number Placeholder 3"/>
          <p:cNvSpPr>
            <a:spLocks noGrp="1"/>
          </p:cNvSpPr>
          <p:nvPr>
            <p:ph type="sldNum" sz="quarter" idx="5"/>
          </p:nvPr>
        </p:nvSpPr>
        <p:spPr/>
        <p:txBody>
          <a:bodyPr/>
          <a:lstStyle/>
          <a:p>
            <a:fld id="{D2F102B6-B1AB-4588-994D-CDDCBF6A36BA}" type="slidenum">
              <a:rPr lang="en-US" smtClean="0"/>
              <a:t>6</a:t>
            </a:fld>
            <a:endParaRPr lang="en-US"/>
          </a:p>
        </p:txBody>
      </p:sp>
    </p:spTree>
    <p:extLst>
      <p:ext uri="{BB962C8B-B14F-4D97-AF65-F5344CB8AC3E}">
        <p14:creationId xmlns:p14="http://schemas.microsoft.com/office/powerpoint/2010/main" val="284639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21212"/>
                </a:solidFill>
                <a:effectLst/>
                <a:latin typeface="GeographEditWeb"/>
              </a:rPr>
              <a:t>**is a path along the Pacific Ocean characterized by active volcanoes. The majority of Earth’s volcanoes take place along the Ring of Fire. </a:t>
            </a:r>
          </a:p>
          <a:p>
            <a:r>
              <a:rPr lang="en-US" b="0" i="0" dirty="0">
                <a:solidFill>
                  <a:srgbClr val="121212"/>
                </a:solidFill>
                <a:effectLst/>
                <a:latin typeface="GeographEditWeb"/>
              </a:rPr>
              <a:t>*</a:t>
            </a:r>
            <a:r>
              <a:rPr lang="en-US" b="0" i="0" dirty="0">
                <a:solidFill>
                  <a:srgbClr val="000000"/>
                </a:solidFill>
                <a:effectLst/>
                <a:latin typeface="Merriweather"/>
              </a:rPr>
              <a:t>Basically, volcanoes only form where there’s a way for the magma to migrate towards the surface – such as a plate discontinuity or an area where the crust is very thin. There are also so-called “hotspots” – areas where the </a:t>
            </a:r>
            <a:r>
              <a:rPr lang="en-US" b="1" i="0" dirty="0">
                <a:solidFill>
                  <a:srgbClr val="000000"/>
                </a:solidFill>
                <a:effectLst/>
                <a:latin typeface="Merriweather"/>
              </a:rPr>
              <a:t>underlying mantle </a:t>
            </a:r>
            <a:r>
              <a:rPr lang="en-US" b="0" i="0" dirty="0">
                <a:solidFill>
                  <a:srgbClr val="000000"/>
                </a:solidFill>
                <a:effectLst/>
                <a:latin typeface="Merriweather"/>
              </a:rPr>
              <a:t>is much hotter than in other areas, heat from </a:t>
            </a:r>
            <a:r>
              <a:rPr lang="en-US" b="1" i="0" dirty="0">
                <a:solidFill>
                  <a:srgbClr val="000000"/>
                </a:solidFill>
                <a:effectLst/>
                <a:latin typeface="Merriweather"/>
              </a:rPr>
              <a:t>this extra hot magma causes thinning of the crust </a:t>
            </a:r>
            <a:r>
              <a:rPr lang="en-US" b="0" i="0" dirty="0">
                <a:solidFill>
                  <a:srgbClr val="000000"/>
                </a:solidFill>
                <a:effectLst/>
                <a:latin typeface="Merriweather"/>
              </a:rPr>
              <a:t>and eventually it breaks and magma rises up and creates the </a:t>
            </a:r>
            <a:r>
              <a:rPr lang="en-US" b="0" i="0" dirty="0" err="1">
                <a:solidFill>
                  <a:srgbClr val="000000"/>
                </a:solidFill>
                <a:effectLst/>
                <a:latin typeface="Merriweather"/>
              </a:rPr>
              <a:t>volcano.either</a:t>
            </a:r>
            <a:r>
              <a:rPr lang="en-US" b="0" i="0" dirty="0">
                <a:solidFill>
                  <a:srgbClr val="000000"/>
                </a:solidFill>
                <a:effectLst/>
                <a:latin typeface="Merriweather"/>
              </a:rPr>
              <a:t> due to mantle plumes or lithospheric extension (it’s not clear yet which of the two theories is correct). Examples of hotspots include Hawaii and the Portuguese island of Madeira, but for the most part, volcanoes lie at the edge of tectonic plates.*</a:t>
            </a:r>
            <a:r>
              <a:rPr lang="en-US" b="1" i="0" dirty="0">
                <a:solidFill>
                  <a:srgbClr val="000000"/>
                </a:solidFill>
                <a:effectLst/>
                <a:latin typeface="Merriweather"/>
              </a:rPr>
              <a:t>question-not</a:t>
            </a:r>
            <a:r>
              <a:rPr lang="en-US" b="0" i="0" dirty="0">
                <a:solidFill>
                  <a:srgbClr val="000000"/>
                </a:solidFill>
                <a:effectLst/>
                <a:latin typeface="Merriweather"/>
              </a:rPr>
              <a:t> uniform: ring of fire, boundary of 2 plates </a:t>
            </a:r>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7</a:t>
            </a:fld>
            <a:endParaRPr lang="en-US"/>
          </a:p>
        </p:txBody>
      </p:sp>
    </p:spTree>
    <p:extLst>
      <p:ext uri="{BB962C8B-B14F-4D97-AF65-F5344CB8AC3E}">
        <p14:creationId xmlns:p14="http://schemas.microsoft.com/office/powerpoint/2010/main" val="18865577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have straight sides and are typically less than 200 m high. Most are made up of fragments of scoria (vesicular rock from basaltic lava) that were expelled from the volcano as gas-rich magma erupted. Because cinder cones are made up almost exclusively of loose fragments, </a:t>
            </a:r>
            <a:r>
              <a:rPr lang="en-US" b="1" i="0" dirty="0">
                <a:solidFill>
                  <a:srgbClr val="000000"/>
                </a:solidFill>
                <a:effectLst/>
                <a:latin typeface="Times New Roman" panose="02020603050405020304" pitchFamily="18" charset="0"/>
              </a:rPr>
              <a:t>they have very little strength. They can be eroded away easily, and relatively quickly</a:t>
            </a:r>
            <a:r>
              <a:rPr lang="en-US" b="0" i="0" dirty="0">
                <a:solidFill>
                  <a:srgbClr val="000000"/>
                </a:solidFill>
                <a:effectLst/>
                <a:latin typeface="Times New Roman" panose="02020603050405020304" pitchFamily="18" charset="0"/>
              </a:rPr>
              <a:t>.</a:t>
            </a:r>
            <a:endParaRPr lang="en-US" dirty="0"/>
          </a:p>
        </p:txBody>
      </p:sp>
      <p:sp>
        <p:nvSpPr>
          <p:cNvPr id="4" name="Slide Number Placeholder 3"/>
          <p:cNvSpPr>
            <a:spLocks noGrp="1"/>
          </p:cNvSpPr>
          <p:nvPr>
            <p:ph type="sldNum" sz="quarter" idx="5"/>
          </p:nvPr>
        </p:nvSpPr>
        <p:spPr/>
        <p:txBody>
          <a:bodyPr/>
          <a:lstStyle/>
          <a:p>
            <a:fld id="{D2F102B6-B1AB-4588-994D-CDDCBF6A36BA}" type="slidenum">
              <a:rPr lang="en-US" smtClean="0"/>
              <a:t>8</a:t>
            </a:fld>
            <a:endParaRPr lang="en-US"/>
          </a:p>
        </p:txBody>
      </p:sp>
    </p:spTree>
    <p:extLst>
      <p:ext uri="{BB962C8B-B14F-4D97-AF65-F5344CB8AC3E}">
        <p14:creationId xmlns:p14="http://schemas.microsoft.com/office/powerpoint/2010/main" val="1958509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dirty="0">
                <a:solidFill>
                  <a:srgbClr val="000000"/>
                </a:solidFill>
                <a:effectLst/>
                <a:latin typeface="Times New Roman" panose="02020603050405020304" pitchFamily="18" charset="0"/>
              </a:rPr>
              <a:t> Cinder cone. These small, straight-sided volcanoes are made of volcanic fragments ejected when gas-rich basaltic lava erupts. Sources: Karla </a:t>
            </a:r>
            <a:r>
              <a:rPr lang="en-US" b="0" i="1" dirty="0" err="1">
                <a:solidFill>
                  <a:srgbClr val="000000"/>
                </a:solidFill>
                <a:effectLst/>
                <a:latin typeface="Times New Roman" panose="02020603050405020304" pitchFamily="18" charset="0"/>
              </a:rPr>
              <a:t>Panchuk</a:t>
            </a:r>
            <a:r>
              <a:rPr lang="en-US" b="0" i="1" dirty="0">
                <a:solidFill>
                  <a:srgbClr val="000000"/>
                </a:solidFill>
                <a:effectLst/>
                <a:latin typeface="Times New Roman" panose="02020603050405020304" pitchFamily="18" charset="0"/>
              </a:rPr>
              <a:t> (2017) CC BY 4.0, with photograph by R. D. Miller, U. S. Geological Survey (1980) Public Domain </a:t>
            </a:r>
            <a:r>
              <a:rPr lang="en-US" b="0" i="1" u="sng" dirty="0">
                <a:solidFill>
                  <a:srgbClr val="000000"/>
                </a:solidFill>
                <a:effectLst/>
                <a:latin typeface="Times New Roman" panose="02020603050405020304" pitchFamily="18" charset="0"/>
                <a:hlinkClick r:id="rId3"/>
              </a:rPr>
              <a:t>view source</a:t>
            </a:r>
            <a:r>
              <a:rPr lang="en-US" b="0" i="1" dirty="0">
                <a:solidFill>
                  <a:srgbClr val="000000"/>
                </a:solidFill>
                <a:effectLst/>
                <a:latin typeface="Times New Roman" panose="02020603050405020304" pitchFamily="18" charset="0"/>
              </a:rPr>
              <a:t>. Click the image for more attributions.</a:t>
            </a:r>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9</a:t>
            </a:fld>
            <a:endParaRPr lang="en-US"/>
          </a:p>
        </p:txBody>
      </p:sp>
    </p:spTree>
    <p:extLst>
      <p:ext uri="{BB962C8B-B14F-4D97-AF65-F5344CB8AC3E}">
        <p14:creationId xmlns:p14="http://schemas.microsoft.com/office/powerpoint/2010/main" val="35354793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Shield volcanoes, like the Sierra Negra volcano in the Galápagos Islands (Figure 11.23, top), get their gentle hill-like shape because they are built of successive flows of low-viscosity basaltic lava (Figure 11.23, bottom). The </a:t>
            </a:r>
            <a:r>
              <a:rPr lang="en-US" b="1" i="0" dirty="0">
                <a:solidFill>
                  <a:srgbClr val="000000"/>
                </a:solidFill>
                <a:effectLst/>
                <a:latin typeface="Times New Roman" panose="02020603050405020304" pitchFamily="18" charset="0"/>
              </a:rPr>
              <a:t>low viscosity of the lava means </a:t>
            </a:r>
            <a:r>
              <a:rPr lang="en-US" b="0" i="0" dirty="0">
                <a:solidFill>
                  <a:srgbClr val="000000"/>
                </a:solidFill>
                <a:effectLst/>
                <a:latin typeface="Times New Roman" panose="02020603050405020304" pitchFamily="18" charset="0"/>
              </a:rPr>
              <a:t>that it can flow for </a:t>
            </a:r>
            <a:r>
              <a:rPr lang="en-US" b="1" i="0" dirty="0">
                <a:solidFill>
                  <a:srgbClr val="000000"/>
                </a:solidFill>
                <a:effectLst/>
                <a:latin typeface="Times New Roman" panose="02020603050405020304" pitchFamily="18" charset="0"/>
              </a:rPr>
              <a:t>long distances, resulting in the greater size of shield volcanoes </a:t>
            </a:r>
            <a:r>
              <a:rPr lang="en-US" b="0" i="0" dirty="0">
                <a:solidFill>
                  <a:srgbClr val="000000"/>
                </a:solidFill>
                <a:effectLst/>
                <a:latin typeface="Times New Roman" panose="02020603050405020304" pitchFamily="18" charset="0"/>
              </a:rPr>
              <a:t>compared to composite volcanoes or cinder cones.</a:t>
            </a:r>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10</a:t>
            </a:fld>
            <a:endParaRPr lang="en-US"/>
          </a:p>
        </p:txBody>
      </p:sp>
    </p:spTree>
    <p:extLst>
      <p:ext uri="{BB962C8B-B14F-4D97-AF65-F5344CB8AC3E}">
        <p14:creationId xmlns:p14="http://schemas.microsoft.com/office/powerpoint/2010/main" val="19632677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dirty="0">
                <a:solidFill>
                  <a:srgbClr val="000000"/>
                </a:solidFill>
                <a:effectLst/>
                <a:latin typeface="Times New Roman" panose="02020603050405020304" pitchFamily="18" charset="0"/>
              </a:rPr>
              <a:t> Shield volcano. Top: The Sierra Negra volcano in the Galápagos Islands exhibits the low, rounded shape characteristic of shield volcanoes. Bottom: Diagram of a shield volcano island, showing the build up of basaltic lava flows. Sources: Top- BRJ INC. (2012) CC BY-NC-ND 2.0 </a:t>
            </a:r>
            <a:r>
              <a:rPr lang="en-US" b="0" i="1" u="sng" dirty="0">
                <a:solidFill>
                  <a:srgbClr val="000000"/>
                </a:solidFill>
                <a:effectLst/>
                <a:latin typeface="Times New Roman" panose="02020603050405020304" pitchFamily="18" charset="0"/>
                <a:hlinkClick r:id="rId3"/>
              </a:rPr>
              <a:t>view source</a:t>
            </a:r>
            <a:r>
              <a:rPr lang="en-US" b="0" i="1" dirty="0">
                <a:solidFill>
                  <a:srgbClr val="000000"/>
                </a:solidFill>
                <a:effectLst/>
                <a:latin typeface="Times New Roman" panose="02020603050405020304" pitchFamily="18" charset="0"/>
              </a:rPr>
              <a:t>. Bottom- Karla </a:t>
            </a:r>
            <a:r>
              <a:rPr lang="en-US" b="0" i="1" dirty="0" err="1">
                <a:solidFill>
                  <a:srgbClr val="000000"/>
                </a:solidFill>
                <a:effectLst/>
                <a:latin typeface="Times New Roman" panose="02020603050405020304" pitchFamily="18" charset="0"/>
              </a:rPr>
              <a:t>Panchuk</a:t>
            </a:r>
            <a:r>
              <a:rPr lang="en-US" b="0" i="1" dirty="0">
                <a:solidFill>
                  <a:srgbClr val="000000"/>
                </a:solidFill>
                <a:effectLst/>
                <a:latin typeface="Times New Roman" panose="02020603050405020304" pitchFamily="18" charset="0"/>
              </a:rPr>
              <a:t> (2017) CC BY 4.0</a:t>
            </a:r>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11</a:t>
            </a:fld>
            <a:endParaRPr lang="en-US"/>
          </a:p>
        </p:txBody>
      </p:sp>
    </p:spTree>
    <p:extLst>
      <p:ext uri="{BB962C8B-B14F-4D97-AF65-F5344CB8AC3E}">
        <p14:creationId xmlns:p14="http://schemas.microsoft.com/office/powerpoint/2010/main" val="14377626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12</a:t>
            </a:fld>
            <a:endParaRPr lang="en-US"/>
          </a:p>
        </p:txBody>
      </p:sp>
    </p:spTree>
    <p:extLst>
      <p:ext uri="{BB962C8B-B14F-4D97-AF65-F5344CB8AC3E}">
        <p14:creationId xmlns:p14="http://schemas.microsoft.com/office/powerpoint/2010/main" val="30871861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1" dirty="0">
                <a:solidFill>
                  <a:srgbClr val="000000"/>
                </a:solidFill>
                <a:effectLst/>
                <a:latin typeface="Times New Roman" panose="02020603050405020304" pitchFamily="18" charset="0"/>
              </a:rPr>
              <a:t>Composite volcano. Top: Cotopaxi in Ecuador exhibits the upward-steepening cone characteristic of composite volcanoes. Bottom: Diagram of a composite volcano showing alternating layers of lava and tephra. Sources: Karla </a:t>
            </a:r>
            <a:r>
              <a:rPr lang="en-US" b="0" i="1" dirty="0" err="1">
                <a:solidFill>
                  <a:srgbClr val="000000"/>
                </a:solidFill>
                <a:effectLst/>
                <a:latin typeface="Times New Roman" panose="02020603050405020304" pitchFamily="18" charset="0"/>
              </a:rPr>
              <a:t>Panchuk</a:t>
            </a:r>
            <a:r>
              <a:rPr lang="en-US" b="0" i="1" dirty="0">
                <a:solidFill>
                  <a:srgbClr val="000000"/>
                </a:solidFill>
                <a:effectLst/>
                <a:latin typeface="Times New Roman" panose="02020603050405020304" pitchFamily="18" charset="0"/>
              </a:rPr>
              <a:t> (2017) CC BY 4.0; Top photo by Simon </a:t>
            </a:r>
            <a:r>
              <a:rPr lang="en-US" b="0" i="1" dirty="0" err="1">
                <a:solidFill>
                  <a:srgbClr val="000000"/>
                </a:solidFill>
                <a:effectLst/>
                <a:latin typeface="Times New Roman" panose="02020603050405020304" pitchFamily="18" charset="0"/>
              </a:rPr>
              <a:t>Matzinger</a:t>
            </a:r>
            <a:r>
              <a:rPr lang="en-US" b="0" i="1" dirty="0">
                <a:solidFill>
                  <a:srgbClr val="000000"/>
                </a:solidFill>
                <a:effectLst/>
                <a:latin typeface="Times New Roman" panose="02020603050405020304" pitchFamily="18" charset="0"/>
              </a:rPr>
              <a:t> (2014) CC BY 2.0 </a:t>
            </a:r>
            <a:r>
              <a:rPr lang="en-US" b="0" i="1" u="sng" dirty="0">
                <a:solidFill>
                  <a:srgbClr val="000000"/>
                </a:solidFill>
                <a:effectLst/>
                <a:latin typeface="Times New Roman" panose="02020603050405020304" pitchFamily="18" charset="0"/>
                <a:hlinkClick r:id="rId3"/>
              </a:rPr>
              <a:t>view source</a:t>
            </a:r>
            <a:r>
              <a:rPr lang="en-US" b="0" i="1" dirty="0">
                <a:solidFill>
                  <a:srgbClr val="000000"/>
                </a:solidFill>
                <a:effectLst/>
                <a:latin typeface="Times New Roman" panose="02020603050405020304" pitchFamily="18" charset="0"/>
              </a:rPr>
              <a:t>. Click the image for more attributions. </a:t>
            </a:r>
            <a:br>
              <a:rPr lang="en-US" dirty="0"/>
            </a:br>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13</a:t>
            </a:fld>
            <a:endParaRPr lang="en-US"/>
          </a:p>
        </p:txBody>
      </p:sp>
    </p:spTree>
    <p:extLst>
      <p:ext uri="{BB962C8B-B14F-4D97-AF65-F5344CB8AC3E}">
        <p14:creationId xmlns:p14="http://schemas.microsoft.com/office/powerpoint/2010/main" val="9626938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u="none" strike="noStrike" dirty="0">
                <a:effectLst/>
                <a:latin typeface="GeographEditWeb"/>
              </a:rPr>
              <a:t>Pacific Ocean Hot Spots</a:t>
            </a:r>
          </a:p>
          <a:p>
            <a:pPr algn="l"/>
            <a:r>
              <a:rPr lang="en-US" b="0" i="0" dirty="0">
                <a:solidFill>
                  <a:srgbClr val="000000"/>
                </a:solidFill>
                <a:effectLst/>
                <a:latin typeface="GeographEditWeb"/>
              </a:rPr>
              <a:t>The Pacific Ocean is dotted with hot spots. The abrupt right turn taken by the Hawaiian Ridge-Emperor Seamount chain shows how the direction of plate motion changed while the hot spot remained relatively stationary.</a:t>
            </a:r>
          </a:p>
          <a:p>
            <a:r>
              <a:rPr lang="en-US" dirty="0"/>
              <a:t>Hotspot remain same position independent of overlying </a:t>
            </a:r>
          </a:p>
        </p:txBody>
      </p:sp>
      <p:sp>
        <p:nvSpPr>
          <p:cNvPr id="4" name="Slide Number Placeholder 3"/>
          <p:cNvSpPr>
            <a:spLocks noGrp="1"/>
          </p:cNvSpPr>
          <p:nvPr>
            <p:ph type="sldNum" sz="quarter" idx="5"/>
          </p:nvPr>
        </p:nvSpPr>
        <p:spPr/>
        <p:txBody>
          <a:bodyPr/>
          <a:lstStyle/>
          <a:p>
            <a:fld id="{D2F102B6-B1AB-4588-994D-CDDCBF6A36BA}" type="slidenum">
              <a:rPr lang="en-US" smtClean="0"/>
              <a:t>14</a:t>
            </a:fld>
            <a:endParaRPr lang="en-US"/>
          </a:p>
        </p:txBody>
      </p:sp>
    </p:spTree>
    <p:extLst>
      <p:ext uri="{BB962C8B-B14F-4D97-AF65-F5344CB8AC3E}">
        <p14:creationId xmlns:p14="http://schemas.microsoft.com/office/powerpoint/2010/main" val="35139596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u="none" strike="noStrike" dirty="0">
                <a:effectLst/>
                <a:latin typeface="GeographEditWeb"/>
              </a:rPr>
              <a:t>Sleeping Giant</a:t>
            </a:r>
          </a:p>
          <a:p>
            <a:pPr algn="l"/>
            <a:r>
              <a:rPr lang="en-US" b="0" i="0" dirty="0">
                <a:solidFill>
                  <a:srgbClr val="000000"/>
                </a:solidFill>
                <a:effectLst/>
                <a:latin typeface="GeographEditWeb"/>
              </a:rPr>
              <a:t>Hot spot volcanism occurs at abnormally hot centers known as mantle plumes. Many geologists depict these plumes of molten rock almost like a lava lamp, features called diapirs. This magmatic diapir sits over the Yellowstone hot spot in Wyoming.</a:t>
            </a:r>
          </a:p>
        </p:txBody>
      </p:sp>
      <p:sp>
        <p:nvSpPr>
          <p:cNvPr id="4" name="Slide Number Placeholder 3"/>
          <p:cNvSpPr>
            <a:spLocks noGrp="1"/>
          </p:cNvSpPr>
          <p:nvPr>
            <p:ph type="sldNum" sz="quarter" idx="5"/>
          </p:nvPr>
        </p:nvSpPr>
        <p:spPr/>
        <p:txBody>
          <a:bodyPr/>
          <a:lstStyle/>
          <a:p>
            <a:fld id="{D2F102B6-B1AB-4588-994D-CDDCBF6A36BA}" type="slidenum">
              <a:rPr lang="en-US" smtClean="0"/>
              <a:t>15</a:t>
            </a:fld>
            <a:endParaRPr lang="en-US"/>
          </a:p>
        </p:txBody>
      </p:sp>
    </p:spTree>
    <p:extLst>
      <p:ext uri="{BB962C8B-B14F-4D97-AF65-F5344CB8AC3E}">
        <p14:creationId xmlns:p14="http://schemas.microsoft.com/office/powerpoint/2010/main" val="26740552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16</a:t>
            </a:fld>
            <a:endParaRPr lang="en-US"/>
          </a:p>
        </p:txBody>
      </p:sp>
    </p:spTree>
    <p:extLst>
      <p:ext uri="{BB962C8B-B14F-4D97-AF65-F5344CB8AC3E}">
        <p14:creationId xmlns:p14="http://schemas.microsoft.com/office/powerpoint/2010/main" val="9942248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Normal Fault</a:t>
            </a:r>
          </a:p>
        </p:txBody>
      </p:sp>
      <p:sp>
        <p:nvSpPr>
          <p:cNvPr id="4" name="Slide Number Placeholder 3"/>
          <p:cNvSpPr>
            <a:spLocks noGrp="1"/>
          </p:cNvSpPr>
          <p:nvPr>
            <p:ph type="sldNum" sz="quarter" idx="5"/>
          </p:nvPr>
        </p:nvSpPr>
        <p:spPr/>
        <p:txBody>
          <a:bodyPr/>
          <a:lstStyle/>
          <a:p>
            <a:fld id="{D2F102B6-B1AB-4588-994D-CDDCBF6A36BA}" type="slidenum">
              <a:rPr lang="en-US" smtClean="0"/>
              <a:t>18</a:t>
            </a:fld>
            <a:endParaRPr lang="en-US"/>
          </a:p>
        </p:txBody>
      </p:sp>
    </p:spTree>
    <p:extLst>
      <p:ext uri="{BB962C8B-B14F-4D97-AF65-F5344CB8AC3E}">
        <p14:creationId xmlns:p14="http://schemas.microsoft.com/office/powerpoint/2010/main" val="1087216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Utah- Reverse Fault</a:t>
            </a:r>
          </a:p>
        </p:txBody>
      </p:sp>
      <p:sp>
        <p:nvSpPr>
          <p:cNvPr id="4" name="Slide Number Placeholder 3"/>
          <p:cNvSpPr>
            <a:spLocks noGrp="1"/>
          </p:cNvSpPr>
          <p:nvPr>
            <p:ph type="sldNum" sz="quarter" idx="5"/>
          </p:nvPr>
        </p:nvSpPr>
        <p:spPr/>
        <p:txBody>
          <a:bodyPr/>
          <a:lstStyle/>
          <a:p>
            <a:fld id="{D2F102B6-B1AB-4588-994D-CDDCBF6A36BA}" type="slidenum">
              <a:rPr lang="en-US" smtClean="0"/>
              <a:t>19</a:t>
            </a:fld>
            <a:endParaRPr lang="en-US"/>
          </a:p>
        </p:txBody>
      </p:sp>
    </p:spTree>
    <p:extLst>
      <p:ext uri="{BB962C8B-B14F-4D97-AF65-F5344CB8AC3E}">
        <p14:creationId xmlns:p14="http://schemas.microsoft.com/office/powerpoint/2010/main" val="16981638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20</a:t>
            </a:fld>
            <a:endParaRPr lang="en-US"/>
          </a:p>
        </p:txBody>
      </p:sp>
    </p:spTree>
    <p:extLst>
      <p:ext uri="{BB962C8B-B14F-4D97-AF65-F5344CB8AC3E}">
        <p14:creationId xmlns:p14="http://schemas.microsoft.com/office/powerpoint/2010/main" val="32690388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Coded </a:t>
            </a:r>
            <a:r>
              <a:rPr lang="en-US" dirty="0" err="1"/>
              <a:t>Incatation</a:t>
            </a:r>
            <a:endParaRPr lang="en-US" dirty="0"/>
          </a:p>
        </p:txBody>
      </p:sp>
      <p:sp>
        <p:nvSpPr>
          <p:cNvPr id="4" name="Slide Number Placeholder 3"/>
          <p:cNvSpPr>
            <a:spLocks noGrp="1"/>
          </p:cNvSpPr>
          <p:nvPr>
            <p:ph type="sldNum" sz="quarter" idx="5"/>
          </p:nvPr>
        </p:nvSpPr>
        <p:spPr/>
        <p:txBody>
          <a:bodyPr/>
          <a:lstStyle/>
          <a:p>
            <a:fld id="{D2F102B6-B1AB-4588-994D-CDDCBF6A36BA}" type="slidenum">
              <a:rPr lang="en-US" smtClean="0"/>
              <a:t>21</a:t>
            </a:fld>
            <a:endParaRPr lang="en-US"/>
          </a:p>
        </p:txBody>
      </p:sp>
    </p:spTree>
    <p:extLst>
      <p:ext uri="{BB962C8B-B14F-4D97-AF65-F5344CB8AC3E}">
        <p14:creationId xmlns:p14="http://schemas.microsoft.com/office/powerpoint/2010/main" val="8631301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22</a:t>
            </a:fld>
            <a:endParaRPr lang="en-US"/>
          </a:p>
        </p:txBody>
      </p:sp>
    </p:spTree>
    <p:extLst>
      <p:ext uri="{BB962C8B-B14F-4D97-AF65-F5344CB8AC3E}">
        <p14:creationId xmlns:p14="http://schemas.microsoft.com/office/powerpoint/2010/main" val="210935768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23</a:t>
            </a:fld>
            <a:endParaRPr lang="en-US"/>
          </a:p>
        </p:txBody>
      </p:sp>
    </p:spTree>
    <p:extLst>
      <p:ext uri="{BB962C8B-B14F-4D97-AF65-F5344CB8AC3E}">
        <p14:creationId xmlns:p14="http://schemas.microsoft.com/office/powerpoint/2010/main" val="41398272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dirty="0">
              <a:solidFill>
                <a:srgbClr val="43525B"/>
              </a:solidFill>
              <a:effectLst/>
              <a:latin typeface="Open Sans"/>
            </a:endParaRPr>
          </a:p>
        </p:txBody>
      </p:sp>
      <p:sp>
        <p:nvSpPr>
          <p:cNvPr id="4" name="Slide Number Placeholder 3"/>
          <p:cNvSpPr>
            <a:spLocks noGrp="1"/>
          </p:cNvSpPr>
          <p:nvPr>
            <p:ph type="sldNum" sz="quarter" idx="5"/>
          </p:nvPr>
        </p:nvSpPr>
        <p:spPr/>
        <p:txBody>
          <a:bodyPr/>
          <a:lstStyle/>
          <a:p>
            <a:fld id="{D2F102B6-B1AB-4588-994D-CDDCBF6A36BA}" type="slidenum">
              <a:rPr lang="en-US" smtClean="0"/>
              <a:t>24</a:t>
            </a:fld>
            <a:endParaRPr lang="en-US"/>
          </a:p>
        </p:txBody>
      </p:sp>
    </p:spTree>
    <p:extLst>
      <p:ext uri="{BB962C8B-B14F-4D97-AF65-F5344CB8AC3E}">
        <p14:creationId xmlns:p14="http://schemas.microsoft.com/office/powerpoint/2010/main" val="23995827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3525B"/>
                </a:solidFill>
                <a:effectLst/>
                <a:latin typeface="Open Sans"/>
              </a:rPr>
              <a:t>Each magnitude increases by a factor of 10</a:t>
            </a:r>
          </a:p>
        </p:txBody>
      </p:sp>
      <p:sp>
        <p:nvSpPr>
          <p:cNvPr id="4" name="Slide Number Placeholder 3"/>
          <p:cNvSpPr>
            <a:spLocks noGrp="1"/>
          </p:cNvSpPr>
          <p:nvPr>
            <p:ph type="sldNum" sz="quarter" idx="5"/>
          </p:nvPr>
        </p:nvSpPr>
        <p:spPr/>
        <p:txBody>
          <a:bodyPr/>
          <a:lstStyle/>
          <a:p>
            <a:fld id="{D2F102B6-B1AB-4588-994D-CDDCBF6A36BA}" type="slidenum">
              <a:rPr lang="en-US" smtClean="0"/>
              <a:t>25</a:t>
            </a:fld>
            <a:endParaRPr lang="en-US"/>
          </a:p>
        </p:txBody>
      </p:sp>
    </p:spTree>
    <p:extLst>
      <p:ext uri="{BB962C8B-B14F-4D97-AF65-F5344CB8AC3E}">
        <p14:creationId xmlns:p14="http://schemas.microsoft.com/office/powerpoint/2010/main" val="2915406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24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7999"/>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950684" y="218874"/>
            <a:ext cx="1242631" cy="513080"/>
          </a:xfrm>
          <a:prstGeom prst="rect">
            <a:avLst/>
          </a:prstGeom>
        </p:spPr>
        <p:txBody>
          <a:bodyPr wrap="square" lIns="0" tIns="0" rIns="0" bIns="0">
            <a:spAutoFit/>
          </a:bodyPr>
          <a:lstStyle>
            <a:lvl1pPr>
              <a:defRPr sz="3200" b="1" i="0">
                <a:solidFill>
                  <a:schemeClr val="tx1"/>
                </a:solidFill>
                <a:latin typeface="Arial"/>
                <a:cs typeface="Arial"/>
              </a:defRPr>
            </a:lvl1pPr>
          </a:lstStyle>
          <a:p>
            <a:endParaRPr/>
          </a:p>
        </p:txBody>
      </p:sp>
      <p:sp>
        <p:nvSpPr>
          <p:cNvPr id="3" name="Holder 3"/>
          <p:cNvSpPr>
            <a:spLocks noGrp="1"/>
          </p:cNvSpPr>
          <p:nvPr>
            <p:ph type="body" idx="1"/>
          </p:nvPr>
        </p:nvSpPr>
        <p:spPr>
          <a:xfrm>
            <a:off x="438801" y="1310834"/>
            <a:ext cx="8266396" cy="1962150"/>
          </a:xfrm>
          <a:prstGeom prst="rect">
            <a:avLst/>
          </a:prstGeom>
        </p:spPr>
        <p:txBody>
          <a:bodyPr wrap="square" lIns="0" tIns="0" rIns="0" bIns="0">
            <a:spAutoFit/>
          </a:bodyPr>
          <a:lstStyle>
            <a:lvl1pPr>
              <a:defRPr sz="24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9/19/2024</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crdownload"/><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pic>
        <p:nvPicPr>
          <p:cNvPr id="1026" name="Picture 2" descr="Mount Cleveland releases a plume of ash that rises almost 6,000 meters (20,000 feet) above the North Pacific Ocean. Mount Cleveland, in Alaska's southwestern Aleutian Islands, is one of many Alaskan volcanoes that are part of the Ring of Fire.">
            <a:extLst>
              <a:ext uri="{FF2B5EF4-FFF2-40B4-BE49-F238E27FC236}">
                <a16:creationId xmlns:a16="http://schemas.microsoft.com/office/drawing/2014/main" id="{BD355F51-6855-4700-AA58-7559AFB46B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0"/>
            <a:ext cx="9137650" cy="6858000"/>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3"/>
          <p:cNvSpPr txBox="1">
            <a:spLocks noGrp="1"/>
          </p:cNvSpPr>
          <p:nvPr>
            <p:ph type="title"/>
          </p:nvPr>
        </p:nvSpPr>
        <p:spPr>
          <a:xfrm>
            <a:off x="0" y="685800"/>
            <a:ext cx="9150765" cy="1367041"/>
          </a:xfrm>
          <a:prstGeom prst="rect">
            <a:avLst/>
          </a:prstGeom>
        </p:spPr>
        <p:txBody>
          <a:bodyPr vert="horz" wrap="square" lIns="0" tIns="12700" rIns="0" bIns="0" rtlCol="0">
            <a:spAutoFit/>
          </a:bodyPr>
          <a:lstStyle/>
          <a:p>
            <a:pPr marL="635" algn="ctr">
              <a:spcBef>
                <a:spcPts val="100"/>
              </a:spcBef>
            </a:pPr>
            <a:r>
              <a:rPr lang="en-US" sz="4400" spc="-5" dirty="0">
                <a:solidFill>
                  <a:schemeClr val="bg1"/>
                </a:solidFill>
              </a:rPr>
              <a:t>GGIS103</a:t>
            </a:r>
            <a:br>
              <a:rPr lang="en-US" sz="4400" spc="-5" dirty="0">
                <a:solidFill>
                  <a:schemeClr val="bg1"/>
                </a:solidFill>
              </a:rPr>
            </a:br>
            <a:r>
              <a:rPr lang="en-US" sz="4400" spc="-5" dirty="0">
                <a:solidFill>
                  <a:schemeClr val="bg1"/>
                </a:solidFill>
              </a:rPr>
              <a:t>Earth’s Physical Systems</a:t>
            </a:r>
            <a:endParaRPr sz="3600" dirty="0">
              <a:solidFill>
                <a:schemeClr val="bg1"/>
              </a:solidFill>
            </a:endParaRPr>
          </a:p>
        </p:txBody>
      </p:sp>
      <p:sp>
        <p:nvSpPr>
          <p:cNvPr id="4" name="object 4"/>
          <p:cNvSpPr txBox="1"/>
          <p:nvPr/>
        </p:nvSpPr>
        <p:spPr>
          <a:xfrm>
            <a:off x="1219200" y="5130356"/>
            <a:ext cx="7018655" cy="1065035"/>
          </a:xfrm>
          <a:prstGeom prst="rect">
            <a:avLst/>
          </a:prstGeom>
        </p:spPr>
        <p:txBody>
          <a:bodyPr vert="horz" wrap="square" lIns="0" tIns="94615" rIns="0" bIns="0" rtlCol="0">
            <a:spAutoFit/>
          </a:bodyPr>
          <a:lstStyle/>
          <a:p>
            <a:pPr algn="ctr">
              <a:lnSpc>
                <a:spcPct val="100000"/>
              </a:lnSpc>
              <a:spcBef>
                <a:spcPts val="745"/>
              </a:spcBef>
            </a:pPr>
            <a:r>
              <a:rPr lang="en-US" sz="2900" b="1" spc="-20" dirty="0">
                <a:solidFill>
                  <a:schemeClr val="bg1"/>
                </a:solidFill>
                <a:latin typeface="Arial"/>
                <a:cs typeface="Arial"/>
              </a:rPr>
              <a:t>Week 4</a:t>
            </a:r>
            <a:endParaRPr sz="2900" dirty="0">
              <a:solidFill>
                <a:schemeClr val="bg1"/>
              </a:solidFill>
              <a:latin typeface="Arial"/>
              <a:cs typeface="Arial"/>
            </a:endParaRPr>
          </a:p>
          <a:p>
            <a:pPr algn="ctr">
              <a:lnSpc>
                <a:spcPct val="100000"/>
              </a:lnSpc>
              <a:spcBef>
                <a:spcPts val="645"/>
              </a:spcBef>
            </a:pPr>
            <a:r>
              <a:rPr lang="en-US" sz="2900" b="1" spc="-5" dirty="0">
                <a:solidFill>
                  <a:schemeClr val="bg1"/>
                </a:solidFill>
                <a:latin typeface="Arial"/>
                <a:cs typeface="Arial"/>
              </a:rPr>
              <a:t>Plate tectonics and Volcanoes</a:t>
            </a:r>
            <a:endParaRPr sz="2900" dirty="0">
              <a:solidFill>
                <a:schemeClr val="bg1"/>
              </a:solidFill>
              <a:latin typeface="Arial"/>
              <a:cs typeface="Arial"/>
            </a:endParaRPr>
          </a:p>
        </p:txBody>
      </p:sp>
      <p:sp>
        <p:nvSpPr>
          <p:cNvPr id="6" name="TextBox 5">
            <a:extLst>
              <a:ext uri="{FF2B5EF4-FFF2-40B4-BE49-F238E27FC236}">
                <a16:creationId xmlns:a16="http://schemas.microsoft.com/office/drawing/2014/main" id="{A7A085E6-DCB2-4ACB-B68C-FE1EB96EE59C}"/>
              </a:ext>
            </a:extLst>
          </p:cNvPr>
          <p:cNvSpPr txBox="1"/>
          <p:nvPr/>
        </p:nvSpPr>
        <p:spPr>
          <a:xfrm>
            <a:off x="5072383" y="6563475"/>
            <a:ext cx="4078382" cy="307777"/>
          </a:xfrm>
          <a:prstGeom prst="rect">
            <a:avLst/>
          </a:prstGeom>
          <a:noFill/>
        </p:spPr>
        <p:txBody>
          <a:bodyPr wrap="square">
            <a:spAutoFit/>
          </a:bodyPr>
          <a:lstStyle/>
          <a:p>
            <a:pPr algn="r"/>
            <a:r>
              <a:rPr lang="en-US" sz="1400" dirty="0">
                <a:solidFill>
                  <a:schemeClr val="bg1">
                    <a:lumMod val="85000"/>
                  </a:schemeClr>
                </a:solidFill>
              </a:rPr>
              <a:t>NASA Earth Observatory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Objectives</a:t>
            </a:r>
            <a:endParaRPr lang="en-US" dirty="0"/>
          </a:p>
        </p:txBody>
      </p:sp>
      <p:sp>
        <p:nvSpPr>
          <p:cNvPr id="3" name="object 3"/>
          <p:cNvSpPr txBox="1"/>
          <p:nvPr/>
        </p:nvSpPr>
        <p:spPr>
          <a:xfrm>
            <a:off x="549257" y="1318454"/>
            <a:ext cx="8442343" cy="3489417"/>
          </a:xfrm>
          <a:prstGeom prst="rect">
            <a:avLst/>
          </a:prstGeom>
        </p:spPr>
        <p:txBody>
          <a:bodyPr vert="horz" wrap="square" lIns="0" tIns="46990" rIns="0" bIns="0" rtlCol="0" anchor="t">
            <a:spAutoFit/>
          </a:bodyPr>
          <a:lstStyle/>
          <a:p>
            <a:pPr marL="354965" marR="92075" indent="-342900">
              <a:lnSpc>
                <a:spcPct val="200000"/>
              </a:lnSpc>
              <a:spcBef>
                <a:spcPts val="370"/>
              </a:spcBef>
              <a:buFont typeface="Arial" panose="020B0604020202020204" pitchFamily="34" charset="0"/>
              <a:buChar char="•"/>
              <a:tabLst>
                <a:tab pos="240665" algn="l"/>
                <a:tab pos="241300" algn="l"/>
              </a:tabLst>
            </a:pPr>
            <a:r>
              <a:rPr lang="en-US" sz="2400" dirty="0">
                <a:latin typeface="Arial"/>
                <a:ea typeface="+mn-lt"/>
                <a:cs typeface="+mn-lt"/>
              </a:rPr>
              <a:t>Recall tectonic processes from lecture</a:t>
            </a:r>
          </a:p>
          <a:p>
            <a:pPr marL="354965" marR="92075" indent="-342900">
              <a:lnSpc>
                <a:spcPct val="200000"/>
              </a:lnSpc>
              <a:spcBef>
                <a:spcPts val="370"/>
              </a:spcBef>
              <a:buFont typeface="Arial" panose="020B0604020202020204" pitchFamily="34" charset="0"/>
              <a:buChar char="•"/>
              <a:tabLst>
                <a:tab pos="240665" algn="l"/>
                <a:tab pos="241300" algn="l"/>
              </a:tabLst>
            </a:pPr>
            <a:r>
              <a:rPr lang="en-US" sz="2400" dirty="0">
                <a:latin typeface="Arial"/>
                <a:ea typeface="+mn-lt"/>
                <a:cs typeface="+mn-lt"/>
              </a:rPr>
              <a:t>Explain how volcanoes are formed</a:t>
            </a:r>
          </a:p>
          <a:p>
            <a:pPr marL="354965" marR="92075" indent="-342900">
              <a:spcBef>
                <a:spcPts val="370"/>
              </a:spcBef>
              <a:buFont typeface="Arial" panose="020B0604020202020204" pitchFamily="34" charset="0"/>
              <a:buChar char="•"/>
              <a:tabLst>
                <a:tab pos="240665" algn="l"/>
                <a:tab pos="241300" algn="l"/>
              </a:tabLst>
            </a:pPr>
            <a:r>
              <a:rPr lang="en-US" sz="2400" dirty="0">
                <a:latin typeface="Arial"/>
                <a:ea typeface="+mn-lt"/>
                <a:cs typeface="+mn-lt"/>
              </a:rPr>
              <a:t>Explain how continental boundaries are related to earthquakes</a:t>
            </a:r>
          </a:p>
          <a:p>
            <a:pPr marL="354965" marR="92075" indent="-342900">
              <a:lnSpc>
                <a:spcPct val="200000"/>
              </a:lnSpc>
              <a:spcBef>
                <a:spcPts val="370"/>
              </a:spcBef>
              <a:buFont typeface="Arial" panose="020B0604020202020204" pitchFamily="34" charset="0"/>
              <a:buChar char="•"/>
              <a:tabLst>
                <a:tab pos="240665" algn="l"/>
                <a:tab pos="241300" algn="l"/>
              </a:tabLst>
            </a:pPr>
            <a:r>
              <a:rPr lang="en-US" sz="2400" dirty="0">
                <a:latin typeface="Arial"/>
                <a:ea typeface="+mn-lt"/>
                <a:cs typeface="+mn-lt"/>
              </a:rPr>
              <a:t>Describe the Richter Scale</a:t>
            </a:r>
          </a:p>
          <a:p>
            <a:pPr marL="12065" marR="92075" algn="just">
              <a:lnSpc>
                <a:spcPts val="2160"/>
              </a:lnSpc>
              <a:spcBef>
                <a:spcPts val="370"/>
              </a:spcBef>
              <a:tabLst>
                <a:tab pos="240665" algn="l"/>
                <a:tab pos="241300" algn="l"/>
              </a:tabLst>
            </a:pPr>
            <a:endParaRPr sz="2000" dirty="0">
              <a:latin typeface="Arial"/>
              <a:cs typeface="Arial"/>
            </a:endParaRPr>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Tree>
    <p:extLst>
      <p:ext uri="{BB962C8B-B14F-4D97-AF65-F5344CB8AC3E}">
        <p14:creationId xmlns:p14="http://schemas.microsoft.com/office/powerpoint/2010/main" val="11626945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Earth's Structure">
            <a:extLst>
              <a:ext uri="{FF2B5EF4-FFF2-40B4-BE49-F238E27FC236}">
                <a16:creationId xmlns:a16="http://schemas.microsoft.com/office/drawing/2014/main" id="{E81DF8C1-DB8F-470F-B8BD-AA6E187888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371600"/>
            <a:ext cx="6138501" cy="5125648"/>
          </a:xfrm>
          <a:prstGeom prst="rect">
            <a:avLst/>
          </a:prstGeom>
          <a:noFill/>
          <a:extLst>
            <a:ext uri="{909E8E84-426E-40DD-AFC4-6F175D3DCCD1}">
              <a14:hiddenFill xmlns:a14="http://schemas.microsoft.com/office/drawing/2010/main">
                <a:solidFill>
                  <a:srgbClr val="FFFFFF"/>
                </a:solidFill>
              </a14:hiddenFill>
            </a:ext>
          </a:extLst>
        </p:spPr>
      </p:pic>
      <p:sp>
        <p:nvSpPr>
          <p:cNvPr id="3" name="object 2">
            <a:extLst>
              <a:ext uri="{FF2B5EF4-FFF2-40B4-BE49-F238E27FC236}">
                <a16:creationId xmlns:a16="http://schemas.microsoft.com/office/drawing/2014/main" id="{DD340A4B-1B51-49CD-8D0E-634A32158365}"/>
              </a:ext>
            </a:extLst>
          </p:cNvPr>
          <p:cNvSpPr txBox="1">
            <a:spLocks/>
          </p:cNvSpPr>
          <p:nvPr/>
        </p:nvSpPr>
        <p:spPr>
          <a:xfrm>
            <a:off x="1716182" y="218874"/>
            <a:ext cx="5709920" cy="513080"/>
          </a:xfrm>
          <a:prstGeom prst="rect">
            <a:avLst/>
          </a:prstGeom>
        </p:spPr>
        <p:txBody>
          <a:bodyPr vert="horz" wrap="square" lIns="0" tIns="12065" rIns="0" bIns="0" rtlCol="0" anchor="t">
            <a:spAutoFit/>
          </a:bodyPr>
          <a:lstStyle>
            <a:lvl1pPr>
              <a:defRPr sz="3200" b="1" i="0">
                <a:solidFill>
                  <a:schemeClr val="tx1"/>
                </a:solidFill>
                <a:latin typeface="Arial"/>
                <a:ea typeface="+mj-ea"/>
                <a:cs typeface="Arial"/>
              </a:defRPr>
            </a:lvl1pPr>
          </a:lstStyle>
          <a:p>
            <a:pPr marL="12700" algn="ctr">
              <a:spcBef>
                <a:spcPts val="95"/>
              </a:spcBef>
            </a:pPr>
            <a:r>
              <a:rPr lang="en" dirty="0"/>
              <a:t>Earth’s Internal Structure</a:t>
            </a:r>
            <a:endParaRPr lang="en-US" kern="0" dirty="0"/>
          </a:p>
        </p:txBody>
      </p:sp>
      <p:sp>
        <p:nvSpPr>
          <p:cNvPr id="4" name="object 4">
            <a:extLst>
              <a:ext uri="{FF2B5EF4-FFF2-40B4-BE49-F238E27FC236}">
                <a16:creationId xmlns:a16="http://schemas.microsoft.com/office/drawing/2014/main" id="{8C45A871-6ABF-416B-8F28-43C1963B4A44}"/>
              </a:ext>
            </a:extLst>
          </p:cNvPr>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9" name="TextBox 8">
            <a:extLst>
              <a:ext uri="{FF2B5EF4-FFF2-40B4-BE49-F238E27FC236}">
                <a16:creationId xmlns:a16="http://schemas.microsoft.com/office/drawing/2014/main" id="{F9ECBE76-8090-4431-81A8-DF0DD85334B4}"/>
              </a:ext>
            </a:extLst>
          </p:cNvPr>
          <p:cNvSpPr txBox="1"/>
          <p:nvPr/>
        </p:nvSpPr>
        <p:spPr>
          <a:xfrm>
            <a:off x="311995" y="1278835"/>
            <a:ext cx="2431205" cy="5529719"/>
          </a:xfrm>
          <a:prstGeom prst="rect">
            <a:avLst/>
          </a:prstGeom>
          <a:noFill/>
        </p:spPr>
        <p:txBody>
          <a:bodyPr wrap="square">
            <a:spAutoFit/>
          </a:bodyPr>
          <a:lstStyle/>
          <a:p>
            <a:pPr marL="0" lvl="0" indent="0" algn="l" rtl="0">
              <a:spcBef>
                <a:spcPts val="0"/>
              </a:spcBef>
              <a:spcAft>
                <a:spcPts val="0"/>
              </a:spcAft>
              <a:buNone/>
            </a:pPr>
            <a:r>
              <a:rPr lang="en-US" sz="2000" b="1" dirty="0">
                <a:latin typeface="Arial" panose="020B0604020202020204" pitchFamily="34" charset="0"/>
                <a:cs typeface="Arial" panose="020B0604020202020204" pitchFamily="34" charset="0"/>
              </a:rPr>
              <a:t>Lithosphere:</a:t>
            </a:r>
            <a:r>
              <a:rPr lang="en-US" sz="2000" dirty="0">
                <a:latin typeface="Arial" panose="020B0604020202020204" pitchFamily="34" charset="0"/>
                <a:cs typeface="Arial" panose="020B0604020202020204" pitchFamily="34" charset="0"/>
              </a:rPr>
              <a:t> Rigid top layer consisting of the crust and the very uppermost section of the mantle (the lithosphere is divided into tectonic plates)</a:t>
            </a:r>
          </a:p>
          <a:p>
            <a:pPr marL="0" lvl="0" indent="0" algn="l" rtl="0">
              <a:spcBef>
                <a:spcPts val="1600"/>
              </a:spcBef>
              <a:spcAft>
                <a:spcPts val="1600"/>
              </a:spcAft>
              <a:buNone/>
            </a:pPr>
            <a:r>
              <a:rPr lang="en-US" sz="2000" b="1" dirty="0">
                <a:latin typeface="Arial" panose="020B0604020202020204" pitchFamily="34" charset="0"/>
                <a:cs typeface="Arial" panose="020B0604020202020204" pitchFamily="34" charset="0"/>
              </a:rPr>
              <a:t>Asthenosphere: </a:t>
            </a:r>
            <a:r>
              <a:rPr lang="en-US" sz="2000" dirty="0">
                <a:latin typeface="Arial" panose="020B0604020202020204" pitchFamily="34" charset="0"/>
                <a:cs typeface="Arial" panose="020B0604020202020204" pitchFamily="34" charset="0"/>
              </a:rPr>
              <a:t>Viscous layer below the lithosphere that undergoes more plastic deformation (tectonic plates move on top of the asthenosphere)</a:t>
            </a:r>
          </a:p>
        </p:txBody>
      </p:sp>
      <p:sp>
        <p:nvSpPr>
          <p:cNvPr id="5" name="Rectangle 4">
            <a:extLst>
              <a:ext uri="{FF2B5EF4-FFF2-40B4-BE49-F238E27FC236}">
                <a16:creationId xmlns:a16="http://schemas.microsoft.com/office/drawing/2014/main" id="{227F0E88-B643-B9C6-CD39-164C12F29DB5}"/>
              </a:ext>
            </a:extLst>
          </p:cNvPr>
          <p:cNvSpPr/>
          <p:nvPr/>
        </p:nvSpPr>
        <p:spPr>
          <a:xfrm>
            <a:off x="6705600" y="1219200"/>
            <a:ext cx="1600200" cy="609600"/>
          </a:xfrm>
          <a:prstGeom prst="rect">
            <a:avLst/>
          </a:prstGeom>
          <a:noFill/>
          <a:ln>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rgbClr val="FF0000"/>
              </a:solidFill>
            </a:endParaRPr>
          </a:p>
        </p:txBody>
      </p:sp>
      <p:sp>
        <p:nvSpPr>
          <p:cNvPr id="7" name="Rectangle 6">
            <a:extLst>
              <a:ext uri="{FF2B5EF4-FFF2-40B4-BE49-F238E27FC236}">
                <a16:creationId xmlns:a16="http://schemas.microsoft.com/office/drawing/2014/main" id="{69EDD28A-AD87-6A18-83E6-CCD07D1DC2DD}"/>
              </a:ext>
            </a:extLst>
          </p:cNvPr>
          <p:cNvSpPr/>
          <p:nvPr/>
        </p:nvSpPr>
        <p:spPr>
          <a:xfrm>
            <a:off x="6858000" y="3048000"/>
            <a:ext cx="1600200" cy="609600"/>
          </a:xfrm>
          <a:prstGeom prst="rect">
            <a:avLst/>
          </a:prstGeom>
          <a:noFill/>
          <a:ln>
            <a:solidFill>
              <a:srgbClr val="00B0F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251E6591-5621-3122-5A8F-5009D0264EB8}"/>
              </a:ext>
            </a:extLst>
          </p:cNvPr>
          <p:cNvSpPr/>
          <p:nvPr/>
        </p:nvSpPr>
        <p:spPr>
          <a:xfrm>
            <a:off x="7086600" y="1905000"/>
            <a:ext cx="1828800" cy="685800"/>
          </a:xfrm>
          <a:prstGeom prst="rect">
            <a:avLst/>
          </a:prstGeom>
          <a:no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12" name="Rectangle 11">
            <a:extLst>
              <a:ext uri="{FF2B5EF4-FFF2-40B4-BE49-F238E27FC236}">
                <a16:creationId xmlns:a16="http://schemas.microsoft.com/office/drawing/2014/main" id="{2BD546EF-C32E-0FD7-967B-A94D9DB938DB}"/>
              </a:ext>
            </a:extLst>
          </p:cNvPr>
          <p:cNvSpPr/>
          <p:nvPr/>
        </p:nvSpPr>
        <p:spPr>
          <a:xfrm>
            <a:off x="2667000" y="2286000"/>
            <a:ext cx="1524000" cy="609600"/>
          </a:xfrm>
          <a:prstGeom prst="rect">
            <a:avLst/>
          </a:prstGeom>
          <a:noFill/>
          <a:ln>
            <a:solidFill>
              <a:srgbClr val="00B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960868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Plate Boundaries</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7" name="TextBox 6">
            <a:extLst>
              <a:ext uri="{FF2B5EF4-FFF2-40B4-BE49-F238E27FC236}">
                <a16:creationId xmlns:a16="http://schemas.microsoft.com/office/drawing/2014/main" id="{B653A715-D270-4D9F-BD1C-01E6570091CB}"/>
              </a:ext>
            </a:extLst>
          </p:cNvPr>
          <p:cNvSpPr txBox="1"/>
          <p:nvPr/>
        </p:nvSpPr>
        <p:spPr>
          <a:xfrm>
            <a:off x="342042" y="1143000"/>
            <a:ext cx="8458200" cy="3046988"/>
          </a:xfrm>
          <a:prstGeom prst="rect">
            <a:avLst/>
          </a:prstGeom>
          <a:noFill/>
        </p:spPr>
        <p:txBody>
          <a:bodyPr wrap="square">
            <a:spAutoFit/>
          </a:bodyPr>
          <a:lstStyle/>
          <a:p>
            <a:pPr marL="457200" indent="-457200">
              <a:buAutoNum type="arabicPeriod"/>
            </a:pPr>
            <a:r>
              <a:rPr lang="en-US" sz="2400" b="1" i="0" dirty="0">
                <a:effectLst/>
                <a:latin typeface="Arial" panose="020B0604020202020204" pitchFamily="34" charset="0"/>
                <a:cs typeface="Arial" panose="020B0604020202020204" pitchFamily="34" charset="0"/>
              </a:rPr>
              <a:t>Convergent boundaries</a:t>
            </a:r>
            <a:r>
              <a:rPr lang="en-US" sz="2400" b="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 </a:t>
            </a:r>
            <a:r>
              <a:rPr lang="en-US" sz="2400" b="0" i="0" dirty="0">
                <a:effectLst/>
                <a:latin typeface="Arial" panose="020B0604020202020204" pitchFamily="34" charset="0"/>
                <a:cs typeface="Arial" panose="020B0604020202020204" pitchFamily="34" charset="0"/>
              </a:rPr>
              <a:t>where two plates are colliding.</a:t>
            </a: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r>
              <a:rPr lang="en-US" sz="2400" b="1" dirty="0">
                <a:latin typeface="Arial" panose="020B0604020202020204" pitchFamily="34" charset="0"/>
                <a:cs typeface="Arial" panose="020B0604020202020204" pitchFamily="34" charset="0"/>
              </a:rPr>
              <a:t>Divergent boundaries </a:t>
            </a:r>
            <a:r>
              <a:rPr lang="en-US" sz="2400" dirty="0">
                <a:latin typeface="Arial" panose="020B0604020202020204" pitchFamily="34" charset="0"/>
                <a:cs typeface="Arial" panose="020B0604020202020204" pitchFamily="34" charset="0"/>
              </a:rPr>
              <a:t>– where two plates are moving apart.</a:t>
            </a: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r>
              <a:rPr lang="en-US" sz="2400" b="1" i="0" dirty="0">
                <a:effectLst/>
                <a:latin typeface="Arial" panose="020B0604020202020204" pitchFamily="34" charset="0"/>
              </a:rPr>
              <a:t>Transform boundaries</a:t>
            </a:r>
            <a:r>
              <a:rPr lang="en-US" sz="2400" b="0" i="0" dirty="0">
                <a:effectLst/>
                <a:latin typeface="Arial" panose="020B0604020202020204" pitchFamily="34" charset="0"/>
              </a:rPr>
              <a:t> – where plates slide passed each other.</a:t>
            </a:r>
            <a:endParaRPr lang="en-US" sz="2400" dirty="0">
              <a:latin typeface="Arial" panose="020B0604020202020204" pitchFamily="34" charset="0"/>
              <a:cs typeface="Arial" panose="020B0604020202020204" pitchFamily="34" charset="0"/>
            </a:endParaRPr>
          </a:p>
        </p:txBody>
      </p:sp>
      <p:pic>
        <p:nvPicPr>
          <p:cNvPr id="3" name="Picture 2" descr="Diagram, shape&#10;&#10;Description automatically generated">
            <a:extLst>
              <a:ext uri="{FF2B5EF4-FFF2-40B4-BE49-F238E27FC236}">
                <a16:creationId xmlns:a16="http://schemas.microsoft.com/office/drawing/2014/main" id="{02E0B782-C06A-E11F-F99D-5B2BECFCB2A5}"/>
              </a:ext>
            </a:extLst>
          </p:cNvPr>
          <p:cNvPicPr>
            <a:picLocks noChangeAspect="1"/>
          </p:cNvPicPr>
          <p:nvPr/>
        </p:nvPicPr>
        <p:blipFill rotWithShape="1">
          <a:blip r:embed="rId3">
            <a:extLst>
              <a:ext uri="{28A0092B-C50C-407E-A947-70E740481C1C}">
                <a14:useLocalDpi xmlns:a14="http://schemas.microsoft.com/office/drawing/2010/main" val="0"/>
              </a:ext>
            </a:extLst>
          </a:blip>
          <a:srcRect t="15184" b="54804"/>
          <a:stretch/>
        </p:blipFill>
        <p:spPr>
          <a:xfrm>
            <a:off x="533400" y="4419600"/>
            <a:ext cx="7871005" cy="2362200"/>
          </a:xfrm>
          <a:prstGeom prst="rect">
            <a:avLst/>
          </a:prstGeom>
        </p:spPr>
      </p:pic>
    </p:spTree>
    <p:extLst>
      <p:ext uri="{BB962C8B-B14F-4D97-AF65-F5344CB8AC3E}">
        <p14:creationId xmlns:p14="http://schemas.microsoft.com/office/powerpoint/2010/main" val="1883426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Subduction Zone</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6" name="Picture 5" descr="Diagram, schematic&#10;&#10;Description automatically generated">
            <a:extLst>
              <a:ext uri="{FF2B5EF4-FFF2-40B4-BE49-F238E27FC236}">
                <a16:creationId xmlns:a16="http://schemas.microsoft.com/office/drawing/2014/main" id="{7E2C5F64-8A0E-D6DC-1FEC-96716BAA7E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9200" y="1676400"/>
            <a:ext cx="6400800" cy="3584448"/>
          </a:xfrm>
          <a:prstGeom prst="rect">
            <a:avLst/>
          </a:prstGeom>
        </p:spPr>
      </p:pic>
      <p:sp>
        <p:nvSpPr>
          <p:cNvPr id="7" name="TextBox 6">
            <a:extLst>
              <a:ext uri="{FF2B5EF4-FFF2-40B4-BE49-F238E27FC236}">
                <a16:creationId xmlns:a16="http://schemas.microsoft.com/office/drawing/2014/main" id="{9BFAA547-2B84-B272-2EC5-5DBED1967195}"/>
              </a:ext>
            </a:extLst>
          </p:cNvPr>
          <p:cNvSpPr txBox="1"/>
          <p:nvPr/>
        </p:nvSpPr>
        <p:spPr>
          <a:xfrm rot="3007921">
            <a:off x="4044886" y="3901953"/>
            <a:ext cx="1603713" cy="369332"/>
          </a:xfrm>
          <a:prstGeom prst="rect">
            <a:avLst/>
          </a:prstGeom>
          <a:solidFill>
            <a:schemeClr val="bg1"/>
          </a:solidFill>
        </p:spPr>
        <p:txBody>
          <a:bodyPr wrap="square" rtlCol="0">
            <a:spAutoFit/>
          </a:bodyPr>
          <a:lstStyle/>
          <a:p>
            <a:r>
              <a:rPr lang="en-US" dirty="0"/>
              <a:t>Higher density</a:t>
            </a:r>
          </a:p>
        </p:txBody>
      </p:sp>
    </p:spTree>
    <p:extLst>
      <p:ext uri="{BB962C8B-B14F-4D97-AF65-F5344CB8AC3E}">
        <p14:creationId xmlns:p14="http://schemas.microsoft.com/office/powerpoint/2010/main" val="1039195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Subduction Zone</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5" name="TextBox 4">
            <a:extLst>
              <a:ext uri="{FF2B5EF4-FFF2-40B4-BE49-F238E27FC236}">
                <a16:creationId xmlns:a16="http://schemas.microsoft.com/office/drawing/2014/main" id="{7BF9D708-C075-1CB3-38B9-688044B7DE89}"/>
              </a:ext>
            </a:extLst>
          </p:cNvPr>
          <p:cNvSpPr txBox="1"/>
          <p:nvPr/>
        </p:nvSpPr>
        <p:spPr>
          <a:xfrm>
            <a:off x="1143000" y="1295400"/>
            <a:ext cx="7162800" cy="1200329"/>
          </a:xfrm>
          <a:prstGeom prst="rect">
            <a:avLst/>
          </a:prstGeom>
          <a:noFill/>
        </p:spPr>
        <p:txBody>
          <a:bodyPr wrap="square" rtlCol="0">
            <a:spAutoFit/>
          </a:bodyPr>
          <a:lstStyle/>
          <a:p>
            <a:pPr marL="285750" indent="-285750">
              <a:buFont typeface="Arial" panose="020B0604020202020204" pitchFamily="34" charset="0"/>
              <a:buChar char="•"/>
            </a:pPr>
            <a:r>
              <a:rPr lang="en-US" sz="2400" dirty="0"/>
              <a:t>Water from subducting plate lowers melting temperature of adjacent mantel rock</a:t>
            </a:r>
          </a:p>
          <a:p>
            <a:pPr marL="285750" indent="-285750">
              <a:buFont typeface="Arial" panose="020B0604020202020204" pitchFamily="34" charset="0"/>
              <a:buChar char="•"/>
            </a:pPr>
            <a:endParaRPr lang="en-US" sz="2400" dirty="0"/>
          </a:p>
        </p:txBody>
      </p:sp>
      <p:pic>
        <p:nvPicPr>
          <p:cNvPr id="9" name="Picture 8" descr="Diagram&#10;&#10;Description automatically generated">
            <a:extLst>
              <a:ext uri="{FF2B5EF4-FFF2-40B4-BE49-F238E27FC236}">
                <a16:creationId xmlns:a16="http://schemas.microsoft.com/office/drawing/2014/main" id="{8B1AAAC3-378F-6FAF-17FC-81004497B160}"/>
              </a:ext>
            </a:extLst>
          </p:cNvPr>
          <p:cNvPicPr>
            <a:picLocks noChangeAspect="1"/>
          </p:cNvPicPr>
          <p:nvPr/>
        </p:nvPicPr>
        <p:blipFill rotWithShape="1">
          <a:blip r:embed="rId3">
            <a:extLst>
              <a:ext uri="{28A0092B-C50C-407E-A947-70E740481C1C}">
                <a14:useLocalDpi xmlns:a14="http://schemas.microsoft.com/office/drawing/2010/main" val="0"/>
              </a:ext>
            </a:extLst>
          </a:blip>
          <a:srcRect b="17983"/>
          <a:stretch/>
        </p:blipFill>
        <p:spPr>
          <a:xfrm>
            <a:off x="1524000" y="2286000"/>
            <a:ext cx="6172200" cy="4344581"/>
          </a:xfrm>
          <a:prstGeom prst="rect">
            <a:avLst/>
          </a:prstGeom>
        </p:spPr>
      </p:pic>
    </p:spTree>
    <p:extLst>
      <p:ext uri="{BB962C8B-B14F-4D97-AF65-F5344CB8AC3E}">
        <p14:creationId xmlns:p14="http://schemas.microsoft.com/office/powerpoint/2010/main" val="32040068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Ring of Fire</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B5BD8D29-6F38-46C4-97EA-60BD6A8127BC}"/>
              </a:ext>
            </a:extLst>
          </p:cNvPr>
          <p:cNvSpPr txBox="1"/>
          <p:nvPr/>
        </p:nvSpPr>
        <p:spPr>
          <a:xfrm>
            <a:off x="470154" y="4038600"/>
            <a:ext cx="8213725" cy="1200329"/>
          </a:xfrm>
          <a:prstGeom prst="rect">
            <a:avLst/>
          </a:prstGeom>
          <a:noFill/>
        </p:spPr>
        <p:txBody>
          <a:bodyPr wrap="square">
            <a:spAutoFit/>
          </a:bodyPr>
          <a:lstStyle/>
          <a:p>
            <a:pPr algn="just" fontAlgn="base"/>
            <a:r>
              <a:rPr lang="en-US" sz="2400" b="1" dirty="0">
                <a:solidFill>
                  <a:srgbClr val="000000"/>
                </a:solidFill>
                <a:latin typeface="Arial" panose="020B0604020202020204" pitchFamily="34" charset="0"/>
                <a:cs typeface="Arial" panose="020B0604020202020204" pitchFamily="34" charset="0"/>
              </a:rPr>
              <a:t>S</a:t>
            </a:r>
            <a:r>
              <a:rPr lang="en-US" sz="2400" b="1" i="0" dirty="0">
                <a:solidFill>
                  <a:srgbClr val="000000"/>
                </a:solidFill>
                <a:effectLst/>
                <a:latin typeface="Arial" panose="020B0604020202020204" pitchFamily="34" charset="0"/>
                <a:cs typeface="Arial" panose="020B0604020202020204" pitchFamily="34" charset="0"/>
              </a:rPr>
              <a:t>tratovolcano </a:t>
            </a:r>
            <a:r>
              <a:rPr lang="en-US" sz="2400" b="0" i="0" dirty="0">
                <a:solidFill>
                  <a:srgbClr val="000000"/>
                </a:solidFill>
                <a:effectLst/>
                <a:latin typeface="Arial" panose="020B0604020202020204" pitchFamily="34" charset="0"/>
                <a:cs typeface="Arial" panose="020B0604020202020204" pitchFamily="34" charset="0"/>
              </a:rPr>
              <a:t>(or </a:t>
            </a:r>
            <a:r>
              <a:rPr lang="en-US" sz="2400" b="1" i="0" dirty="0">
                <a:solidFill>
                  <a:srgbClr val="000000"/>
                </a:solidFill>
                <a:effectLst/>
                <a:latin typeface="Arial" panose="020B0604020202020204" pitchFamily="34" charset="0"/>
                <a:cs typeface="Arial" panose="020B0604020202020204" pitchFamily="34" charset="0"/>
              </a:rPr>
              <a:t>composite volcano</a:t>
            </a:r>
            <a:r>
              <a:rPr lang="en-US" sz="2400" b="0" i="0" dirty="0">
                <a:solidFill>
                  <a:srgbClr val="000000"/>
                </a:solidFill>
                <a:effectLst/>
                <a:latin typeface="Arial" panose="020B0604020202020204" pitchFamily="34" charset="0"/>
                <a:cs typeface="Arial" panose="020B0604020202020204" pitchFamily="34" charset="0"/>
              </a:rPr>
              <a:t>) — a conical volcano consisting of layers of solid lava flows mixed with layers of other rock.</a:t>
            </a:r>
          </a:p>
        </p:txBody>
      </p:sp>
      <p:pic>
        <p:nvPicPr>
          <p:cNvPr id="2050" name="Picture 2" descr="Types of volcanoes ">
            <a:extLst>
              <a:ext uri="{FF2B5EF4-FFF2-40B4-BE49-F238E27FC236}">
                <a16:creationId xmlns:a16="http://schemas.microsoft.com/office/drawing/2014/main" id="{64E6455E-09A8-4BCC-BA97-25C5CE29AA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3434" y="1143000"/>
            <a:ext cx="8181975"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6612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Types of Volcanoes</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9" name="Picture 2">
            <a:extLst>
              <a:ext uri="{FF2B5EF4-FFF2-40B4-BE49-F238E27FC236}">
                <a16:creationId xmlns:a16="http://schemas.microsoft.com/office/drawing/2014/main" id="{D47FC023-1C60-4C82-B12B-C8757816F11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tretch/>
        </p:blipFill>
        <p:spPr bwMode="auto">
          <a:xfrm>
            <a:off x="142011" y="1028700"/>
            <a:ext cx="8705850" cy="2857500"/>
          </a:xfrm>
          <a:prstGeom prst="rect">
            <a:avLst/>
          </a:prstGeom>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5BD8D29-6F38-46C4-97EA-60BD6A8127BC}"/>
              </a:ext>
            </a:extLst>
          </p:cNvPr>
          <p:cNvSpPr txBox="1"/>
          <p:nvPr/>
        </p:nvSpPr>
        <p:spPr>
          <a:xfrm>
            <a:off x="296139" y="3810000"/>
            <a:ext cx="8213725" cy="2677656"/>
          </a:xfrm>
          <a:prstGeom prst="rect">
            <a:avLst/>
          </a:prstGeom>
          <a:noFill/>
        </p:spPr>
        <p:txBody>
          <a:bodyPr wrap="square">
            <a:spAutoFit/>
          </a:bodyPr>
          <a:lstStyle/>
          <a:p>
            <a:pPr algn="just" fontAlgn="base"/>
            <a:r>
              <a:rPr lang="en-US" sz="2400" b="1" dirty="0">
                <a:solidFill>
                  <a:srgbClr val="000000"/>
                </a:solidFill>
                <a:latin typeface="Arial" panose="020B0604020202020204" pitchFamily="34" charset="0"/>
                <a:cs typeface="Arial" panose="020B0604020202020204" pitchFamily="34" charset="0"/>
              </a:rPr>
              <a:t>Cinder cone volcano </a:t>
            </a:r>
            <a:r>
              <a:rPr lang="en-US" sz="2400" dirty="0">
                <a:solidFill>
                  <a:srgbClr val="000000"/>
                </a:solidFill>
                <a:latin typeface="Arial" panose="020B0604020202020204" pitchFamily="34" charset="0"/>
                <a:cs typeface="Arial" panose="020B0604020202020204" pitchFamily="34" charset="0"/>
              </a:rPr>
              <a:t>— doesn’t have any horizontal layers and is instead a steep conical hill of tephra (volcanic debris) that accumulates around and downwind from the vent.</a:t>
            </a:r>
          </a:p>
          <a:p>
            <a:pPr marL="342900" indent="-342900" algn="just" fontAlgn="base">
              <a:buFont typeface="Arial" panose="020B0604020202020204" pitchFamily="34" charset="0"/>
              <a:buChar char="•"/>
            </a:pPr>
            <a:r>
              <a:rPr lang="en-US" sz="2400" i="0" dirty="0">
                <a:solidFill>
                  <a:srgbClr val="000000"/>
                </a:solidFill>
                <a:effectLst/>
                <a:latin typeface="Arial" panose="020B0604020202020204" pitchFamily="34" charset="0"/>
                <a:cs typeface="Arial" panose="020B0604020202020204" pitchFamily="34" charset="0"/>
              </a:rPr>
              <a:t>Straight sides (&lt;200m high)</a:t>
            </a:r>
          </a:p>
          <a:p>
            <a:pPr marL="342900" indent="-342900" algn="just" fontAlgn="base">
              <a:buFont typeface="Arial" panose="020B0604020202020204" pitchFamily="34" charset="0"/>
              <a:buChar char="•"/>
            </a:pPr>
            <a:r>
              <a:rPr lang="en-US" sz="2400" dirty="0">
                <a:solidFill>
                  <a:srgbClr val="000000"/>
                </a:solidFill>
                <a:latin typeface="Arial" panose="020B0604020202020204" pitchFamily="34" charset="0"/>
                <a:cs typeface="Arial" panose="020B0604020202020204" pitchFamily="34" charset="0"/>
              </a:rPr>
              <a:t>Loose fragment materials, scoria</a:t>
            </a:r>
            <a:endParaRPr lang="en-US" sz="2400" i="0" dirty="0">
              <a:solidFill>
                <a:srgbClr val="000000"/>
              </a:solidFill>
              <a:effectLst/>
              <a:latin typeface="Arial" panose="020B0604020202020204" pitchFamily="34" charset="0"/>
              <a:cs typeface="Arial" panose="020B0604020202020204" pitchFamily="34" charset="0"/>
            </a:endParaRPr>
          </a:p>
          <a:p>
            <a:pPr marL="342900" indent="-342900" algn="just" fontAlgn="base">
              <a:buFont typeface="Arial" panose="020B0604020202020204" pitchFamily="34" charset="0"/>
              <a:buChar char="•"/>
            </a:pPr>
            <a:endParaRPr lang="en-US" sz="2400" i="0" dirty="0">
              <a:solidFill>
                <a:srgbClr val="000000"/>
              </a:solidFill>
              <a:effectLst/>
              <a:latin typeface="Arial" panose="020B0604020202020204" pitchFamily="34" charset="0"/>
              <a:cs typeface="Arial" panose="020B0604020202020204" pitchFamily="34" charset="0"/>
            </a:endParaRPr>
          </a:p>
        </p:txBody>
      </p:sp>
      <p:pic>
        <p:nvPicPr>
          <p:cNvPr id="8" name="Picture 2">
            <a:extLst>
              <a:ext uri="{FF2B5EF4-FFF2-40B4-BE49-F238E27FC236}">
                <a16:creationId xmlns:a16="http://schemas.microsoft.com/office/drawing/2014/main" id="{5067E204-555E-440F-8E82-9A8B375E1811}"/>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r="66620"/>
          <a:stretch/>
        </p:blipFill>
        <p:spPr bwMode="auto">
          <a:xfrm>
            <a:off x="142011" y="1028700"/>
            <a:ext cx="2905989" cy="2857500"/>
          </a:xfrm>
          <a:prstGeom prst="rect">
            <a:avLst/>
          </a:prstGeom>
          <a:extLst>
            <a:ext uri="{909E8E84-426E-40DD-AFC4-6F175D3DCCD1}">
              <a14:hiddenFill xmlns:a14="http://schemas.microsoft.com/office/drawing/2010/main">
                <a:solidFill>
                  <a:srgbClr val="FFFFFF"/>
                </a:solidFill>
              </a14:hiddenFill>
            </a:ext>
          </a:extLst>
        </p:spPr>
      </p:pic>
      <p:pic>
        <p:nvPicPr>
          <p:cNvPr id="11" name="Picture 2">
            <a:extLst>
              <a:ext uri="{FF2B5EF4-FFF2-40B4-BE49-F238E27FC236}">
                <a16:creationId xmlns:a16="http://schemas.microsoft.com/office/drawing/2014/main" id="{3C442C24-A29F-4E9D-9178-A186499F135F}"/>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l="66620"/>
          <a:stretch/>
        </p:blipFill>
        <p:spPr bwMode="auto">
          <a:xfrm>
            <a:off x="5973107" y="1034254"/>
            <a:ext cx="2905990" cy="2857500"/>
          </a:xfrm>
          <a:prstGeom prst="rect">
            <a:avLst/>
          </a:prstGeom>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7904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44" name="Picture 4" descr="Cinder cone. These small, straight-sided volcanoes are made of volcanic fragments ejected when gas-rich basaltic lava erupts. Sources: Karla Panchuk (2017) CC BY 4.0, with photograph by R. D. Miller, U. S. Geological Survey (1980) Public Domain">
            <a:extLst>
              <a:ext uri="{FF2B5EF4-FFF2-40B4-BE49-F238E27FC236}">
                <a16:creationId xmlns:a16="http://schemas.microsoft.com/office/drawing/2014/main" id="{BA5CF21F-0D4A-47BD-B987-017B5C720B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20650"/>
            <a:ext cx="9205427" cy="6661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8254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Types of Volcanoes</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10" name="TextBox 9">
            <a:extLst>
              <a:ext uri="{FF2B5EF4-FFF2-40B4-BE49-F238E27FC236}">
                <a16:creationId xmlns:a16="http://schemas.microsoft.com/office/drawing/2014/main" id="{B5BD8D29-6F38-46C4-97EA-60BD6A8127BC}"/>
              </a:ext>
            </a:extLst>
          </p:cNvPr>
          <p:cNvSpPr txBox="1"/>
          <p:nvPr/>
        </p:nvSpPr>
        <p:spPr>
          <a:xfrm>
            <a:off x="470154" y="4038600"/>
            <a:ext cx="8213725" cy="1938992"/>
          </a:xfrm>
          <a:prstGeom prst="rect">
            <a:avLst/>
          </a:prstGeom>
          <a:noFill/>
        </p:spPr>
        <p:txBody>
          <a:bodyPr wrap="square">
            <a:spAutoFit/>
          </a:bodyPr>
          <a:lstStyle/>
          <a:p>
            <a:pPr algn="just" fontAlgn="base"/>
            <a:r>
              <a:rPr lang="en-US" sz="2400" b="1" dirty="0">
                <a:solidFill>
                  <a:srgbClr val="000000"/>
                </a:solidFill>
                <a:latin typeface="Arial" panose="020B0604020202020204" pitchFamily="34" charset="0"/>
                <a:cs typeface="Arial" panose="020B0604020202020204" pitchFamily="34" charset="0"/>
              </a:rPr>
              <a:t>shield volcano — </a:t>
            </a:r>
            <a:r>
              <a:rPr lang="en-US" sz="2400" dirty="0">
                <a:solidFill>
                  <a:srgbClr val="000000"/>
                </a:solidFill>
                <a:latin typeface="Arial" panose="020B0604020202020204" pitchFamily="34" charset="0"/>
                <a:cs typeface="Arial" panose="020B0604020202020204" pitchFamily="34" charset="0"/>
              </a:rPr>
              <a:t> a type of volcano built entirely or mostly from fluid lava vents. They are named like this because when viewed from above, you can see just how massive and imposing they are – like a warrior’s shield.</a:t>
            </a:r>
          </a:p>
          <a:p>
            <a:pPr marL="342900" indent="-342900" algn="just" fontAlgn="base">
              <a:buFont typeface="Arial" panose="020B0604020202020204" pitchFamily="34" charset="0"/>
              <a:buChar char="•"/>
            </a:pPr>
            <a:r>
              <a:rPr lang="en-US" sz="2400" i="0" dirty="0">
                <a:solidFill>
                  <a:srgbClr val="000000"/>
                </a:solidFill>
                <a:effectLst/>
                <a:latin typeface="Arial" panose="020B0604020202020204" pitchFamily="34" charset="0"/>
                <a:cs typeface="Arial" panose="020B0604020202020204" pitchFamily="34" charset="0"/>
              </a:rPr>
              <a:t>Low viscosity lava (travel long distance), gentle slope</a:t>
            </a:r>
          </a:p>
        </p:txBody>
      </p:sp>
      <p:pic>
        <p:nvPicPr>
          <p:cNvPr id="12" name="Picture 2">
            <a:extLst>
              <a:ext uri="{FF2B5EF4-FFF2-40B4-BE49-F238E27FC236}">
                <a16:creationId xmlns:a16="http://schemas.microsoft.com/office/drawing/2014/main" id="{0383A1C1-DAB7-441C-AD8E-037996628E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17" y="1008964"/>
            <a:ext cx="870585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a:extLst>
              <a:ext uri="{FF2B5EF4-FFF2-40B4-BE49-F238E27FC236}">
                <a16:creationId xmlns:a16="http://schemas.microsoft.com/office/drawing/2014/main" id="{1AA29813-BDF8-4933-859C-B8D5ACC7966A}"/>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r="33360"/>
          <a:stretch/>
        </p:blipFill>
        <p:spPr bwMode="auto">
          <a:xfrm>
            <a:off x="228600" y="1008964"/>
            <a:ext cx="5801583"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05275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1268" name="Picture 4">
            <a:extLst>
              <a:ext uri="{FF2B5EF4-FFF2-40B4-BE49-F238E27FC236}">
                <a16:creationId xmlns:a16="http://schemas.microsoft.com/office/drawing/2014/main" id="{A8F54DF5-3847-4A16-A5DE-D95493E66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85800"/>
            <a:ext cx="9210745" cy="525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7441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Types of Volcanoes</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1026" name="Picture 2">
            <a:extLst>
              <a:ext uri="{FF2B5EF4-FFF2-40B4-BE49-F238E27FC236}">
                <a16:creationId xmlns:a16="http://schemas.microsoft.com/office/drawing/2014/main" id="{37740E2B-6FF5-4485-BBC2-5B8E15362C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17" y="967993"/>
            <a:ext cx="870585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86209559-ECBB-4599-BF8A-6502A7D6E9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217" y="1008964"/>
            <a:ext cx="8705850" cy="28575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a:extLst>
              <a:ext uri="{FF2B5EF4-FFF2-40B4-BE49-F238E27FC236}">
                <a16:creationId xmlns:a16="http://schemas.microsoft.com/office/drawing/2014/main" id="{D47FC023-1C60-4C82-B12B-C8757816F115}"/>
              </a:ext>
            </a:extLst>
          </p:cNvPr>
          <p:cNvPicPr>
            <a:picLocks noChangeAspect="1" noChangeArrowheads="1"/>
          </p:cNvPicPr>
          <p:nvPr/>
        </p:nvPicPr>
        <p:blipFill rotWithShape="1">
          <a:blip r:embed="rId3">
            <a:duotone>
              <a:schemeClr val="bg2">
                <a:shade val="45000"/>
                <a:satMod val="135000"/>
              </a:schemeClr>
              <a:prstClr val="white"/>
            </a:duotone>
            <a:extLst>
              <a:ext uri="{28A0092B-C50C-407E-A947-70E740481C1C}">
                <a14:useLocalDpi xmlns:a14="http://schemas.microsoft.com/office/drawing/2010/main" val="0"/>
              </a:ext>
            </a:extLst>
          </a:blip>
          <a:srcRect l="34255"/>
          <a:stretch/>
        </p:blipFill>
        <p:spPr bwMode="auto">
          <a:xfrm>
            <a:off x="3124200" y="1028700"/>
            <a:ext cx="5723667" cy="285750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B5BD8D29-6F38-46C4-97EA-60BD6A8127BC}"/>
              </a:ext>
            </a:extLst>
          </p:cNvPr>
          <p:cNvSpPr txBox="1"/>
          <p:nvPr/>
        </p:nvSpPr>
        <p:spPr>
          <a:xfrm>
            <a:off x="470154" y="4038600"/>
            <a:ext cx="8213725" cy="1200329"/>
          </a:xfrm>
          <a:prstGeom prst="rect">
            <a:avLst/>
          </a:prstGeom>
          <a:noFill/>
        </p:spPr>
        <p:txBody>
          <a:bodyPr wrap="square">
            <a:spAutoFit/>
          </a:bodyPr>
          <a:lstStyle/>
          <a:p>
            <a:pPr algn="just" fontAlgn="base"/>
            <a:r>
              <a:rPr lang="en-US" sz="2400" b="1" dirty="0">
                <a:solidFill>
                  <a:srgbClr val="000000"/>
                </a:solidFill>
                <a:latin typeface="Arial" panose="020B0604020202020204" pitchFamily="34" charset="0"/>
                <a:cs typeface="Arial" panose="020B0604020202020204" pitchFamily="34" charset="0"/>
              </a:rPr>
              <a:t>S</a:t>
            </a:r>
            <a:r>
              <a:rPr lang="en-US" sz="2400" b="1" i="0" dirty="0">
                <a:solidFill>
                  <a:srgbClr val="000000"/>
                </a:solidFill>
                <a:effectLst/>
                <a:latin typeface="Arial" panose="020B0604020202020204" pitchFamily="34" charset="0"/>
                <a:cs typeface="Arial" panose="020B0604020202020204" pitchFamily="34" charset="0"/>
              </a:rPr>
              <a:t>tratovolcano </a:t>
            </a:r>
            <a:r>
              <a:rPr lang="en-US" sz="2400" b="0" i="0" dirty="0">
                <a:solidFill>
                  <a:srgbClr val="000000"/>
                </a:solidFill>
                <a:effectLst/>
                <a:latin typeface="Arial" panose="020B0604020202020204" pitchFamily="34" charset="0"/>
                <a:cs typeface="Arial" panose="020B0604020202020204" pitchFamily="34" charset="0"/>
              </a:rPr>
              <a:t>(or </a:t>
            </a:r>
            <a:r>
              <a:rPr lang="en-US" sz="2400" b="1" i="0" dirty="0">
                <a:solidFill>
                  <a:srgbClr val="000000"/>
                </a:solidFill>
                <a:effectLst/>
                <a:latin typeface="Arial" panose="020B0604020202020204" pitchFamily="34" charset="0"/>
                <a:cs typeface="Arial" panose="020B0604020202020204" pitchFamily="34" charset="0"/>
              </a:rPr>
              <a:t>composite volcano</a:t>
            </a:r>
            <a:r>
              <a:rPr lang="en-US" sz="2400" b="0" i="0" dirty="0">
                <a:solidFill>
                  <a:srgbClr val="000000"/>
                </a:solidFill>
                <a:effectLst/>
                <a:latin typeface="Arial" panose="020B0604020202020204" pitchFamily="34" charset="0"/>
                <a:cs typeface="Arial" panose="020B0604020202020204" pitchFamily="34" charset="0"/>
              </a:rPr>
              <a:t>) — a conical volcano consisting of layers of solid lava flows mixed with layers of other rock.</a:t>
            </a:r>
          </a:p>
        </p:txBody>
      </p:sp>
    </p:spTree>
    <p:extLst>
      <p:ext uri="{BB962C8B-B14F-4D97-AF65-F5344CB8AC3E}">
        <p14:creationId xmlns:p14="http://schemas.microsoft.com/office/powerpoint/2010/main" val="1319639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196" name="Picture 4" descr="Composite volcano. Cotopaxi in Ecuador exhibits the upward-steepening cone characteristic of composite volcanoes. Diagram of a composite volcano showing alternating layers of lava and tephra. &lt;em&gt;Sources: Top- Photo by Simon Matzinger (2014) CC BY 2.0. Bottom: Karla Panchuk (2017) CC BY 4.0.">
            <a:extLst>
              <a:ext uri="{FF2B5EF4-FFF2-40B4-BE49-F238E27FC236}">
                <a16:creationId xmlns:a16="http://schemas.microsoft.com/office/drawing/2014/main" id="{AFA5112D-5A0D-4743-B8EB-5840B628D0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30213"/>
            <a:ext cx="9144000" cy="5995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593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The Pacific Ocean is dotted with hot spots. The abrupt right turn taken by the Hawaiian Ridge-Emperor Seamount chain shows how the direction of plate motion changed while the hot spot remained relatively stationary.&#10;">
            <a:extLst>
              <a:ext uri="{FF2B5EF4-FFF2-40B4-BE49-F238E27FC236}">
                <a16:creationId xmlns:a16="http://schemas.microsoft.com/office/drawing/2014/main" id="{F0AEAD8C-0E40-469C-8765-4F920196A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533400"/>
            <a:ext cx="8886967" cy="5892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37663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Hot Spots</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5" name="Picture 4" descr="Graphical user interface, application, PowerPoint&#10;&#10;Description automatically generated">
            <a:extLst>
              <a:ext uri="{FF2B5EF4-FFF2-40B4-BE49-F238E27FC236}">
                <a16:creationId xmlns:a16="http://schemas.microsoft.com/office/drawing/2014/main" id="{B4B06741-EA1E-D9FE-8C1B-FD2503AB33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 y="1502664"/>
            <a:ext cx="8912352" cy="4517136"/>
          </a:xfrm>
          <a:prstGeom prst="rect">
            <a:avLst/>
          </a:prstGeom>
        </p:spPr>
      </p:pic>
    </p:spTree>
    <p:extLst>
      <p:ext uri="{BB962C8B-B14F-4D97-AF65-F5344CB8AC3E}">
        <p14:creationId xmlns:p14="http://schemas.microsoft.com/office/powerpoint/2010/main" val="2456246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Faults</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7" name="TextBox 6">
            <a:extLst>
              <a:ext uri="{FF2B5EF4-FFF2-40B4-BE49-F238E27FC236}">
                <a16:creationId xmlns:a16="http://schemas.microsoft.com/office/drawing/2014/main" id="{B653A715-D270-4D9F-BD1C-01E6570091CB}"/>
              </a:ext>
            </a:extLst>
          </p:cNvPr>
          <p:cNvSpPr txBox="1"/>
          <p:nvPr/>
        </p:nvSpPr>
        <p:spPr>
          <a:xfrm>
            <a:off x="762000" y="1600200"/>
            <a:ext cx="8458200" cy="3046988"/>
          </a:xfrm>
          <a:prstGeom prst="rect">
            <a:avLst/>
          </a:prstGeom>
          <a:noFill/>
        </p:spPr>
        <p:txBody>
          <a:bodyPr wrap="square">
            <a:spAutoFit/>
          </a:bodyPr>
          <a:lstStyle/>
          <a:p>
            <a:r>
              <a:rPr lang="en-US" sz="2400" b="1" dirty="0">
                <a:latin typeface="Arial" panose="020B0604020202020204" pitchFamily="34" charset="0"/>
                <a:cs typeface="Arial" panose="020B0604020202020204" pitchFamily="34" charset="0"/>
              </a:rPr>
              <a:t>Fault:</a:t>
            </a:r>
            <a:r>
              <a:rPr lang="en-US" sz="2400" dirty="0">
                <a:latin typeface="Arial" panose="020B0604020202020204" pitchFamily="34" charset="0"/>
                <a:cs typeface="Arial" panose="020B0604020202020204" pitchFamily="34" charset="0"/>
              </a:rPr>
              <a:t> Fracture in the lithosphere (continental crust)</a:t>
            </a:r>
          </a:p>
          <a:p>
            <a:pPr marL="457200" indent="-457200">
              <a:buAutoNum type="arabicPeriod"/>
            </a:pPr>
            <a:endParaRPr lang="en-US" sz="2400" b="1" i="0" dirty="0">
              <a:effectLst/>
              <a:latin typeface="Arial" panose="020B0604020202020204" pitchFamily="34" charset="0"/>
              <a:cs typeface="Arial" panose="020B0604020202020204" pitchFamily="34" charset="0"/>
            </a:endParaRPr>
          </a:p>
          <a:p>
            <a:pPr marL="457200" indent="-457200">
              <a:buAutoNum type="arabicPeriod"/>
            </a:pPr>
            <a:r>
              <a:rPr lang="en-US" sz="2400" i="0" dirty="0">
                <a:effectLst/>
                <a:latin typeface="Arial" panose="020B0604020202020204" pitchFamily="34" charset="0"/>
                <a:cs typeface="Arial" panose="020B0604020202020204" pitchFamily="34" charset="0"/>
              </a:rPr>
              <a:t>Convergent boundaries</a:t>
            </a:r>
            <a:r>
              <a:rPr lang="en-US" sz="2400" dirty="0">
                <a:latin typeface="Arial" panose="020B0604020202020204" pitchFamily="34" charset="0"/>
                <a:cs typeface="Arial" panose="020B0604020202020204" pitchFamily="34" charset="0"/>
              </a:rPr>
              <a:t> – </a:t>
            </a:r>
            <a:r>
              <a:rPr lang="en-US" sz="2400" b="1" i="0" dirty="0">
                <a:effectLst/>
                <a:latin typeface="Arial" panose="020B0604020202020204" pitchFamily="34" charset="0"/>
                <a:cs typeface="Arial" panose="020B0604020202020204" pitchFamily="34" charset="0"/>
              </a:rPr>
              <a:t>Reverse fault</a:t>
            </a: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r>
              <a:rPr lang="en-US" sz="2400" dirty="0">
                <a:latin typeface="Arial" panose="020B0604020202020204" pitchFamily="34" charset="0"/>
                <a:cs typeface="Arial" panose="020B0604020202020204" pitchFamily="34" charset="0"/>
              </a:rPr>
              <a:t>Divergent boundaries – </a:t>
            </a:r>
            <a:r>
              <a:rPr lang="en-US" sz="2400" b="1" dirty="0">
                <a:latin typeface="Arial" panose="020B0604020202020204" pitchFamily="34" charset="0"/>
                <a:cs typeface="Arial" panose="020B0604020202020204" pitchFamily="34" charset="0"/>
              </a:rPr>
              <a:t>Normal fault</a:t>
            </a:r>
          </a:p>
          <a:p>
            <a:pPr marL="457200" indent="-457200">
              <a:buAutoNum type="arabicPeriod"/>
            </a:pPr>
            <a:endParaRPr lang="en-US" sz="2400" dirty="0">
              <a:latin typeface="Arial" panose="020B0604020202020204" pitchFamily="34" charset="0"/>
              <a:cs typeface="Arial" panose="020B0604020202020204" pitchFamily="34" charset="0"/>
            </a:endParaRPr>
          </a:p>
          <a:p>
            <a:pPr marL="457200" indent="-457200">
              <a:buAutoNum type="arabicPeriod"/>
            </a:pPr>
            <a:r>
              <a:rPr lang="en-US" sz="2400" i="0" dirty="0">
                <a:effectLst/>
                <a:latin typeface="Arial" panose="020B0604020202020204" pitchFamily="34" charset="0"/>
              </a:rPr>
              <a:t>Transform boundaries </a:t>
            </a:r>
            <a:r>
              <a:rPr lang="en-US" sz="2400" b="0" i="0" dirty="0">
                <a:effectLst/>
                <a:latin typeface="Arial" panose="020B0604020202020204" pitchFamily="34" charset="0"/>
              </a:rPr>
              <a:t>– </a:t>
            </a:r>
            <a:r>
              <a:rPr lang="en-US" sz="2400" b="1" i="0" dirty="0">
                <a:effectLst/>
                <a:latin typeface="Arial" panose="020B0604020202020204" pitchFamily="34" charset="0"/>
              </a:rPr>
              <a:t>Strike-Slip fault</a:t>
            </a:r>
          </a:p>
          <a:p>
            <a:pPr marL="457200" indent="-457200">
              <a:buAutoNum type="arabicPeriod"/>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26908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281E8487-64E6-B84E-EB33-DDEC626E20BB}"/>
              </a:ext>
            </a:extLst>
          </p:cNvPr>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Faults</a:t>
            </a:r>
            <a:endParaRPr lang="en-US" dirty="0"/>
          </a:p>
        </p:txBody>
      </p:sp>
      <p:sp>
        <p:nvSpPr>
          <p:cNvPr id="7" name="object 4">
            <a:extLst>
              <a:ext uri="{FF2B5EF4-FFF2-40B4-BE49-F238E27FC236}">
                <a16:creationId xmlns:a16="http://schemas.microsoft.com/office/drawing/2014/main" id="{0B90DC45-8358-F176-A86F-7173B2CCF8E7}"/>
              </a:ext>
            </a:extLst>
          </p:cNvPr>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10" name="Picture 9" descr="A picture containing text, businesscard&#10;&#10;Description automatically generated">
            <a:extLst>
              <a:ext uri="{FF2B5EF4-FFF2-40B4-BE49-F238E27FC236}">
                <a16:creationId xmlns:a16="http://schemas.microsoft.com/office/drawing/2014/main" id="{662ABD67-7B3C-BDF6-37FD-3E807FF30D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600200"/>
            <a:ext cx="7086600" cy="2025934"/>
          </a:xfrm>
          <a:prstGeom prst="rect">
            <a:avLst/>
          </a:prstGeom>
        </p:spPr>
      </p:pic>
      <p:pic>
        <p:nvPicPr>
          <p:cNvPr id="12" name="Picture 11" descr="Diagram, shape&#10;&#10;Description automatically generated">
            <a:extLst>
              <a:ext uri="{FF2B5EF4-FFF2-40B4-BE49-F238E27FC236}">
                <a16:creationId xmlns:a16="http://schemas.microsoft.com/office/drawing/2014/main" id="{01BD56B6-2568-F9F9-D864-BBCDE1B91C39}"/>
              </a:ext>
            </a:extLst>
          </p:cNvPr>
          <p:cNvPicPr>
            <a:picLocks noChangeAspect="1"/>
          </p:cNvPicPr>
          <p:nvPr/>
        </p:nvPicPr>
        <p:blipFill rotWithShape="1">
          <a:blip r:embed="rId3">
            <a:extLst>
              <a:ext uri="{28A0092B-C50C-407E-A947-70E740481C1C}">
                <a14:useLocalDpi xmlns:a14="http://schemas.microsoft.com/office/drawing/2010/main" val="0"/>
              </a:ext>
            </a:extLst>
          </a:blip>
          <a:srcRect t="15184" b="54804"/>
          <a:stretch/>
        </p:blipFill>
        <p:spPr>
          <a:xfrm>
            <a:off x="609600" y="3733800"/>
            <a:ext cx="7871005" cy="2362200"/>
          </a:xfrm>
          <a:prstGeom prst="rect">
            <a:avLst/>
          </a:prstGeom>
        </p:spPr>
      </p:pic>
    </p:spTree>
    <p:extLst>
      <p:ext uri="{BB962C8B-B14F-4D97-AF65-F5344CB8AC3E}">
        <p14:creationId xmlns:p14="http://schemas.microsoft.com/office/powerpoint/2010/main" val="4622391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standing next to a large rock&#10;&#10;Description automatically generated with low confidence">
            <a:extLst>
              <a:ext uri="{FF2B5EF4-FFF2-40B4-BE49-F238E27FC236}">
                <a16:creationId xmlns:a16="http://schemas.microsoft.com/office/drawing/2014/main" id="{41A6A042-63A9-6859-F78C-3771B694AF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 y="914400"/>
            <a:ext cx="6781800" cy="5096042"/>
          </a:xfrm>
          <a:prstGeom prst="rect">
            <a:avLst/>
          </a:prstGeom>
        </p:spPr>
      </p:pic>
      <p:sp>
        <p:nvSpPr>
          <p:cNvPr id="6" name="Arrow: Right 5">
            <a:extLst>
              <a:ext uri="{FF2B5EF4-FFF2-40B4-BE49-F238E27FC236}">
                <a16:creationId xmlns:a16="http://schemas.microsoft.com/office/drawing/2014/main" id="{504E630D-80BB-E75C-C475-CD3AB1988D1C}"/>
              </a:ext>
            </a:extLst>
          </p:cNvPr>
          <p:cNvSpPr/>
          <p:nvPr/>
        </p:nvSpPr>
        <p:spPr>
          <a:xfrm rot="2668928">
            <a:off x="3415788" y="2833322"/>
            <a:ext cx="1905000" cy="306295"/>
          </a:xfrm>
          <a:prstGeom prst="rightArrow">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9FCC6442-8359-EC5B-37C7-35D4C030E948}"/>
              </a:ext>
            </a:extLst>
          </p:cNvPr>
          <p:cNvSpPr/>
          <p:nvPr/>
        </p:nvSpPr>
        <p:spPr>
          <a:xfrm rot="13517633">
            <a:off x="2501388" y="3442923"/>
            <a:ext cx="1905000" cy="306295"/>
          </a:xfrm>
          <a:prstGeom prst="rightArrow">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00726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text&#10;&#10;Description automatically generated">
            <a:extLst>
              <a:ext uri="{FF2B5EF4-FFF2-40B4-BE49-F238E27FC236}">
                <a16:creationId xmlns:a16="http://schemas.microsoft.com/office/drawing/2014/main" id="{F2D23F89-2932-D006-8047-BF2970A4F608}"/>
              </a:ext>
            </a:extLst>
          </p:cNvPr>
          <p:cNvPicPr>
            <a:picLocks noChangeAspect="1"/>
          </p:cNvPicPr>
          <p:nvPr/>
        </p:nvPicPr>
        <p:blipFill rotWithShape="1">
          <a:blip r:embed="rId3">
            <a:extLst>
              <a:ext uri="{28A0092B-C50C-407E-A947-70E740481C1C}">
                <a14:useLocalDpi xmlns:a14="http://schemas.microsoft.com/office/drawing/2010/main" val="0"/>
              </a:ext>
            </a:extLst>
          </a:blip>
          <a:srcRect b="8048"/>
          <a:stretch/>
        </p:blipFill>
        <p:spPr>
          <a:xfrm>
            <a:off x="0" y="591520"/>
            <a:ext cx="9144000" cy="5218266"/>
          </a:xfrm>
          <a:prstGeom prst="rect">
            <a:avLst/>
          </a:prstGeom>
        </p:spPr>
      </p:pic>
    </p:spTree>
    <p:extLst>
      <p:ext uri="{BB962C8B-B14F-4D97-AF65-F5344CB8AC3E}">
        <p14:creationId xmlns:p14="http://schemas.microsoft.com/office/powerpoint/2010/main" val="28939288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Earthquakes</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7" name="TextBox 6">
            <a:extLst>
              <a:ext uri="{FF2B5EF4-FFF2-40B4-BE49-F238E27FC236}">
                <a16:creationId xmlns:a16="http://schemas.microsoft.com/office/drawing/2014/main" id="{AA7C64CA-9839-455F-8C55-FDF0E19FBD75}"/>
              </a:ext>
            </a:extLst>
          </p:cNvPr>
          <p:cNvSpPr txBox="1"/>
          <p:nvPr/>
        </p:nvSpPr>
        <p:spPr>
          <a:xfrm>
            <a:off x="470153" y="1371600"/>
            <a:ext cx="8213725" cy="4401205"/>
          </a:xfrm>
          <a:prstGeom prst="rect">
            <a:avLst/>
          </a:prstGeom>
          <a:noFill/>
        </p:spPr>
        <p:txBody>
          <a:bodyPr wrap="square">
            <a:spAutoFit/>
          </a:bodyPr>
          <a:lstStyle/>
          <a:p>
            <a:pPr marL="285750" indent="-285750">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Faulting = Earthquakes</a:t>
            </a:r>
          </a:p>
          <a:p>
            <a:pPr marL="285750" indent="-285750">
              <a:buFont typeface="Arial" panose="020B0604020202020204" pitchFamily="34" charset="0"/>
              <a:buChar char="•"/>
            </a:pPr>
            <a:endParaRPr lang="en-US" sz="2000" b="0" i="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Earthquakes are measured by their </a:t>
            </a:r>
            <a:r>
              <a:rPr lang="en-US" sz="2000" b="1" i="0" dirty="0">
                <a:effectLst/>
                <a:latin typeface="Arial" panose="020B0604020202020204" pitchFamily="34" charset="0"/>
                <a:cs typeface="Arial" panose="020B0604020202020204" pitchFamily="34" charset="0"/>
              </a:rPr>
              <a:t>magnitude </a:t>
            </a:r>
            <a:r>
              <a:rPr lang="en-US" sz="2000" i="0" dirty="0">
                <a:effectLst/>
                <a:latin typeface="Arial" panose="020B0604020202020204" pitchFamily="34" charset="0"/>
                <a:cs typeface="Arial" panose="020B0604020202020204" pitchFamily="34" charset="0"/>
              </a:rPr>
              <a:t>and </a:t>
            </a:r>
            <a:r>
              <a:rPr lang="en-US" sz="2000" b="1" i="0" dirty="0">
                <a:effectLst/>
                <a:latin typeface="Arial" panose="020B0604020202020204" pitchFamily="34" charset="0"/>
                <a:cs typeface="Arial" panose="020B0604020202020204" pitchFamily="34" charset="0"/>
              </a:rPr>
              <a:t>intensity</a:t>
            </a:r>
            <a:endParaRPr lang="en-US" sz="2000" b="0" i="0" dirty="0">
              <a:effectLst/>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b="1" i="0" dirty="0">
                <a:effectLst/>
                <a:latin typeface="Arial" panose="020B0604020202020204" pitchFamily="34" charset="0"/>
                <a:cs typeface="Arial" panose="020B0604020202020204" pitchFamily="34" charset="0"/>
              </a:rPr>
              <a:t>Magnitude</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M</a:t>
            </a:r>
            <a:r>
              <a:rPr lang="en-US" sz="2000" b="0" i="0" dirty="0">
                <a:effectLst/>
                <a:latin typeface="Arial" panose="020B0604020202020204" pitchFamily="34" charset="0"/>
                <a:cs typeface="Arial" panose="020B0604020202020204" pitchFamily="34" charset="0"/>
              </a:rPr>
              <a:t>easures the </a:t>
            </a:r>
            <a:r>
              <a:rPr lang="en-US" sz="2000" b="1" i="0" dirty="0">
                <a:solidFill>
                  <a:srgbClr val="C00000"/>
                </a:solidFill>
                <a:effectLst/>
                <a:latin typeface="Arial" panose="020B0604020202020204" pitchFamily="34" charset="0"/>
                <a:cs typeface="Arial" panose="020B0604020202020204" pitchFamily="34" charset="0"/>
              </a:rPr>
              <a:t>energy released </a:t>
            </a:r>
            <a:r>
              <a:rPr lang="en-US" sz="2000" b="0" i="0" dirty="0">
                <a:effectLst/>
                <a:latin typeface="Arial" panose="020B0604020202020204" pitchFamily="34" charset="0"/>
                <a:cs typeface="Arial" panose="020B0604020202020204" pitchFamily="34" charset="0"/>
              </a:rPr>
              <a:t>at the source of the earthquake </a:t>
            </a:r>
          </a:p>
          <a:p>
            <a:pPr marL="742950" lvl="1" indent="-285750">
              <a:buFont typeface="Arial" panose="020B0604020202020204" pitchFamily="34" charset="0"/>
              <a:buChar char="•"/>
            </a:pPr>
            <a:r>
              <a:rPr lang="en-US" sz="2000" i="0" dirty="0">
                <a:effectLst/>
                <a:latin typeface="Arial" panose="020B0604020202020204" pitchFamily="34" charset="0"/>
                <a:cs typeface="Arial" panose="020B0604020202020204" pitchFamily="34" charset="0"/>
              </a:rPr>
              <a:t>Measured </a:t>
            </a:r>
            <a:r>
              <a:rPr lang="en-US" sz="2000" dirty="0">
                <a:latin typeface="Arial" panose="020B0604020202020204" pitchFamily="34" charset="0"/>
                <a:cs typeface="Arial" panose="020B0604020202020204" pitchFamily="34" charset="0"/>
              </a:rPr>
              <a:t>from </a:t>
            </a:r>
            <a:r>
              <a:rPr lang="en-US" sz="2000" b="1" i="0" dirty="0">
                <a:effectLst/>
                <a:latin typeface="Arial" panose="020B0604020202020204" pitchFamily="34" charset="0"/>
                <a:cs typeface="Arial" panose="020B0604020202020204" pitchFamily="34" charset="0"/>
              </a:rPr>
              <a:t>seismographs</a:t>
            </a:r>
            <a:r>
              <a:rPr lang="en-US" sz="2000" b="0" i="0" dirty="0">
                <a:effectLst/>
                <a:latin typeface="Arial" panose="020B0604020202020204" pitchFamily="34" charset="0"/>
                <a:cs typeface="Arial" panose="020B0604020202020204" pitchFamily="34" charset="0"/>
              </a:rPr>
              <a:t> and quantified on the </a:t>
            </a:r>
            <a:r>
              <a:rPr lang="en-US" sz="2000" b="1" i="0" dirty="0">
                <a:effectLst/>
                <a:latin typeface="Arial" panose="020B0604020202020204" pitchFamily="34" charset="0"/>
                <a:cs typeface="Arial" panose="020B0604020202020204" pitchFamily="34" charset="0"/>
              </a:rPr>
              <a:t>Richter Scale</a:t>
            </a:r>
          </a:p>
          <a:p>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b="1" i="0" dirty="0">
                <a:effectLst/>
                <a:latin typeface="Arial" panose="020B0604020202020204" pitchFamily="34" charset="0"/>
                <a:cs typeface="Arial" panose="020B0604020202020204" pitchFamily="34" charset="0"/>
              </a:rPr>
              <a:t>Intensity</a:t>
            </a:r>
            <a:r>
              <a:rPr lang="en-US" sz="2000" b="0" i="0" dirty="0">
                <a:effectLst/>
                <a:latin typeface="Arial" panose="020B0604020202020204" pitchFamily="34" charset="0"/>
                <a:cs typeface="Arial" panose="020B0604020202020204" pitchFamily="34" charset="0"/>
              </a:rPr>
              <a:t> </a:t>
            </a:r>
          </a:p>
          <a:p>
            <a:pPr marL="742950" lvl="1"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M</a:t>
            </a:r>
            <a:r>
              <a:rPr lang="en-US" sz="2000" b="0" i="0" dirty="0">
                <a:effectLst/>
                <a:latin typeface="Arial" panose="020B0604020202020204" pitchFamily="34" charset="0"/>
                <a:cs typeface="Arial" panose="020B0604020202020204" pitchFamily="34" charset="0"/>
              </a:rPr>
              <a:t>easures the </a:t>
            </a:r>
            <a:r>
              <a:rPr lang="en-US" sz="2000" b="1" i="0" dirty="0">
                <a:solidFill>
                  <a:srgbClr val="C00000"/>
                </a:solidFill>
                <a:effectLst/>
                <a:latin typeface="Arial" panose="020B0604020202020204" pitchFamily="34" charset="0"/>
                <a:cs typeface="Arial" panose="020B0604020202020204" pitchFamily="34" charset="0"/>
              </a:rPr>
              <a:t>strength of shaking </a:t>
            </a:r>
            <a:r>
              <a:rPr lang="en-US" sz="2000" b="0" i="0" dirty="0">
                <a:effectLst/>
                <a:latin typeface="Arial" panose="020B0604020202020204" pitchFamily="34" charset="0"/>
                <a:cs typeface="Arial" panose="020B0604020202020204" pitchFamily="34" charset="0"/>
              </a:rPr>
              <a:t>produced by the earthquake at a certain location </a:t>
            </a:r>
          </a:p>
          <a:p>
            <a:pPr marL="742950" lvl="1" indent="-285750">
              <a:buFont typeface="Arial" panose="020B0604020202020204" pitchFamily="34" charset="0"/>
              <a:buChar char="•"/>
            </a:pPr>
            <a:r>
              <a:rPr lang="en-US" sz="2000" b="0" i="0" dirty="0">
                <a:effectLst/>
                <a:latin typeface="Arial" panose="020B0604020202020204" pitchFamily="34" charset="0"/>
                <a:cs typeface="Arial" panose="020B0604020202020204" pitchFamily="34" charset="0"/>
              </a:rPr>
              <a:t>Determined by </a:t>
            </a:r>
            <a:r>
              <a:rPr lang="en-US" sz="2000" b="1" i="0" dirty="0">
                <a:effectLst/>
                <a:latin typeface="Arial" panose="020B0604020202020204" pitchFamily="34" charset="0"/>
                <a:cs typeface="Arial" panose="020B0604020202020204" pitchFamily="34" charset="0"/>
              </a:rPr>
              <a:t>its effect </a:t>
            </a:r>
            <a:r>
              <a:rPr lang="en-US" sz="2000" i="0" dirty="0">
                <a:effectLst/>
                <a:latin typeface="Arial" panose="020B0604020202020204" pitchFamily="34" charset="0"/>
                <a:cs typeface="Arial" panose="020B0604020202020204" pitchFamily="34" charset="0"/>
              </a:rPr>
              <a:t>on people, human structures, and the natural environment.</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860840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BE122D-7A85-40DD-A079-E2AF9E6257AF}"/>
              </a:ext>
            </a:extLst>
          </p:cNvPr>
          <p:cNvPicPr>
            <a:picLocks noChangeAspect="1"/>
          </p:cNvPicPr>
          <p:nvPr/>
        </p:nvPicPr>
        <p:blipFill rotWithShape="1">
          <a:blip r:embed="rId3"/>
          <a:srcRect b="8889"/>
          <a:stretch/>
        </p:blipFill>
        <p:spPr>
          <a:xfrm>
            <a:off x="381000" y="304800"/>
            <a:ext cx="8172450" cy="5956808"/>
          </a:xfrm>
          <a:prstGeom prst="rect">
            <a:avLst/>
          </a:prstGeom>
        </p:spPr>
      </p:pic>
    </p:spTree>
    <p:extLst>
      <p:ext uri="{BB962C8B-B14F-4D97-AF65-F5344CB8AC3E}">
        <p14:creationId xmlns:p14="http://schemas.microsoft.com/office/powerpoint/2010/main" val="21872569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Seismograph</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5" name="Picture 4" descr="Diagram, schematic&#10;&#10;Description automatically generated">
            <a:extLst>
              <a:ext uri="{FF2B5EF4-FFF2-40B4-BE49-F238E27FC236}">
                <a16:creationId xmlns:a16="http://schemas.microsoft.com/office/drawing/2014/main" id="{A09CEDFD-9580-D421-C37C-22B9C876A6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00200" y="1371600"/>
            <a:ext cx="6172200" cy="4678926"/>
          </a:xfrm>
          <a:prstGeom prst="rect">
            <a:avLst/>
          </a:prstGeom>
        </p:spPr>
      </p:pic>
    </p:spTree>
    <p:extLst>
      <p:ext uri="{BB962C8B-B14F-4D97-AF65-F5344CB8AC3E}">
        <p14:creationId xmlns:p14="http://schemas.microsoft.com/office/powerpoint/2010/main" val="4045900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Seismograph</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5" name="Picture 4" descr="Chart&#10;&#10;Description automatically generated">
            <a:extLst>
              <a:ext uri="{FF2B5EF4-FFF2-40B4-BE49-F238E27FC236}">
                <a16:creationId xmlns:a16="http://schemas.microsoft.com/office/drawing/2014/main" id="{D26EF33E-2465-BAC6-EC6B-53EE4E1FAC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400" y="1752600"/>
            <a:ext cx="7058526" cy="3657600"/>
          </a:xfrm>
          <a:prstGeom prst="rect">
            <a:avLst/>
          </a:prstGeom>
        </p:spPr>
      </p:pic>
      <p:sp>
        <p:nvSpPr>
          <p:cNvPr id="6" name="TextBox 5">
            <a:extLst>
              <a:ext uri="{FF2B5EF4-FFF2-40B4-BE49-F238E27FC236}">
                <a16:creationId xmlns:a16="http://schemas.microsoft.com/office/drawing/2014/main" id="{3991C87F-FDBD-C8FB-083A-8211EAC31748}"/>
              </a:ext>
            </a:extLst>
          </p:cNvPr>
          <p:cNvSpPr txBox="1"/>
          <p:nvPr/>
        </p:nvSpPr>
        <p:spPr>
          <a:xfrm>
            <a:off x="1524000" y="2057400"/>
            <a:ext cx="1371600" cy="369332"/>
          </a:xfrm>
          <a:prstGeom prst="rect">
            <a:avLst/>
          </a:prstGeom>
          <a:noFill/>
        </p:spPr>
        <p:txBody>
          <a:bodyPr wrap="square" rtlCol="0">
            <a:spAutoFit/>
          </a:bodyPr>
          <a:lstStyle/>
          <a:p>
            <a:r>
              <a:rPr lang="en-US" dirty="0"/>
              <a:t>(primary)</a:t>
            </a:r>
          </a:p>
        </p:txBody>
      </p:sp>
      <p:sp>
        <p:nvSpPr>
          <p:cNvPr id="9" name="TextBox 8">
            <a:extLst>
              <a:ext uri="{FF2B5EF4-FFF2-40B4-BE49-F238E27FC236}">
                <a16:creationId xmlns:a16="http://schemas.microsoft.com/office/drawing/2014/main" id="{80996020-E846-B915-BA8B-CA006067C4AE}"/>
              </a:ext>
            </a:extLst>
          </p:cNvPr>
          <p:cNvSpPr txBox="1"/>
          <p:nvPr/>
        </p:nvSpPr>
        <p:spPr>
          <a:xfrm>
            <a:off x="3352800" y="2133600"/>
            <a:ext cx="1371600" cy="369332"/>
          </a:xfrm>
          <a:prstGeom prst="rect">
            <a:avLst/>
          </a:prstGeom>
          <a:noFill/>
        </p:spPr>
        <p:txBody>
          <a:bodyPr wrap="square" rtlCol="0">
            <a:spAutoFit/>
          </a:bodyPr>
          <a:lstStyle/>
          <a:p>
            <a:r>
              <a:rPr lang="en-US" dirty="0"/>
              <a:t>(secondary)</a:t>
            </a:r>
          </a:p>
        </p:txBody>
      </p:sp>
    </p:spTree>
    <p:extLst>
      <p:ext uri="{BB962C8B-B14F-4D97-AF65-F5344CB8AC3E}">
        <p14:creationId xmlns:p14="http://schemas.microsoft.com/office/powerpoint/2010/main" val="593712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The Richter Scale</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sp>
        <p:nvSpPr>
          <p:cNvPr id="7" name="TextBox 6">
            <a:extLst>
              <a:ext uri="{FF2B5EF4-FFF2-40B4-BE49-F238E27FC236}">
                <a16:creationId xmlns:a16="http://schemas.microsoft.com/office/drawing/2014/main" id="{AA7C64CA-9839-455F-8C55-FDF0E19FBD75}"/>
              </a:ext>
            </a:extLst>
          </p:cNvPr>
          <p:cNvSpPr txBox="1"/>
          <p:nvPr/>
        </p:nvSpPr>
        <p:spPr>
          <a:xfrm>
            <a:off x="470153" y="1371600"/>
            <a:ext cx="8213725" cy="2031325"/>
          </a:xfrm>
          <a:prstGeom prst="rect">
            <a:avLst/>
          </a:prstGeom>
          <a:noFill/>
        </p:spPr>
        <p:txBody>
          <a:bodyPr wrap="square">
            <a:spAutoFit/>
          </a:bodyPr>
          <a:lstStyle/>
          <a:p>
            <a:pPr algn="just"/>
            <a:r>
              <a:rPr lang="en-US" b="0" i="0" dirty="0">
                <a:effectLst/>
                <a:latin typeface="Arial" panose="020B0604020202020204" pitchFamily="34" charset="0"/>
                <a:cs typeface="Arial" panose="020B0604020202020204" pitchFamily="34" charset="0"/>
              </a:rPr>
              <a:t>The Richter scale was invented by Charles F. Richter in 1934, in order to measure an earthquake's magnitude ( force ), calculated form the amplitude of the strongest seismic wave recorded for a specific earthquake.</a:t>
            </a:r>
          </a:p>
          <a:p>
            <a:pPr algn="just"/>
            <a:endParaRPr lang="en-US" dirty="0">
              <a:solidFill>
                <a:schemeClr val="accent3">
                  <a:lumMod val="50000"/>
                </a:schemeClr>
              </a:solidFill>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 Richter scale is calculated by measuring the time between the Primary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 P ) and Secondary ( S ) waves of the earthquake - also giving us an approximate distance to the focus of the quake.</a:t>
            </a:r>
          </a:p>
        </p:txBody>
      </p:sp>
      <p:pic>
        <p:nvPicPr>
          <p:cNvPr id="24578" name="Picture 2">
            <a:extLst>
              <a:ext uri="{FF2B5EF4-FFF2-40B4-BE49-F238E27FC236}">
                <a16:creationId xmlns:a16="http://schemas.microsoft.com/office/drawing/2014/main" id="{091AD3B5-4DA0-4CBF-920B-3C5031E6D1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3581400"/>
            <a:ext cx="7112750" cy="255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07772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6182" y="218874"/>
            <a:ext cx="5709920" cy="513080"/>
          </a:xfrm>
          <a:prstGeom prst="rect">
            <a:avLst/>
          </a:prstGeom>
        </p:spPr>
        <p:txBody>
          <a:bodyPr vert="horz" wrap="square" lIns="0" tIns="12065" rIns="0" bIns="0" rtlCol="0" anchor="t">
            <a:spAutoFit/>
          </a:bodyPr>
          <a:lstStyle/>
          <a:p>
            <a:pPr marL="12700" algn="ctr">
              <a:spcBef>
                <a:spcPts val="95"/>
              </a:spcBef>
            </a:pPr>
            <a:r>
              <a:rPr lang="en-US" spc="-5" dirty="0"/>
              <a:t>The Richter Scale</a:t>
            </a:r>
            <a:endParaRPr lang="en-US" dirty="0"/>
          </a:p>
        </p:txBody>
      </p:sp>
      <p:sp>
        <p:nvSpPr>
          <p:cNvPr id="4" name="object 4"/>
          <p:cNvSpPr/>
          <p:nvPr/>
        </p:nvSpPr>
        <p:spPr>
          <a:xfrm>
            <a:off x="470154" y="950213"/>
            <a:ext cx="8213725" cy="17780"/>
          </a:xfrm>
          <a:custGeom>
            <a:avLst/>
            <a:gdLst/>
            <a:ahLst/>
            <a:cxnLst/>
            <a:rect l="l" t="t" r="r" b="b"/>
            <a:pathLst>
              <a:path w="8213725" h="17780">
                <a:moveTo>
                  <a:pt x="0" y="17754"/>
                </a:moveTo>
                <a:lnTo>
                  <a:pt x="8213509" y="0"/>
                </a:lnTo>
              </a:path>
            </a:pathLst>
          </a:custGeom>
          <a:ln w="32003">
            <a:solidFill>
              <a:srgbClr val="000000"/>
            </a:solidFill>
          </a:ln>
        </p:spPr>
        <p:txBody>
          <a:bodyPr wrap="square" lIns="0" tIns="0" rIns="0" bIns="0" rtlCol="0"/>
          <a:lstStyle/>
          <a:p>
            <a:endParaRPr/>
          </a:p>
        </p:txBody>
      </p:sp>
      <p:pic>
        <p:nvPicPr>
          <p:cNvPr id="5" name="Picture 4" descr="Diagram&#10;&#10;Description automatically generated">
            <a:extLst>
              <a:ext uri="{FF2B5EF4-FFF2-40B4-BE49-F238E27FC236}">
                <a16:creationId xmlns:a16="http://schemas.microsoft.com/office/drawing/2014/main" id="{92AEFFD9-AC2A-9204-4F98-112E5B93BD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1295400"/>
            <a:ext cx="3926774" cy="4724400"/>
          </a:xfrm>
          <a:prstGeom prst="rect">
            <a:avLst/>
          </a:prstGeom>
        </p:spPr>
      </p:pic>
      <p:sp>
        <p:nvSpPr>
          <p:cNvPr id="6" name="TextBox 5">
            <a:extLst>
              <a:ext uri="{FF2B5EF4-FFF2-40B4-BE49-F238E27FC236}">
                <a16:creationId xmlns:a16="http://schemas.microsoft.com/office/drawing/2014/main" id="{2AD29495-7311-BA64-C4A5-6D520698F64C}"/>
              </a:ext>
            </a:extLst>
          </p:cNvPr>
          <p:cNvSpPr txBox="1"/>
          <p:nvPr/>
        </p:nvSpPr>
        <p:spPr>
          <a:xfrm>
            <a:off x="609600" y="1600200"/>
            <a:ext cx="3657600"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t>Base-10 Logarithmic Scale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Each order of magnitude is 10 times more amplified than the last one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Wave amplitude</a:t>
            </a:r>
          </a:p>
          <a:p>
            <a:pPr marL="742950" lvl="1" indent="-285750">
              <a:buFont typeface="Arial" panose="020B0604020202020204" pitchFamily="34" charset="0"/>
              <a:buChar char="•"/>
            </a:pPr>
            <a:r>
              <a:rPr lang="en-US" sz="2000" dirty="0"/>
              <a:t>Richter 2 is 10 times greater in amplitude than Richter 1</a:t>
            </a:r>
          </a:p>
          <a:p>
            <a:pPr marL="742950" lvl="1" indent="-285750">
              <a:buFont typeface="Arial" panose="020B0604020202020204" pitchFamily="34" charset="0"/>
              <a:buChar char="•"/>
            </a:pPr>
            <a:r>
              <a:rPr lang="en-US" sz="2000" dirty="0"/>
              <a:t>Richter 3 is 100 times greater than Richter 1</a:t>
            </a:r>
          </a:p>
        </p:txBody>
      </p:sp>
    </p:spTree>
    <p:extLst>
      <p:ext uri="{BB962C8B-B14F-4D97-AF65-F5344CB8AC3E}">
        <p14:creationId xmlns:p14="http://schemas.microsoft.com/office/powerpoint/2010/main" val="3928857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8975</TotalTime>
  <Words>1250</Words>
  <Application>Microsoft Office PowerPoint</Application>
  <PresentationFormat>On-screen Show (4:3)</PresentationFormat>
  <Paragraphs>116</Paragraphs>
  <Slides>25</Slides>
  <Notes>24</Notes>
  <HiddenSlides>6</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Calibri</vt:lpstr>
      <vt:lpstr>GeographEditWeb</vt:lpstr>
      <vt:lpstr>Helvetica Neue</vt:lpstr>
      <vt:lpstr>Merriweather</vt:lpstr>
      <vt:lpstr>Open Sans</vt:lpstr>
      <vt:lpstr>Times New Roman</vt:lpstr>
      <vt:lpstr>Office Theme</vt:lpstr>
      <vt:lpstr>GGIS103 Earth’s Physical Systems</vt:lpstr>
      <vt:lpstr>Objectives</vt:lpstr>
      <vt:lpstr>PowerPoint Presentation</vt:lpstr>
      <vt:lpstr>Plate Boundaries</vt:lpstr>
      <vt:lpstr>Subduction Zone</vt:lpstr>
      <vt:lpstr>Subduction Zone</vt:lpstr>
      <vt:lpstr>Ring of Fire</vt:lpstr>
      <vt:lpstr>Types of Volcanoes</vt:lpstr>
      <vt:lpstr>PowerPoint Presentation</vt:lpstr>
      <vt:lpstr>Types of Volcanoes</vt:lpstr>
      <vt:lpstr>PowerPoint Presentation</vt:lpstr>
      <vt:lpstr>Types of Volcanoes</vt:lpstr>
      <vt:lpstr>PowerPoint Presentation</vt:lpstr>
      <vt:lpstr>PowerPoint Presentation</vt:lpstr>
      <vt:lpstr>Hot Spots</vt:lpstr>
      <vt:lpstr>Faults</vt:lpstr>
      <vt:lpstr>Faults</vt:lpstr>
      <vt:lpstr>PowerPoint Presentation</vt:lpstr>
      <vt:lpstr>PowerPoint Presentation</vt:lpstr>
      <vt:lpstr>Earthquakes</vt:lpstr>
      <vt:lpstr>PowerPoint Presentation</vt:lpstr>
      <vt:lpstr>Seismograph</vt:lpstr>
      <vt:lpstr>Seismograph</vt:lpstr>
      <vt:lpstr>The Richter Scale</vt:lpstr>
      <vt:lpstr>The Richter Scale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Piotr Cienciala</dc:creator>
  <cp:lastModifiedBy>Tasneem Haq Meem</cp:lastModifiedBy>
  <cp:revision>42</cp:revision>
  <dcterms:created xsi:type="dcterms:W3CDTF">2021-02-09T00:31:15Z</dcterms:created>
  <dcterms:modified xsi:type="dcterms:W3CDTF">2024-09-19T20:25:36Z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2019-01-24T00:00:00Z</vt:filetime>
  </property>
  <property fmtid="{D5CDD505-2E9C-101B-9397-08002B2CF9AE}" pid="3" name="Creator">
    <vt:lpwstr>Acrobat PDFMaker 15 for PowerPoint</vt:lpwstr>
  </property>
  <property fmtid="{D5CDD505-2E9C-101B-9397-08002B2CF9AE}" pid="4" name="LastSaved">
    <vt:filetime>2021-02-09T00:00:00Z</vt:filetime>
  </property>
</Properties>
</file>
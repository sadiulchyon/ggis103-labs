
<file path=[Content_Types].xml><?xml version="1.0" encoding="utf-8"?>
<Types xmlns="http://schemas.openxmlformats.org/package/2006/content-types">
  <Default Extension="gif" ContentType="image/gi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media/image9.jpg" ContentType="image/jpeg"/>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media/image15.jpg" ContentType="image/jpeg"/>
  <Override PartName="/ppt/notesSlides/notesSlide11.xml" ContentType="application/vnd.openxmlformats-officedocument.presentationml.notesSlide+xml"/>
  <Override PartName="/ppt/media/image16.jpg" ContentType="image/jpeg"/>
  <Override PartName="/ppt/notesSlides/notesSlide12.xml" ContentType="application/vnd.openxmlformats-officedocument.presentationml.notesSlide+xml"/>
  <Override PartName="/ppt/notesSlides/notesSlide13.xml" ContentType="application/vnd.openxmlformats-officedocument.presentationml.notesSlide+xml"/>
  <Override PartName="/ppt/media/image18.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64" r:id="rId3"/>
    <p:sldId id="338" r:id="rId4"/>
    <p:sldId id="309" r:id="rId5"/>
    <p:sldId id="304" r:id="rId6"/>
    <p:sldId id="341" r:id="rId7"/>
    <p:sldId id="302" r:id="rId8"/>
    <p:sldId id="331" r:id="rId9"/>
    <p:sldId id="332" r:id="rId10"/>
    <p:sldId id="333" r:id="rId11"/>
    <p:sldId id="328" r:id="rId12"/>
    <p:sldId id="339" r:id="rId13"/>
    <p:sldId id="340" r:id="rId14"/>
    <p:sldId id="336" r:id="rId15"/>
    <p:sldId id="317" r:id="rId16"/>
    <p:sldId id="318" r:id="rId17"/>
    <p:sldId id="337" r:id="rId18"/>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695" autoAdjust="0"/>
  </p:normalViewPr>
  <p:slideViewPr>
    <p:cSldViewPr>
      <p:cViewPr varScale="1">
        <p:scale>
          <a:sx n="72" d="100"/>
          <a:sy n="72" d="100"/>
        </p:scale>
        <p:origin x="1762"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19403165-5B06-46DF-A6CC-6E41553231C4}" type="datetimeFigureOut">
              <a:rPr lang="en-US" smtClean="0"/>
              <a:t>2/12/2026</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D2F102B6-B1AB-4588-994D-CDDCBF6A36BA}" type="slidenum">
              <a:rPr lang="en-US" smtClean="0"/>
              <a:t>‹#›</a:t>
            </a:fld>
            <a:endParaRPr lang="en-US"/>
          </a:p>
        </p:txBody>
      </p:sp>
    </p:spTree>
    <p:extLst>
      <p:ext uri="{BB962C8B-B14F-4D97-AF65-F5344CB8AC3E}">
        <p14:creationId xmlns:p14="http://schemas.microsoft.com/office/powerpoint/2010/main" val="3470082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google.com/search?q=Love+waves&amp;rlz=1C1GCEA_enUS1175US1175&amp;oq=which+is+more+damaging+rayleig&amp;gs_lcrp=EgZjaHJvbWUqCAgBEAAYFhgeMgYIABBFGDkyCAgBEAAYFhgeMggIAhAAGBYYHjIICAMQABgWGB4yDQgEEAAYhgMYgAQYigUyBwgFEAAY7wUyBwgGEAAY7wUyCggHEAAYgAQYogTSAQkxMjczMmowajeoAgCwAgA&amp;sourceid=chrome&amp;ie=UTF-8&amp;mstk=AUtExfAsMnDM7W8H4LsUDrse6_4MEL1vBTM8csJhkts86WRYcXCrHn2TbnLj9eOuSdjeKIIIoLL07A8zksPk0_n_1UecSqtR_pzLsnHcNu5WLmgungaEEOGYGGol-YoE8TVbAv0QQ68xv3Yw85HslXFgD3zWEQ_FZXLUxilaw20fvDTj4cE&amp;csui=3&amp;ved=2ahUKEwjC7N64y9SSAxWzAHkGHR4JM8EQgK4QegQIARAC"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b="1" i="1" dirty="0">
              <a:solidFill>
                <a:srgbClr val="000000"/>
              </a:solidFill>
              <a:effectLst/>
              <a:latin typeface="Helvetica Neue"/>
            </a:endParaRPr>
          </a:p>
        </p:txBody>
      </p:sp>
      <p:sp>
        <p:nvSpPr>
          <p:cNvPr id="4" name="Slide Number Placeholder 3"/>
          <p:cNvSpPr>
            <a:spLocks noGrp="1"/>
          </p:cNvSpPr>
          <p:nvPr>
            <p:ph type="sldNum" sz="quarter" idx="5"/>
          </p:nvPr>
        </p:nvSpPr>
        <p:spPr/>
        <p:txBody>
          <a:bodyPr/>
          <a:lstStyle/>
          <a:p>
            <a:fld id="{D2F102B6-B1AB-4588-994D-CDDCBF6A36BA}" type="slidenum">
              <a:rPr lang="en-US" smtClean="0"/>
              <a:t>1</a:t>
            </a:fld>
            <a:endParaRPr lang="en-US"/>
          </a:p>
        </p:txBody>
      </p:sp>
    </p:spTree>
    <p:extLst>
      <p:ext uri="{BB962C8B-B14F-4D97-AF65-F5344CB8AC3E}">
        <p14:creationId xmlns:p14="http://schemas.microsoft.com/office/powerpoint/2010/main" val="30644510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F102B6-B1AB-4588-994D-CDDCBF6A36BA}" type="slidenum">
              <a:rPr lang="en-US" smtClean="0"/>
              <a:t>2</a:t>
            </a:fld>
            <a:endParaRPr lang="en-US"/>
          </a:p>
        </p:txBody>
      </p:sp>
    </p:spTree>
    <p:extLst>
      <p:ext uri="{BB962C8B-B14F-4D97-AF65-F5344CB8AC3E}">
        <p14:creationId xmlns:p14="http://schemas.microsoft.com/office/powerpoint/2010/main" val="18584199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0" dirty="0">
              <a:solidFill>
                <a:srgbClr val="43525B"/>
              </a:solidFill>
              <a:effectLst/>
              <a:latin typeface="Open Sans"/>
            </a:endParaRPr>
          </a:p>
        </p:txBody>
      </p:sp>
      <p:sp>
        <p:nvSpPr>
          <p:cNvPr id="4" name="Slide Number Placeholder 3"/>
          <p:cNvSpPr>
            <a:spLocks noGrp="1"/>
          </p:cNvSpPr>
          <p:nvPr>
            <p:ph type="sldNum" sz="quarter" idx="5"/>
          </p:nvPr>
        </p:nvSpPr>
        <p:spPr/>
        <p:txBody>
          <a:bodyPr/>
          <a:lstStyle/>
          <a:p>
            <a:fld id="{D2F102B6-B1AB-4588-994D-CDDCBF6A36BA}" type="slidenum">
              <a:rPr lang="en-US" smtClean="0"/>
              <a:t>4</a:t>
            </a:fld>
            <a:endParaRPr lang="en-US"/>
          </a:p>
        </p:txBody>
      </p:sp>
    </p:spTree>
    <p:extLst>
      <p:ext uri="{BB962C8B-B14F-4D97-AF65-F5344CB8AC3E}">
        <p14:creationId xmlns:p14="http://schemas.microsoft.com/office/powerpoint/2010/main" val="19311550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3525B"/>
                </a:solidFill>
                <a:effectLst/>
                <a:latin typeface="Open Sans"/>
              </a:rPr>
              <a:t>What kind of plate boundary does this diagram show?</a:t>
            </a:r>
          </a:p>
          <a:p>
            <a:r>
              <a:rPr lang="en-US" b="0" i="0" dirty="0">
                <a:solidFill>
                  <a:srgbClr val="43525B"/>
                </a:solidFill>
                <a:effectLst/>
                <a:latin typeface="Open Sans"/>
              </a:rPr>
              <a:t>One crust is thrust under the other one, usually the denser one</a:t>
            </a:r>
          </a:p>
        </p:txBody>
      </p:sp>
      <p:sp>
        <p:nvSpPr>
          <p:cNvPr id="4" name="Slide Number Placeholder 3"/>
          <p:cNvSpPr>
            <a:spLocks noGrp="1"/>
          </p:cNvSpPr>
          <p:nvPr>
            <p:ph type="sldNum" sz="quarter" idx="5"/>
          </p:nvPr>
        </p:nvSpPr>
        <p:spPr/>
        <p:txBody>
          <a:bodyPr/>
          <a:lstStyle/>
          <a:p>
            <a:fld id="{D2F102B6-B1AB-4588-994D-CDDCBF6A36BA}" type="slidenum">
              <a:rPr lang="en-US" smtClean="0"/>
              <a:t>5</a:t>
            </a:fld>
            <a:endParaRPr lang="en-US"/>
          </a:p>
        </p:txBody>
      </p:sp>
    </p:spTree>
    <p:extLst>
      <p:ext uri="{BB962C8B-B14F-4D97-AF65-F5344CB8AC3E}">
        <p14:creationId xmlns:p14="http://schemas.microsoft.com/office/powerpoint/2010/main" val="19004751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21212"/>
                </a:solidFill>
                <a:effectLst/>
                <a:latin typeface="GeographEditWeb"/>
              </a:rPr>
              <a:t>**is a path along the Pacific Ocean characterized by active volcanoes. The majority of Earth’s volcanoes take place along the Ring of Fire. </a:t>
            </a:r>
          </a:p>
          <a:p>
            <a:r>
              <a:rPr lang="en-US" b="0" i="0" dirty="0">
                <a:solidFill>
                  <a:srgbClr val="121212"/>
                </a:solidFill>
                <a:effectLst/>
                <a:latin typeface="GeographEditWeb"/>
              </a:rPr>
              <a:t>*</a:t>
            </a:r>
            <a:r>
              <a:rPr lang="en-US" b="0" i="0" dirty="0">
                <a:solidFill>
                  <a:srgbClr val="000000"/>
                </a:solidFill>
                <a:effectLst/>
                <a:latin typeface="Merriweather"/>
              </a:rPr>
              <a:t>Basically, volcanoes only form where there’s a way for the magma to migrate towards the surface – such as a plate discontinuity or an area where the crust is very thin. There are also so-called “hotspots” – areas where the </a:t>
            </a:r>
            <a:r>
              <a:rPr lang="en-US" b="1" i="0" dirty="0">
                <a:solidFill>
                  <a:srgbClr val="000000"/>
                </a:solidFill>
                <a:effectLst/>
                <a:latin typeface="Merriweather"/>
              </a:rPr>
              <a:t>underlying mantle </a:t>
            </a:r>
            <a:r>
              <a:rPr lang="en-US" b="0" i="0" dirty="0">
                <a:solidFill>
                  <a:srgbClr val="000000"/>
                </a:solidFill>
                <a:effectLst/>
                <a:latin typeface="Merriweather"/>
              </a:rPr>
              <a:t>is much hotter than in other areas, heat from </a:t>
            </a:r>
            <a:r>
              <a:rPr lang="en-US" b="1" i="0" dirty="0">
                <a:solidFill>
                  <a:srgbClr val="000000"/>
                </a:solidFill>
                <a:effectLst/>
                <a:latin typeface="Merriweather"/>
              </a:rPr>
              <a:t>this extra hot magma causes thinning of the crust </a:t>
            </a:r>
            <a:r>
              <a:rPr lang="en-US" b="0" i="0" dirty="0">
                <a:solidFill>
                  <a:srgbClr val="000000"/>
                </a:solidFill>
                <a:effectLst/>
                <a:latin typeface="Merriweather"/>
              </a:rPr>
              <a:t>and eventually it breaks and magma rises up and creates the </a:t>
            </a:r>
            <a:r>
              <a:rPr lang="en-US" b="0" i="0" dirty="0" err="1">
                <a:solidFill>
                  <a:srgbClr val="000000"/>
                </a:solidFill>
                <a:effectLst/>
                <a:latin typeface="Merriweather"/>
              </a:rPr>
              <a:t>volcano.either</a:t>
            </a:r>
            <a:r>
              <a:rPr lang="en-US" b="0" i="0" dirty="0">
                <a:solidFill>
                  <a:srgbClr val="000000"/>
                </a:solidFill>
                <a:effectLst/>
                <a:latin typeface="Merriweather"/>
              </a:rPr>
              <a:t> due to mantle plumes or lithospheric extension (it’s not clear yet which of the two theories is correct). Examples of hotspots include Hawaii and the Portuguese island of Madeira, but for the most part, volcanoes lie at the edge of tectonic plates.*</a:t>
            </a:r>
            <a:r>
              <a:rPr lang="en-US" b="1" i="0" dirty="0">
                <a:solidFill>
                  <a:srgbClr val="000000"/>
                </a:solidFill>
                <a:effectLst/>
                <a:latin typeface="Merriweather"/>
              </a:rPr>
              <a:t>question-not</a:t>
            </a:r>
            <a:r>
              <a:rPr lang="en-US" b="0" i="0" dirty="0">
                <a:solidFill>
                  <a:srgbClr val="000000"/>
                </a:solidFill>
                <a:effectLst/>
                <a:latin typeface="Merriweather"/>
              </a:rPr>
              <a:t> uniform: ring of fire, boundary of 2 plates </a:t>
            </a:r>
            <a:endParaRPr lang="en-US" b="0" i="0" dirty="0">
              <a:solidFill>
                <a:srgbClr val="43525B"/>
              </a:solidFill>
              <a:effectLst/>
              <a:latin typeface="Open Sans"/>
            </a:endParaRPr>
          </a:p>
        </p:txBody>
      </p:sp>
      <p:sp>
        <p:nvSpPr>
          <p:cNvPr id="4" name="Slide Number Placeholder 3"/>
          <p:cNvSpPr>
            <a:spLocks noGrp="1"/>
          </p:cNvSpPr>
          <p:nvPr>
            <p:ph type="sldNum" sz="quarter" idx="5"/>
          </p:nvPr>
        </p:nvSpPr>
        <p:spPr/>
        <p:txBody>
          <a:bodyPr/>
          <a:lstStyle/>
          <a:p>
            <a:fld id="{D2F102B6-B1AB-4588-994D-CDDCBF6A36BA}" type="slidenum">
              <a:rPr lang="en-US" smtClean="0"/>
              <a:t>7</a:t>
            </a:fld>
            <a:endParaRPr lang="en-US"/>
          </a:p>
        </p:txBody>
      </p:sp>
    </p:spTree>
    <p:extLst>
      <p:ext uri="{BB962C8B-B14F-4D97-AF65-F5344CB8AC3E}">
        <p14:creationId xmlns:p14="http://schemas.microsoft.com/office/powerpoint/2010/main" val="18865577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0" dirty="0">
              <a:solidFill>
                <a:srgbClr val="43525B"/>
              </a:solidFill>
              <a:effectLst/>
              <a:latin typeface="Open Sans"/>
            </a:endParaRPr>
          </a:p>
        </p:txBody>
      </p:sp>
      <p:sp>
        <p:nvSpPr>
          <p:cNvPr id="4" name="Slide Number Placeholder 3"/>
          <p:cNvSpPr>
            <a:spLocks noGrp="1"/>
          </p:cNvSpPr>
          <p:nvPr>
            <p:ph type="sldNum" sz="quarter" idx="5"/>
          </p:nvPr>
        </p:nvSpPr>
        <p:spPr/>
        <p:txBody>
          <a:bodyPr/>
          <a:lstStyle/>
          <a:p>
            <a:fld id="{D2F102B6-B1AB-4588-994D-CDDCBF6A36BA}" type="slidenum">
              <a:rPr lang="en-US" smtClean="0"/>
              <a:t>8</a:t>
            </a:fld>
            <a:endParaRPr lang="en-US"/>
          </a:p>
        </p:txBody>
      </p:sp>
    </p:spTree>
    <p:extLst>
      <p:ext uri="{BB962C8B-B14F-4D97-AF65-F5344CB8AC3E}">
        <p14:creationId xmlns:p14="http://schemas.microsoft.com/office/powerpoint/2010/main" val="9942248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 Fault</a:t>
            </a:r>
          </a:p>
        </p:txBody>
      </p:sp>
      <p:sp>
        <p:nvSpPr>
          <p:cNvPr id="4" name="Slide Number Placeholder 3"/>
          <p:cNvSpPr>
            <a:spLocks noGrp="1"/>
          </p:cNvSpPr>
          <p:nvPr>
            <p:ph type="sldNum" sz="quarter" idx="5"/>
          </p:nvPr>
        </p:nvSpPr>
        <p:spPr/>
        <p:txBody>
          <a:bodyPr/>
          <a:lstStyle/>
          <a:p>
            <a:fld id="{D2F102B6-B1AB-4588-994D-CDDCBF6A36BA}" type="slidenum">
              <a:rPr lang="en-US" smtClean="0"/>
              <a:t>10</a:t>
            </a:fld>
            <a:endParaRPr lang="en-US"/>
          </a:p>
        </p:txBody>
      </p:sp>
    </p:spTree>
    <p:extLst>
      <p:ext uri="{BB962C8B-B14F-4D97-AF65-F5344CB8AC3E}">
        <p14:creationId xmlns:p14="http://schemas.microsoft.com/office/powerpoint/2010/main" val="10872161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F102B6-B1AB-4588-994D-CDDCBF6A36BA}" type="slidenum">
              <a:rPr lang="en-US" smtClean="0"/>
              <a:t>11</a:t>
            </a:fld>
            <a:endParaRPr lang="en-US"/>
          </a:p>
        </p:txBody>
      </p:sp>
    </p:spTree>
    <p:extLst>
      <p:ext uri="{BB962C8B-B14F-4D97-AF65-F5344CB8AC3E}">
        <p14:creationId xmlns:p14="http://schemas.microsoft.com/office/powerpoint/2010/main" val="8631301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hlinkClick r:id="rId3"/>
              </a:rPr>
              <a:t>Love waves</a:t>
            </a:r>
            <a:r>
              <a:rPr lang="en-US" dirty="0"/>
              <a:t> are generally considered more destructive to man-made structures than Rayleigh waves</a:t>
            </a:r>
            <a:r>
              <a:rPr lang="en-US" b="0" i="0" dirty="0">
                <a:solidFill>
                  <a:srgbClr val="E6E8F0"/>
                </a:solidFill>
                <a:effectLst/>
                <a:latin typeface="Google Sans"/>
              </a:rPr>
              <a:t>. They travel faster, producing severe horizontal, side-to-side (transverse) ground shaking. This motion effectively shears the foundations of buildings, while Rayleigh waves produce a rolling, elliptical motion that is often less damaging by comparison. </a:t>
            </a:r>
            <a:endParaRPr lang="en-US" dirty="0"/>
          </a:p>
        </p:txBody>
      </p:sp>
      <p:sp>
        <p:nvSpPr>
          <p:cNvPr id="4" name="Slide Number Placeholder 3"/>
          <p:cNvSpPr>
            <a:spLocks noGrp="1"/>
          </p:cNvSpPr>
          <p:nvPr>
            <p:ph type="sldNum" sz="quarter" idx="5"/>
          </p:nvPr>
        </p:nvSpPr>
        <p:spPr/>
        <p:txBody>
          <a:bodyPr/>
          <a:lstStyle/>
          <a:p>
            <a:fld id="{D2F102B6-B1AB-4588-994D-CDDCBF6A36BA}" type="slidenum">
              <a:rPr lang="en-US" smtClean="0"/>
              <a:t>13</a:t>
            </a:fld>
            <a:endParaRPr lang="en-US"/>
          </a:p>
        </p:txBody>
      </p:sp>
    </p:spTree>
    <p:extLst>
      <p:ext uri="{BB962C8B-B14F-4D97-AF65-F5344CB8AC3E}">
        <p14:creationId xmlns:p14="http://schemas.microsoft.com/office/powerpoint/2010/main" val="20010590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0" dirty="0">
              <a:solidFill>
                <a:srgbClr val="43525B"/>
              </a:solidFill>
              <a:effectLst/>
              <a:latin typeface="Open Sans"/>
            </a:endParaRPr>
          </a:p>
        </p:txBody>
      </p:sp>
      <p:sp>
        <p:nvSpPr>
          <p:cNvPr id="4" name="Slide Number Placeholder 3"/>
          <p:cNvSpPr>
            <a:spLocks noGrp="1"/>
          </p:cNvSpPr>
          <p:nvPr>
            <p:ph type="sldNum" sz="quarter" idx="5"/>
          </p:nvPr>
        </p:nvSpPr>
        <p:spPr/>
        <p:txBody>
          <a:bodyPr/>
          <a:lstStyle/>
          <a:p>
            <a:fld id="{D2F102B6-B1AB-4588-994D-CDDCBF6A36BA}" type="slidenum">
              <a:rPr lang="en-US" smtClean="0"/>
              <a:t>14</a:t>
            </a:fld>
            <a:endParaRPr lang="en-US"/>
          </a:p>
        </p:txBody>
      </p:sp>
    </p:spTree>
    <p:extLst>
      <p:ext uri="{BB962C8B-B14F-4D97-AF65-F5344CB8AC3E}">
        <p14:creationId xmlns:p14="http://schemas.microsoft.com/office/powerpoint/2010/main" val="41398272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0" dirty="0">
              <a:solidFill>
                <a:srgbClr val="43525B"/>
              </a:solidFill>
              <a:effectLst/>
              <a:latin typeface="Open Sans"/>
            </a:endParaRPr>
          </a:p>
        </p:txBody>
      </p:sp>
      <p:sp>
        <p:nvSpPr>
          <p:cNvPr id="4" name="Slide Number Placeholder 3"/>
          <p:cNvSpPr>
            <a:spLocks noGrp="1"/>
          </p:cNvSpPr>
          <p:nvPr>
            <p:ph type="sldNum" sz="quarter" idx="5"/>
          </p:nvPr>
        </p:nvSpPr>
        <p:spPr/>
        <p:txBody>
          <a:bodyPr/>
          <a:lstStyle/>
          <a:p>
            <a:fld id="{D2F102B6-B1AB-4588-994D-CDDCBF6A36BA}" type="slidenum">
              <a:rPr lang="en-US" smtClean="0"/>
              <a:t>15</a:t>
            </a:fld>
            <a:endParaRPr lang="en-US"/>
          </a:p>
        </p:txBody>
      </p:sp>
    </p:spTree>
    <p:extLst>
      <p:ext uri="{BB962C8B-B14F-4D97-AF65-F5344CB8AC3E}">
        <p14:creationId xmlns:p14="http://schemas.microsoft.com/office/powerpoint/2010/main" val="21093576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0" dirty="0">
              <a:solidFill>
                <a:srgbClr val="43525B"/>
              </a:solidFill>
              <a:effectLst/>
              <a:latin typeface="Open Sans"/>
            </a:endParaRPr>
          </a:p>
        </p:txBody>
      </p:sp>
      <p:sp>
        <p:nvSpPr>
          <p:cNvPr id="4" name="Slide Number Placeholder 3"/>
          <p:cNvSpPr>
            <a:spLocks noGrp="1"/>
          </p:cNvSpPr>
          <p:nvPr>
            <p:ph type="sldNum" sz="quarter" idx="5"/>
          </p:nvPr>
        </p:nvSpPr>
        <p:spPr/>
        <p:txBody>
          <a:bodyPr/>
          <a:lstStyle/>
          <a:p>
            <a:fld id="{D2F102B6-B1AB-4588-994D-CDDCBF6A36BA}" type="slidenum">
              <a:rPr lang="en-US" smtClean="0"/>
              <a:t>16</a:t>
            </a:fld>
            <a:endParaRPr lang="en-US"/>
          </a:p>
        </p:txBody>
      </p:sp>
    </p:spTree>
    <p:extLst>
      <p:ext uri="{BB962C8B-B14F-4D97-AF65-F5344CB8AC3E}">
        <p14:creationId xmlns:p14="http://schemas.microsoft.com/office/powerpoint/2010/main" val="23995827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3525B"/>
                </a:solidFill>
                <a:effectLst/>
                <a:latin typeface="Open Sans"/>
              </a:rPr>
              <a:t>Each magnitude increases by a factor of 10</a:t>
            </a:r>
          </a:p>
        </p:txBody>
      </p:sp>
      <p:sp>
        <p:nvSpPr>
          <p:cNvPr id="4" name="Slide Number Placeholder 3"/>
          <p:cNvSpPr>
            <a:spLocks noGrp="1"/>
          </p:cNvSpPr>
          <p:nvPr>
            <p:ph type="sldNum" sz="quarter" idx="5"/>
          </p:nvPr>
        </p:nvSpPr>
        <p:spPr/>
        <p:txBody>
          <a:bodyPr/>
          <a:lstStyle/>
          <a:p>
            <a:fld id="{D2F102B6-B1AB-4588-994D-CDDCBF6A36BA}" type="slidenum">
              <a:rPr lang="en-US" smtClean="0"/>
              <a:t>17</a:t>
            </a:fld>
            <a:endParaRPr lang="en-US"/>
          </a:p>
        </p:txBody>
      </p:sp>
    </p:spTree>
    <p:extLst>
      <p:ext uri="{BB962C8B-B14F-4D97-AF65-F5344CB8AC3E}">
        <p14:creationId xmlns:p14="http://schemas.microsoft.com/office/powerpoint/2010/main" val="29154069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2/12/2026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6857999"/>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950684" y="218874"/>
            <a:ext cx="1242631" cy="513080"/>
          </a:xfrm>
          <a:prstGeom prst="rect">
            <a:avLst/>
          </a:prstGeom>
        </p:spPr>
        <p:txBody>
          <a:bodyPr wrap="square" lIns="0" tIns="0" rIns="0" bIns="0">
            <a:spAutoFit/>
          </a:bodyPr>
          <a:lstStyle>
            <a:lvl1pPr>
              <a:defRPr sz="3200" b="1" i="0">
                <a:solidFill>
                  <a:schemeClr val="tx1"/>
                </a:solidFill>
                <a:latin typeface="Arial"/>
                <a:cs typeface="Arial"/>
              </a:defRPr>
            </a:lvl1pPr>
          </a:lstStyle>
          <a:p>
            <a:endParaRPr/>
          </a:p>
        </p:txBody>
      </p:sp>
      <p:sp>
        <p:nvSpPr>
          <p:cNvPr id="3" name="Holder 3"/>
          <p:cNvSpPr>
            <a:spLocks noGrp="1"/>
          </p:cNvSpPr>
          <p:nvPr>
            <p:ph type="body" idx="1"/>
          </p:nvPr>
        </p:nvSpPr>
        <p:spPr>
          <a:xfrm>
            <a:off x="438801" y="1310834"/>
            <a:ext cx="8266396" cy="1962150"/>
          </a:xfrm>
          <a:prstGeom prst="rect">
            <a:avLst/>
          </a:prstGeom>
        </p:spPr>
        <p:txBody>
          <a:bodyPr wrap="square" lIns="0" tIns="0" rIns="0" bIns="0">
            <a:spAutoFit/>
          </a:bodyPr>
          <a:lstStyle>
            <a:lvl1pPr>
              <a:defRPr sz="2400" b="0" i="0">
                <a:solidFill>
                  <a:schemeClr val="tx1"/>
                </a:solidFill>
                <a:latin typeface="Arial"/>
                <a:cs typeface="Arial"/>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2/12/2026</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image" Target="../media/image11.gif"/><Relationship Id="rId1" Type="http://schemas.openxmlformats.org/officeDocument/2006/relationships/slideLayout" Target="../slideLayouts/slideLayout2.xml"/><Relationship Id="rId4" Type="http://schemas.openxmlformats.org/officeDocument/2006/relationships/image" Target="../media/image13.gif"/></Relationships>
</file>

<file path=ppt/slides/_rels/slide13.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gif"/></Relationships>
</file>

<file path=ppt/slides/_rels/slide1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pic>
        <p:nvPicPr>
          <p:cNvPr id="1026" name="Picture 2" descr="Mount Cleveland releases a plume of ash that rises almost 6,000 meters (20,000 feet) above the North Pacific Ocean. Mount Cleveland, in Alaska's southwestern Aleutian Islands, is one of many Alaskan volcanoes that are part of the Ring of Fire.">
            <a:extLst>
              <a:ext uri="{FF2B5EF4-FFF2-40B4-BE49-F238E27FC236}">
                <a16:creationId xmlns:a16="http://schemas.microsoft.com/office/drawing/2014/main" id="{BD355F51-6855-4700-AA58-7559AFB46B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5" y="0"/>
            <a:ext cx="913765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object 3"/>
          <p:cNvSpPr txBox="1">
            <a:spLocks noGrp="1"/>
          </p:cNvSpPr>
          <p:nvPr>
            <p:ph type="title"/>
          </p:nvPr>
        </p:nvSpPr>
        <p:spPr>
          <a:xfrm>
            <a:off x="0" y="685800"/>
            <a:ext cx="9150765" cy="1367041"/>
          </a:xfrm>
          <a:prstGeom prst="rect">
            <a:avLst/>
          </a:prstGeom>
        </p:spPr>
        <p:txBody>
          <a:bodyPr vert="horz" wrap="square" lIns="0" tIns="12700" rIns="0" bIns="0" rtlCol="0">
            <a:spAutoFit/>
          </a:bodyPr>
          <a:lstStyle/>
          <a:p>
            <a:pPr marL="635" algn="ctr">
              <a:spcBef>
                <a:spcPts val="100"/>
              </a:spcBef>
            </a:pPr>
            <a:r>
              <a:rPr lang="en-US" sz="4400" spc="-5" dirty="0">
                <a:solidFill>
                  <a:schemeClr val="bg1"/>
                </a:solidFill>
              </a:rPr>
              <a:t>GGIS103</a:t>
            </a:r>
            <a:br>
              <a:rPr lang="en-US" sz="4400" spc="-5" dirty="0">
                <a:solidFill>
                  <a:schemeClr val="bg1"/>
                </a:solidFill>
              </a:rPr>
            </a:br>
            <a:r>
              <a:rPr lang="en-US" sz="4400" spc="-5" dirty="0">
                <a:solidFill>
                  <a:schemeClr val="bg1"/>
                </a:solidFill>
              </a:rPr>
              <a:t>Earth’s Physical Systems</a:t>
            </a:r>
            <a:endParaRPr sz="3600" dirty="0">
              <a:solidFill>
                <a:schemeClr val="bg1"/>
              </a:solidFill>
            </a:endParaRPr>
          </a:p>
        </p:txBody>
      </p:sp>
      <p:sp>
        <p:nvSpPr>
          <p:cNvPr id="4" name="object 4"/>
          <p:cNvSpPr txBox="1"/>
          <p:nvPr/>
        </p:nvSpPr>
        <p:spPr>
          <a:xfrm>
            <a:off x="1219200" y="5130356"/>
            <a:ext cx="7018655" cy="1065035"/>
          </a:xfrm>
          <a:prstGeom prst="rect">
            <a:avLst/>
          </a:prstGeom>
        </p:spPr>
        <p:txBody>
          <a:bodyPr vert="horz" wrap="square" lIns="0" tIns="94615" rIns="0" bIns="0" rtlCol="0">
            <a:spAutoFit/>
          </a:bodyPr>
          <a:lstStyle/>
          <a:p>
            <a:pPr algn="ctr">
              <a:lnSpc>
                <a:spcPct val="100000"/>
              </a:lnSpc>
              <a:spcBef>
                <a:spcPts val="745"/>
              </a:spcBef>
            </a:pPr>
            <a:r>
              <a:rPr lang="en-US" sz="2900" b="1" spc="-20" dirty="0">
                <a:solidFill>
                  <a:schemeClr val="bg1"/>
                </a:solidFill>
                <a:latin typeface="Arial"/>
                <a:cs typeface="Arial"/>
              </a:rPr>
              <a:t>Week 4</a:t>
            </a:r>
            <a:endParaRPr sz="2900" dirty="0">
              <a:solidFill>
                <a:schemeClr val="bg1"/>
              </a:solidFill>
              <a:latin typeface="Arial"/>
              <a:cs typeface="Arial"/>
            </a:endParaRPr>
          </a:p>
          <a:p>
            <a:pPr algn="ctr">
              <a:lnSpc>
                <a:spcPct val="100000"/>
              </a:lnSpc>
              <a:spcBef>
                <a:spcPts val="645"/>
              </a:spcBef>
            </a:pPr>
            <a:r>
              <a:rPr lang="en-US" sz="2900" b="1" spc="-5" dirty="0">
                <a:solidFill>
                  <a:schemeClr val="bg1"/>
                </a:solidFill>
                <a:latin typeface="Arial"/>
                <a:cs typeface="Arial"/>
              </a:rPr>
              <a:t>Plate tectonics and Volcanoes</a:t>
            </a:r>
            <a:endParaRPr sz="2900" dirty="0">
              <a:solidFill>
                <a:schemeClr val="bg1"/>
              </a:solidFill>
              <a:latin typeface="Arial"/>
              <a:cs typeface="Arial"/>
            </a:endParaRPr>
          </a:p>
        </p:txBody>
      </p:sp>
      <p:sp>
        <p:nvSpPr>
          <p:cNvPr id="6" name="TextBox 5">
            <a:extLst>
              <a:ext uri="{FF2B5EF4-FFF2-40B4-BE49-F238E27FC236}">
                <a16:creationId xmlns:a16="http://schemas.microsoft.com/office/drawing/2014/main" id="{A7A085E6-DCB2-4ACB-B68C-FE1EB96EE59C}"/>
              </a:ext>
            </a:extLst>
          </p:cNvPr>
          <p:cNvSpPr txBox="1"/>
          <p:nvPr/>
        </p:nvSpPr>
        <p:spPr>
          <a:xfrm>
            <a:off x="5072383" y="6563475"/>
            <a:ext cx="4078382" cy="307777"/>
          </a:xfrm>
          <a:prstGeom prst="rect">
            <a:avLst/>
          </a:prstGeom>
          <a:noFill/>
        </p:spPr>
        <p:txBody>
          <a:bodyPr wrap="square">
            <a:spAutoFit/>
          </a:bodyPr>
          <a:lstStyle/>
          <a:p>
            <a:pPr algn="r"/>
            <a:r>
              <a:rPr lang="en-US" sz="1400" dirty="0">
                <a:solidFill>
                  <a:schemeClr val="bg1">
                    <a:lumMod val="85000"/>
                  </a:schemeClr>
                </a:solidFill>
              </a:rPr>
              <a:t>NASA Earth Observatory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16182" y="218874"/>
            <a:ext cx="5709920" cy="513080"/>
          </a:xfrm>
          <a:prstGeom prst="rect">
            <a:avLst/>
          </a:prstGeom>
        </p:spPr>
        <p:txBody>
          <a:bodyPr vert="horz" wrap="square" lIns="0" tIns="12065" rIns="0" bIns="0" rtlCol="0" anchor="t">
            <a:spAutoFit/>
          </a:bodyPr>
          <a:lstStyle/>
          <a:p>
            <a:pPr marL="12700" algn="ctr">
              <a:spcBef>
                <a:spcPts val="95"/>
              </a:spcBef>
            </a:pPr>
            <a:r>
              <a:rPr lang="en-US" spc="-5" dirty="0"/>
              <a:t>Objectives</a:t>
            </a:r>
            <a:endParaRPr lang="en-US" dirty="0"/>
          </a:p>
        </p:txBody>
      </p:sp>
      <p:sp>
        <p:nvSpPr>
          <p:cNvPr id="3" name="object 3"/>
          <p:cNvSpPr txBox="1"/>
          <p:nvPr/>
        </p:nvSpPr>
        <p:spPr>
          <a:xfrm>
            <a:off x="549257" y="1318454"/>
            <a:ext cx="7223143" cy="3489417"/>
          </a:xfrm>
          <a:prstGeom prst="rect">
            <a:avLst/>
          </a:prstGeom>
        </p:spPr>
        <p:txBody>
          <a:bodyPr vert="horz" wrap="square" lIns="0" tIns="46990" rIns="0" bIns="0" rtlCol="0" anchor="t">
            <a:spAutoFit/>
          </a:bodyPr>
          <a:lstStyle/>
          <a:p>
            <a:pPr marL="354965" marR="92075" indent="-342900">
              <a:lnSpc>
                <a:spcPct val="200000"/>
              </a:lnSpc>
              <a:spcBef>
                <a:spcPts val="370"/>
              </a:spcBef>
              <a:buFont typeface="Arial" panose="020B0604020202020204" pitchFamily="34" charset="0"/>
              <a:buChar char="•"/>
              <a:tabLst>
                <a:tab pos="240665" algn="l"/>
                <a:tab pos="241300" algn="l"/>
              </a:tabLst>
            </a:pPr>
            <a:r>
              <a:rPr lang="en-US" sz="2400" dirty="0">
                <a:latin typeface="Arial"/>
                <a:ea typeface="+mn-lt"/>
                <a:cs typeface="+mn-lt"/>
              </a:rPr>
              <a:t>Recall tectonic processes from lecture</a:t>
            </a:r>
          </a:p>
          <a:p>
            <a:pPr marL="354965" marR="92075" indent="-342900">
              <a:lnSpc>
                <a:spcPct val="200000"/>
              </a:lnSpc>
              <a:spcBef>
                <a:spcPts val="370"/>
              </a:spcBef>
              <a:buFont typeface="Arial" panose="020B0604020202020204" pitchFamily="34" charset="0"/>
              <a:buChar char="•"/>
              <a:tabLst>
                <a:tab pos="240665" algn="l"/>
                <a:tab pos="241300" algn="l"/>
              </a:tabLst>
            </a:pPr>
            <a:r>
              <a:rPr lang="en-US" sz="2400" dirty="0">
                <a:latin typeface="Arial"/>
                <a:ea typeface="+mn-lt"/>
                <a:cs typeface="+mn-lt"/>
              </a:rPr>
              <a:t>Explain how volcanoes are formed</a:t>
            </a:r>
          </a:p>
          <a:p>
            <a:pPr marL="354965" marR="92075" indent="-342900">
              <a:spcBef>
                <a:spcPts val="370"/>
              </a:spcBef>
              <a:buFont typeface="Arial" panose="020B0604020202020204" pitchFamily="34" charset="0"/>
              <a:buChar char="•"/>
              <a:tabLst>
                <a:tab pos="240665" algn="l"/>
                <a:tab pos="241300" algn="l"/>
              </a:tabLst>
            </a:pPr>
            <a:r>
              <a:rPr lang="en-US" sz="2400" dirty="0">
                <a:latin typeface="Arial"/>
                <a:ea typeface="+mn-lt"/>
                <a:cs typeface="+mn-lt"/>
              </a:rPr>
              <a:t>Explain how continental boundaries are related to earthquakes</a:t>
            </a:r>
          </a:p>
          <a:p>
            <a:pPr marL="354965" marR="92075" indent="-342900">
              <a:lnSpc>
                <a:spcPct val="200000"/>
              </a:lnSpc>
              <a:spcBef>
                <a:spcPts val="370"/>
              </a:spcBef>
              <a:buFont typeface="Arial" panose="020B0604020202020204" pitchFamily="34" charset="0"/>
              <a:buChar char="•"/>
              <a:tabLst>
                <a:tab pos="240665" algn="l"/>
                <a:tab pos="241300" algn="l"/>
              </a:tabLst>
            </a:pPr>
            <a:r>
              <a:rPr lang="en-US" sz="2400" dirty="0">
                <a:latin typeface="Arial"/>
                <a:ea typeface="+mn-lt"/>
                <a:cs typeface="+mn-lt"/>
              </a:rPr>
              <a:t>Describe the Richter Scale</a:t>
            </a:r>
          </a:p>
          <a:p>
            <a:pPr marL="12065" marR="92075" algn="just">
              <a:lnSpc>
                <a:spcPts val="2160"/>
              </a:lnSpc>
              <a:spcBef>
                <a:spcPts val="370"/>
              </a:spcBef>
              <a:tabLst>
                <a:tab pos="240665" algn="l"/>
                <a:tab pos="241300" algn="l"/>
              </a:tabLst>
            </a:pPr>
            <a:endParaRPr sz="2000" dirty="0">
              <a:latin typeface="Arial"/>
              <a:cs typeface="Arial"/>
            </a:endParaRPr>
          </a:p>
        </p:txBody>
      </p:sp>
      <p:sp>
        <p:nvSpPr>
          <p:cNvPr id="4" name="object 4"/>
          <p:cNvSpPr/>
          <p:nvPr/>
        </p:nvSpPr>
        <p:spPr>
          <a:xfrm>
            <a:off x="470154" y="950213"/>
            <a:ext cx="8213725" cy="17780"/>
          </a:xfrm>
          <a:custGeom>
            <a:avLst/>
            <a:gdLst/>
            <a:ahLst/>
            <a:cxnLst/>
            <a:rect l="l" t="t" r="r" b="b"/>
            <a:pathLst>
              <a:path w="8213725" h="17780">
                <a:moveTo>
                  <a:pt x="0" y="17754"/>
                </a:moveTo>
                <a:lnTo>
                  <a:pt x="8213509" y="0"/>
                </a:lnTo>
              </a:path>
            </a:pathLst>
          </a:custGeom>
          <a:ln w="32003">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1162694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A diagram of lithosphere and ash&#10;&#10;Description automatically generated">
            <a:extLst>
              <a:ext uri="{FF2B5EF4-FFF2-40B4-BE49-F238E27FC236}">
                <a16:creationId xmlns:a16="http://schemas.microsoft.com/office/drawing/2014/main" id="{0F6D1C92-32C8-C446-F1D8-4E07956976E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 y="152400"/>
            <a:ext cx="9144000" cy="472439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EF47308-4B3A-5DEF-6CF1-730AE02BF582}"/>
              </a:ext>
            </a:extLst>
          </p:cNvPr>
          <p:cNvSpPr txBox="1"/>
          <p:nvPr/>
        </p:nvSpPr>
        <p:spPr>
          <a:xfrm>
            <a:off x="152400" y="4896292"/>
            <a:ext cx="8679605" cy="1528624"/>
          </a:xfrm>
          <a:prstGeom prst="rect">
            <a:avLst/>
          </a:prstGeom>
          <a:noFill/>
        </p:spPr>
        <p:txBody>
          <a:bodyPr wrap="square">
            <a:spAutoFit/>
          </a:bodyPr>
          <a:lstStyle/>
          <a:p>
            <a:pPr marL="0" lvl="0" indent="0" algn="l" rtl="0">
              <a:spcBef>
                <a:spcPts val="0"/>
              </a:spcBef>
              <a:spcAft>
                <a:spcPts val="0"/>
              </a:spcAft>
              <a:buNone/>
            </a:pPr>
            <a:r>
              <a:rPr lang="en-US" sz="2000" b="1" dirty="0">
                <a:latin typeface="Arial" panose="020B0604020202020204" pitchFamily="34" charset="0"/>
                <a:cs typeface="Arial" panose="020B0604020202020204" pitchFamily="34" charset="0"/>
              </a:rPr>
              <a:t>Lithosphere:</a:t>
            </a:r>
            <a:r>
              <a:rPr lang="en-US" sz="2000" dirty="0">
                <a:latin typeface="Arial" panose="020B0604020202020204" pitchFamily="34" charset="0"/>
                <a:cs typeface="Arial" panose="020B0604020202020204" pitchFamily="34" charset="0"/>
              </a:rPr>
              <a:t> Rigid top layer consisting of the crust and the very uppermost section of the mantle (the lithosphere is divided into tectonic plates)</a:t>
            </a:r>
          </a:p>
          <a:p>
            <a:pPr marL="0" lvl="0" indent="0" algn="l" rtl="0">
              <a:spcBef>
                <a:spcPts val="1600"/>
              </a:spcBef>
              <a:spcAft>
                <a:spcPts val="1600"/>
              </a:spcAft>
              <a:buNone/>
            </a:pPr>
            <a:r>
              <a:rPr lang="en-US" sz="2000" b="1" dirty="0">
                <a:latin typeface="Arial" panose="020B0604020202020204" pitchFamily="34" charset="0"/>
                <a:cs typeface="Arial" panose="020B0604020202020204" pitchFamily="34" charset="0"/>
              </a:rPr>
              <a:t>Asthenosphere: </a:t>
            </a:r>
            <a:r>
              <a:rPr lang="en-US" sz="2000" dirty="0">
                <a:latin typeface="Arial" panose="020B0604020202020204" pitchFamily="34" charset="0"/>
                <a:cs typeface="Arial" panose="020B0604020202020204" pitchFamily="34" charset="0"/>
              </a:rPr>
              <a:t>Viscous layer below the lithosphere that undergoes more plastic deformation (tectonic plates move on top of the asthenosphere)</a:t>
            </a:r>
          </a:p>
        </p:txBody>
      </p:sp>
    </p:spTree>
    <p:extLst>
      <p:ext uri="{BB962C8B-B14F-4D97-AF65-F5344CB8AC3E}">
        <p14:creationId xmlns:p14="http://schemas.microsoft.com/office/powerpoint/2010/main" val="1259961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16182" y="218874"/>
            <a:ext cx="5709920" cy="513080"/>
          </a:xfrm>
          <a:prstGeom prst="rect">
            <a:avLst/>
          </a:prstGeom>
        </p:spPr>
        <p:txBody>
          <a:bodyPr vert="horz" wrap="square" lIns="0" tIns="12065" rIns="0" bIns="0" rtlCol="0" anchor="t">
            <a:spAutoFit/>
          </a:bodyPr>
          <a:lstStyle/>
          <a:p>
            <a:pPr marL="12700" algn="ctr">
              <a:spcBef>
                <a:spcPts val="95"/>
              </a:spcBef>
            </a:pPr>
            <a:r>
              <a:rPr lang="en-US" spc="-5" dirty="0"/>
              <a:t>Plate Boundaries</a:t>
            </a:r>
            <a:endParaRPr lang="en-US" dirty="0"/>
          </a:p>
        </p:txBody>
      </p:sp>
      <p:sp>
        <p:nvSpPr>
          <p:cNvPr id="4" name="object 4"/>
          <p:cNvSpPr/>
          <p:nvPr/>
        </p:nvSpPr>
        <p:spPr>
          <a:xfrm>
            <a:off x="470154" y="950213"/>
            <a:ext cx="8213725" cy="17780"/>
          </a:xfrm>
          <a:custGeom>
            <a:avLst/>
            <a:gdLst/>
            <a:ahLst/>
            <a:cxnLst/>
            <a:rect l="l" t="t" r="r" b="b"/>
            <a:pathLst>
              <a:path w="8213725" h="17780">
                <a:moveTo>
                  <a:pt x="0" y="17754"/>
                </a:moveTo>
                <a:lnTo>
                  <a:pt x="8213509" y="0"/>
                </a:lnTo>
              </a:path>
            </a:pathLst>
          </a:custGeom>
          <a:ln w="32003">
            <a:solidFill>
              <a:srgbClr val="000000"/>
            </a:solidFill>
          </a:ln>
        </p:spPr>
        <p:txBody>
          <a:bodyPr wrap="square" lIns="0" tIns="0" rIns="0" bIns="0" rtlCol="0"/>
          <a:lstStyle/>
          <a:p>
            <a:endParaRPr/>
          </a:p>
        </p:txBody>
      </p:sp>
      <p:sp>
        <p:nvSpPr>
          <p:cNvPr id="7" name="TextBox 6">
            <a:extLst>
              <a:ext uri="{FF2B5EF4-FFF2-40B4-BE49-F238E27FC236}">
                <a16:creationId xmlns:a16="http://schemas.microsoft.com/office/drawing/2014/main" id="{B653A715-D270-4D9F-BD1C-01E6570091CB}"/>
              </a:ext>
            </a:extLst>
          </p:cNvPr>
          <p:cNvSpPr txBox="1"/>
          <p:nvPr/>
        </p:nvSpPr>
        <p:spPr>
          <a:xfrm>
            <a:off x="342042" y="1143000"/>
            <a:ext cx="8458200" cy="3046988"/>
          </a:xfrm>
          <a:prstGeom prst="rect">
            <a:avLst/>
          </a:prstGeom>
          <a:noFill/>
        </p:spPr>
        <p:txBody>
          <a:bodyPr wrap="square">
            <a:spAutoFit/>
          </a:bodyPr>
          <a:lstStyle/>
          <a:p>
            <a:pPr marL="457200" indent="-457200">
              <a:buAutoNum type="arabicPeriod"/>
            </a:pPr>
            <a:r>
              <a:rPr lang="en-US" sz="2400" b="1" i="0" dirty="0">
                <a:effectLst/>
                <a:latin typeface="Arial" panose="020B0604020202020204" pitchFamily="34" charset="0"/>
                <a:cs typeface="Arial" panose="020B0604020202020204" pitchFamily="34" charset="0"/>
              </a:rPr>
              <a:t>Convergent boundaries</a:t>
            </a:r>
            <a:r>
              <a:rPr lang="en-US" sz="2400" b="1"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 </a:t>
            </a:r>
            <a:r>
              <a:rPr lang="en-US" sz="2400" b="0" i="0" dirty="0">
                <a:effectLst/>
                <a:latin typeface="Arial" panose="020B0604020202020204" pitchFamily="34" charset="0"/>
                <a:cs typeface="Arial" panose="020B0604020202020204" pitchFamily="34" charset="0"/>
              </a:rPr>
              <a:t>where two plates are colliding.</a:t>
            </a:r>
          </a:p>
          <a:p>
            <a:pPr marL="457200" indent="-457200">
              <a:buAutoNum type="arabicPeriod"/>
            </a:pPr>
            <a:endParaRPr lang="en-US" sz="2400" dirty="0">
              <a:latin typeface="Arial" panose="020B0604020202020204" pitchFamily="34" charset="0"/>
              <a:cs typeface="Arial" panose="020B0604020202020204" pitchFamily="34" charset="0"/>
            </a:endParaRPr>
          </a:p>
          <a:p>
            <a:pPr marL="457200" indent="-457200">
              <a:buAutoNum type="arabicPeriod"/>
            </a:pPr>
            <a:r>
              <a:rPr lang="en-US" sz="2400" b="1" dirty="0">
                <a:latin typeface="Arial" panose="020B0604020202020204" pitchFamily="34" charset="0"/>
                <a:cs typeface="Arial" panose="020B0604020202020204" pitchFamily="34" charset="0"/>
              </a:rPr>
              <a:t>Divergent boundaries </a:t>
            </a:r>
            <a:r>
              <a:rPr lang="en-US" sz="2400" dirty="0">
                <a:latin typeface="Arial" panose="020B0604020202020204" pitchFamily="34" charset="0"/>
                <a:cs typeface="Arial" panose="020B0604020202020204" pitchFamily="34" charset="0"/>
              </a:rPr>
              <a:t>– where two plates are moving apart.</a:t>
            </a:r>
          </a:p>
          <a:p>
            <a:pPr marL="457200" indent="-457200">
              <a:buAutoNum type="arabicPeriod"/>
            </a:pPr>
            <a:endParaRPr lang="en-US" sz="2400" dirty="0">
              <a:latin typeface="Arial" panose="020B0604020202020204" pitchFamily="34" charset="0"/>
              <a:cs typeface="Arial" panose="020B0604020202020204" pitchFamily="34" charset="0"/>
            </a:endParaRPr>
          </a:p>
          <a:p>
            <a:pPr marL="457200" indent="-457200">
              <a:buAutoNum type="arabicPeriod"/>
            </a:pPr>
            <a:r>
              <a:rPr lang="en-US" sz="2400" b="1" i="0" dirty="0">
                <a:effectLst/>
                <a:latin typeface="Arial" panose="020B0604020202020204" pitchFamily="34" charset="0"/>
              </a:rPr>
              <a:t>Transform boundaries</a:t>
            </a:r>
            <a:r>
              <a:rPr lang="en-US" sz="2400" b="0" i="0" dirty="0">
                <a:effectLst/>
                <a:latin typeface="Arial" panose="020B0604020202020204" pitchFamily="34" charset="0"/>
              </a:rPr>
              <a:t> – where plates slide pass each other.</a:t>
            </a:r>
            <a:endParaRPr lang="en-US" sz="2400" dirty="0">
              <a:latin typeface="Arial" panose="020B0604020202020204" pitchFamily="34" charset="0"/>
              <a:cs typeface="Arial" panose="020B0604020202020204" pitchFamily="34" charset="0"/>
            </a:endParaRPr>
          </a:p>
        </p:txBody>
      </p:sp>
      <p:pic>
        <p:nvPicPr>
          <p:cNvPr id="3" name="Picture 2" descr="Diagram, shape&#10;&#10;Description automatically generated">
            <a:extLst>
              <a:ext uri="{FF2B5EF4-FFF2-40B4-BE49-F238E27FC236}">
                <a16:creationId xmlns:a16="http://schemas.microsoft.com/office/drawing/2014/main" id="{02E0B782-C06A-E11F-F99D-5B2BECFCB2A5}"/>
              </a:ext>
            </a:extLst>
          </p:cNvPr>
          <p:cNvPicPr>
            <a:picLocks noChangeAspect="1"/>
          </p:cNvPicPr>
          <p:nvPr/>
        </p:nvPicPr>
        <p:blipFill rotWithShape="1">
          <a:blip r:embed="rId3">
            <a:extLst>
              <a:ext uri="{28A0092B-C50C-407E-A947-70E740481C1C}">
                <a14:useLocalDpi xmlns:a14="http://schemas.microsoft.com/office/drawing/2010/main" val="0"/>
              </a:ext>
            </a:extLst>
          </a:blip>
          <a:srcRect t="15184" b="54804"/>
          <a:stretch/>
        </p:blipFill>
        <p:spPr>
          <a:xfrm>
            <a:off x="533400" y="4419600"/>
            <a:ext cx="7871005" cy="2362200"/>
          </a:xfrm>
          <a:prstGeom prst="rect">
            <a:avLst/>
          </a:prstGeom>
        </p:spPr>
      </p:pic>
    </p:spTree>
    <p:extLst>
      <p:ext uri="{BB962C8B-B14F-4D97-AF65-F5344CB8AC3E}">
        <p14:creationId xmlns:p14="http://schemas.microsoft.com/office/powerpoint/2010/main" val="1883426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16182" y="218874"/>
            <a:ext cx="5709920" cy="513080"/>
          </a:xfrm>
          <a:prstGeom prst="rect">
            <a:avLst/>
          </a:prstGeom>
        </p:spPr>
        <p:txBody>
          <a:bodyPr vert="horz" wrap="square" lIns="0" tIns="12065" rIns="0" bIns="0" rtlCol="0" anchor="t">
            <a:spAutoFit/>
          </a:bodyPr>
          <a:lstStyle/>
          <a:p>
            <a:pPr marL="12700" algn="ctr">
              <a:spcBef>
                <a:spcPts val="95"/>
              </a:spcBef>
            </a:pPr>
            <a:r>
              <a:rPr lang="en-US" spc="-5" dirty="0"/>
              <a:t>Subduction Zone</a:t>
            </a:r>
            <a:endParaRPr lang="en-US" dirty="0"/>
          </a:p>
        </p:txBody>
      </p:sp>
      <p:sp>
        <p:nvSpPr>
          <p:cNvPr id="4" name="object 4"/>
          <p:cNvSpPr/>
          <p:nvPr/>
        </p:nvSpPr>
        <p:spPr>
          <a:xfrm>
            <a:off x="470154" y="950213"/>
            <a:ext cx="8213725" cy="17780"/>
          </a:xfrm>
          <a:custGeom>
            <a:avLst/>
            <a:gdLst/>
            <a:ahLst/>
            <a:cxnLst/>
            <a:rect l="l" t="t" r="r" b="b"/>
            <a:pathLst>
              <a:path w="8213725" h="17780">
                <a:moveTo>
                  <a:pt x="0" y="17754"/>
                </a:moveTo>
                <a:lnTo>
                  <a:pt x="8213509" y="0"/>
                </a:lnTo>
              </a:path>
            </a:pathLst>
          </a:custGeom>
          <a:ln w="32003">
            <a:solidFill>
              <a:srgbClr val="000000"/>
            </a:solidFill>
          </a:ln>
        </p:spPr>
        <p:txBody>
          <a:bodyPr wrap="square" lIns="0" tIns="0" rIns="0" bIns="0" rtlCol="0"/>
          <a:lstStyle/>
          <a:p>
            <a:endParaRPr/>
          </a:p>
        </p:txBody>
      </p:sp>
      <p:pic>
        <p:nvPicPr>
          <p:cNvPr id="6" name="Picture 5" descr="Diagram, schematic&#10;&#10;Description automatically generated">
            <a:extLst>
              <a:ext uri="{FF2B5EF4-FFF2-40B4-BE49-F238E27FC236}">
                <a16:creationId xmlns:a16="http://schemas.microsoft.com/office/drawing/2014/main" id="{7E2C5F64-8A0E-D6DC-1FEC-96716BAA7E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803" y="1563019"/>
            <a:ext cx="7860393" cy="4401820"/>
          </a:xfrm>
          <a:prstGeom prst="rect">
            <a:avLst/>
          </a:prstGeom>
        </p:spPr>
      </p:pic>
      <p:sp>
        <p:nvSpPr>
          <p:cNvPr id="7" name="TextBox 6">
            <a:extLst>
              <a:ext uri="{FF2B5EF4-FFF2-40B4-BE49-F238E27FC236}">
                <a16:creationId xmlns:a16="http://schemas.microsoft.com/office/drawing/2014/main" id="{9BFAA547-2B84-B272-2EC5-5DBED1967195}"/>
              </a:ext>
            </a:extLst>
          </p:cNvPr>
          <p:cNvSpPr txBox="1"/>
          <p:nvPr/>
        </p:nvSpPr>
        <p:spPr>
          <a:xfrm rot="3007921">
            <a:off x="4044886" y="3901953"/>
            <a:ext cx="1603713" cy="369332"/>
          </a:xfrm>
          <a:prstGeom prst="rect">
            <a:avLst/>
          </a:prstGeom>
          <a:solidFill>
            <a:schemeClr val="bg1"/>
          </a:solidFill>
        </p:spPr>
        <p:txBody>
          <a:bodyPr wrap="square" rtlCol="0">
            <a:spAutoFit/>
          </a:bodyPr>
          <a:lstStyle/>
          <a:p>
            <a:r>
              <a:rPr lang="en-US" dirty="0"/>
              <a:t>Higher density</a:t>
            </a:r>
          </a:p>
        </p:txBody>
      </p:sp>
    </p:spTree>
    <p:extLst>
      <p:ext uri="{BB962C8B-B14F-4D97-AF65-F5344CB8AC3E}">
        <p14:creationId xmlns:p14="http://schemas.microsoft.com/office/powerpoint/2010/main" val="1039195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geological formation&#10;&#10;Description automatically generated">
            <a:extLst>
              <a:ext uri="{FF2B5EF4-FFF2-40B4-BE49-F238E27FC236}">
                <a16:creationId xmlns:a16="http://schemas.microsoft.com/office/drawing/2014/main" id="{E9071241-59C6-3453-CFDA-29FDD35656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6061" y="533400"/>
            <a:ext cx="7771877" cy="4267200"/>
          </a:xfrm>
          <a:prstGeom prst="rect">
            <a:avLst/>
          </a:prstGeom>
        </p:spPr>
      </p:pic>
    </p:spTree>
    <p:extLst>
      <p:ext uri="{BB962C8B-B14F-4D97-AF65-F5344CB8AC3E}">
        <p14:creationId xmlns:p14="http://schemas.microsoft.com/office/powerpoint/2010/main" val="36295074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16182" y="218874"/>
            <a:ext cx="5709920" cy="513080"/>
          </a:xfrm>
          <a:prstGeom prst="rect">
            <a:avLst/>
          </a:prstGeom>
        </p:spPr>
        <p:txBody>
          <a:bodyPr vert="horz" wrap="square" lIns="0" tIns="12065" rIns="0" bIns="0" rtlCol="0" anchor="t">
            <a:spAutoFit/>
          </a:bodyPr>
          <a:lstStyle/>
          <a:p>
            <a:pPr marL="12700" algn="ctr">
              <a:spcBef>
                <a:spcPts val="95"/>
              </a:spcBef>
            </a:pPr>
            <a:r>
              <a:rPr lang="en-US" spc="-5" dirty="0"/>
              <a:t>Ring of Fire</a:t>
            </a:r>
            <a:endParaRPr lang="en-US" dirty="0"/>
          </a:p>
        </p:txBody>
      </p:sp>
      <p:sp>
        <p:nvSpPr>
          <p:cNvPr id="4" name="object 4"/>
          <p:cNvSpPr/>
          <p:nvPr/>
        </p:nvSpPr>
        <p:spPr>
          <a:xfrm>
            <a:off x="470154" y="950213"/>
            <a:ext cx="8213725" cy="17780"/>
          </a:xfrm>
          <a:custGeom>
            <a:avLst/>
            <a:gdLst/>
            <a:ahLst/>
            <a:cxnLst/>
            <a:rect l="l" t="t" r="r" b="b"/>
            <a:pathLst>
              <a:path w="8213725" h="17780">
                <a:moveTo>
                  <a:pt x="0" y="17754"/>
                </a:moveTo>
                <a:lnTo>
                  <a:pt x="8213509" y="0"/>
                </a:lnTo>
              </a:path>
            </a:pathLst>
          </a:custGeom>
          <a:ln w="32003">
            <a:solidFill>
              <a:srgbClr val="000000"/>
            </a:solidFill>
          </a:ln>
        </p:spPr>
        <p:txBody>
          <a:bodyPr wrap="square" lIns="0" tIns="0" rIns="0" bIns="0" rtlCol="0"/>
          <a:lstStyle/>
          <a:p>
            <a:endParaRPr/>
          </a:p>
        </p:txBody>
      </p:sp>
      <p:sp>
        <p:nvSpPr>
          <p:cNvPr id="10" name="TextBox 9">
            <a:extLst>
              <a:ext uri="{FF2B5EF4-FFF2-40B4-BE49-F238E27FC236}">
                <a16:creationId xmlns:a16="http://schemas.microsoft.com/office/drawing/2014/main" id="{B5BD8D29-6F38-46C4-97EA-60BD6A8127BC}"/>
              </a:ext>
            </a:extLst>
          </p:cNvPr>
          <p:cNvSpPr txBox="1"/>
          <p:nvPr/>
        </p:nvSpPr>
        <p:spPr>
          <a:xfrm>
            <a:off x="470154" y="4038600"/>
            <a:ext cx="8213725" cy="1200329"/>
          </a:xfrm>
          <a:prstGeom prst="rect">
            <a:avLst/>
          </a:prstGeom>
          <a:noFill/>
        </p:spPr>
        <p:txBody>
          <a:bodyPr wrap="square">
            <a:spAutoFit/>
          </a:bodyPr>
          <a:lstStyle/>
          <a:p>
            <a:pPr algn="just" fontAlgn="base"/>
            <a:r>
              <a:rPr lang="en-US" sz="2400" b="1" dirty="0">
                <a:solidFill>
                  <a:srgbClr val="000000"/>
                </a:solidFill>
                <a:latin typeface="Arial" panose="020B0604020202020204" pitchFamily="34" charset="0"/>
                <a:cs typeface="Arial" panose="020B0604020202020204" pitchFamily="34" charset="0"/>
              </a:rPr>
              <a:t>S</a:t>
            </a:r>
            <a:r>
              <a:rPr lang="en-US" sz="2400" b="1" i="0" dirty="0">
                <a:solidFill>
                  <a:srgbClr val="000000"/>
                </a:solidFill>
                <a:effectLst/>
                <a:latin typeface="Arial" panose="020B0604020202020204" pitchFamily="34" charset="0"/>
                <a:cs typeface="Arial" panose="020B0604020202020204" pitchFamily="34" charset="0"/>
              </a:rPr>
              <a:t>tratovolcano </a:t>
            </a:r>
            <a:r>
              <a:rPr lang="en-US" sz="2400" b="0" i="0" dirty="0">
                <a:solidFill>
                  <a:srgbClr val="000000"/>
                </a:solidFill>
                <a:effectLst/>
                <a:latin typeface="Arial" panose="020B0604020202020204" pitchFamily="34" charset="0"/>
                <a:cs typeface="Arial" panose="020B0604020202020204" pitchFamily="34" charset="0"/>
              </a:rPr>
              <a:t>(or </a:t>
            </a:r>
            <a:r>
              <a:rPr lang="en-US" sz="2400" b="1" i="0" dirty="0">
                <a:solidFill>
                  <a:srgbClr val="000000"/>
                </a:solidFill>
                <a:effectLst/>
                <a:latin typeface="Arial" panose="020B0604020202020204" pitchFamily="34" charset="0"/>
                <a:cs typeface="Arial" panose="020B0604020202020204" pitchFamily="34" charset="0"/>
              </a:rPr>
              <a:t>composite volcano</a:t>
            </a:r>
            <a:r>
              <a:rPr lang="en-US" sz="2400" b="0" i="0" dirty="0">
                <a:solidFill>
                  <a:srgbClr val="000000"/>
                </a:solidFill>
                <a:effectLst/>
                <a:latin typeface="Arial" panose="020B0604020202020204" pitchFamily="34" charset="0"/>
                <a:cs typeface="Arial" panose="020B0604020202020204" pitchFamily="34" charset="0"/>
              </a:rPr>
              <a:t>) — a conical volcano consisting of layers of solid lava flows mixed with layers of other rock.</a:t>
            </a:r>
          </a:p>
        </p:txBody>
      </p:sp>
      <p:pic>
        <p:nvPicPr>
          <p:cNvPr id="2050" name="Picture 2" descr="Types of volcanoes ">
            <a:extLst>
              <a:ext uri="{FF2B5EF4-FFF2-40B4-BE49-F238E27FC236}">
                <a16:creationId xmlns:a16="http://schemas.microsoft.com/office/drawing/2014/main" id="{64E6455E-09A8-4BCC-BA97-25C5CE29AA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3434" y="1143000"/>
            <a:ext cx="8181975"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6612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16182" y="218874"/>
            <a:ext cx="5709920" cy="513080"/>
          </a:xfrm>
          <a:prstGeom prst="rect">
            <a:avLst/>
          </a:prstGeom>
        </p:spPr>
        <p:txBody>
          <a:bodyPr vert="horz" wrap="square" lIns="0" tIns="12065" rIns="0" bIns="0" rtlCol="0" anchor="t">
            <a:spAutoFit/>
          </a:bodyPr>
          <a:lstStyle/>
          <a:p>
            <a:pPr marL="12700" algn="ctr">
              <a:spcBef>
                <a:spcPts val="95"/>
              </a:spcBef>
            </a:pPr>
            <a:r>
              <a:rPr lang="en-US" spc="-5" dirty="0"/>
              <a:t>Faults</a:t>
            </a:r>
            <a:endParaRPr lang="en-US" dirty="0"/>
          </a:p>
        </p:txBody>
      </p:sp>
      <p:sp>
        <p:nvSpPr>
          <p:cNvPr id="4" name="object 4"/>
          <p:cNvSpPr/>
          <p:nvPr/>
        </p:nvSpPr>
        <p:spPr>
          <a:xfrm>
            <a:off x="470154" y="950213"/>
            <a:ext cx="8213725" cy="17780"/>
          </a:xfrm>
          <a:custGeom>
            <a:avLst/>
            <a:gdLst/>
            <a:ahLst/>
            <a:cxnLst/>
            <a:rect l="l" t="t" r="r" b="b"/>
            <a:pathLst>
              <a:path w="8213725" h="17780">
                <a:moveTo>
                  <a:pt x="0" y="17754"/>
                </a:moveTo>
                <a:lnTo>
                  <a:pt x="8213509" y="0"/>
                </a:lnTo>
              </a:path>
            </a:pathLst>
          </a:custGeom>
          <a:ln w="32003">
            <a:solidFill>
              <a:srgbClr val="000000"/>
            </a:solidFill>
          </a:ln>
        </p:spPr>
        <p:txBody>
          <a:bodyPr wrap="square" lIns="0" tIns="0" rIns="0" bIns="0" rtlCol="0"/>
          <a:lstStyle/>
          <a:p>
            <a:endParaRPr/>
          </a:p>
        </p:txBody>
      </p:sp>
      <p:sp>
        <p:nvSpPr>
          <p:cNvPr id="7" name="TextBox 6">
            <a:extLst>
              <a:ext uri="{FF2B5EF4-FFF2-40B4-BE49-F238E27FC236}">
                <a16:creationId xmlns:a16="http://schemas.microsoft.com/office/drawing/2014/main" id="{B653A715-D270-4D9F-BD1C-01E6570091CB}"/>
              </a:ext>
            </a:extLst>
          </p:cNvPr>
          <p:cNvSpPr txBox="1"/>
          <p:nvPr/>
        </p:nvSpPr>
        <p:spPr>
          <a:xfrm>
            <a:off x="762000" y="1600200"/>
            <a:ext cx="8458200" cy="3046988"/>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Fault:</a:t>
            </a:r>
            <a:r>
              <a:rPr lang="en-US" sz="2400" dirty="0">
                <a:latin typeface="Arial" panose="020B0604020202020204" pitchFamily="34" charset="0"/>
                <a:cs typeface="Arial" panose="020B0604020202020204" pitchFamily="34" charset="0"/>
              </a:rPr>
              <a:t> Fracture in the lithosphere (continental crust)</a:t>
            </a:r>
          </a:p>
          <a:p>
            <a:pPr marL="457200" indent="-457200">
              <a:buAutoNum type="arabicPeriod"/>
            </a:pPr>
            <a:endParaRPr lang="en-US" sz="2400" b="1" i="0" dirty="0">
              <a:effectLst/>
              <a:latin typeface="Arial" panose="020B0604020202020204" pitchFamily="34" charset="0"/>
              <a:cs typeface="Arial" panose="020B0604020202020204" pitchFamily="34" charset="0"/>
            </a:endParaRPr>
          </a:p>
          <a:p>
            <a:pPr marL="457200" indent="-457200">
              <a:buAutoNum type="arabicPeriod"/>
            </a:pPr>
            <a:r>
              <a:rPr lang="en-US" sz="2400" i="0" dirty="0">
                <a:effectLst/>
                <a:latin typeface="Arial" panose="020B0604020202020204" pitchFamily="34" charset="0"/>
                <a:cs typeface="Arial" panose="020B0604020202020204" pitchFamily="34" charset="0"/>
              </a:rPr>
              <a:t>Convergent boundaries</a:t>
            </a:r>
            <a:r>
              <a:rPr lang="en-US" sz="2400" dirty="0">
                <a:latin typeface="Arial" panose="020B0604020202020204" pitchFamily="34" charset="0"/>
                <a:cs typeface="Arial" panose="020B0604020202020204" pitchFamily="34" charset="0"/>
              </a:rPr>
              <a:t> – </a:t>
            </a:r>
            <a:r>
              <a:rPr lang="en-US" sz="2400" b="1" i="0" dirty="0">
                <a:effectLst/>
                <a:latin typeface="Arial" panose="020B0604020202020204" pitchFamily="34" charset="0"/>
                <a:cs typeface="Arial" panose="020B0604020202020204" pitchFamily="34" charset="0"/>
              </a:rPr>
              <a:t>Reverse fault</a:t>
            </a:r>
          </a:p>
          <a:p>
            <a:pPr marL="457200" indent="-457200">
              <a:buAutoNum type="arabicPeriod"/>
            </a:pPr>
            <a:endParaRPr lang="en-US" sz="2400" dirty="0">
              <a:latin typeface="Arial" panose="020B0604020202020204" pitchFamily="34" charset="0"/>
              <a:cs typeface="Arial" panose="020B0604020202020204" pitchFamily="34" charset="0"/>
            </a:endParaRPr>
          </a:p>
          <a:p>
            <a:pPr marL="457200" indent="-457200">
              <a:buAutoNum type="arabicPeriod"/>
            </a:pPr>
            <a:r>
              <a:rPr lang="en-US" sz="2400" dirty="0">
                <a:latin typeface="Arial" panose="020B0604020202020204" pitchFamily="34" charset="0"/>
                <a:cs typeface="Arial" panose="020B0604020202020204" pitchFamily="34" charset="0"/>
              </a:rPr>
              <a:t>Divergent boundaries – </a:t>
            </a:r>
            <a:r>
              <a:rPr lang="en-US" sz="2400" b="1" dirty="0">
                <a:latin typeface="Arial" panose="020B0604020202020204" pitchFamily="34" charset="0"/>
                <a:cs typeface="Arial" panose="020B0604020202020204" pitchFamily="34" charset="0"/>
              </a:rPr>
              <a:t>Normal fault</a:t>
            </a:r>
          </a:p>
          <a:p>
            <a:pPr marL="457200" indent="-457200">
              <a:buAutoNum type="arabicPeriod"/>
            </a:pPr>
            <a:endParaRPr lang="en-US" sz="2400" dirty="0">
              <a:latin typeface="Arial" panose="020B0604020202020204" pitchFamily="34" charset="0"/>
              <a:cs typeface="Arial" panose="020B0604020202020204" pitchFamily="34" charset="0"/>
            </a:endParaRPr>
          </a:p>
          <a:p>
            <a:pPr marL="457200" indent="-457200">
              <a:buAutoNum type="arabicPeriod"/>
            </a:pPr>
            <a:r>
              <a:rPr lang="en-US" sz="2400" i="0" dirty="0">
                <a:effectLst/>
                <a:latin typeface="Arial" panose="020B0604020202020204" pitchFamily="34" charset="0"/>
              </a:rPr>
              <a:t>Transform boundaries </a:t>
            </a:r>
            <a:r>
              <a:rPr lang="en-US" sz="2400" b="0" i="0" dirty="0">
                <a:effectLst/>
                <a:latin typeface="Arial" panose="020B0604020202020204" pitchFamily="34" charset="0"/>
              </a:rPr>
              <a:t>– </a:t>
            </a:r>
            <a:r>
              <a:rPr lang="en-US" sz="2400" b="1" i="0" dirty="0">
                <a:effectLst/>
                <a:latin typeface="Arial" panose="020B0604020202020204" pitchFamily="34" charset="0"/>
              </a:rPr>
              <a:t>Strike-Slip fault</a:t>
            </a:r>
          </a:p>
          <a:p>
            <a:pPr marL="457200" indent="-457200">
              <a:buAutoNum type="arabicPeriod"/>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269086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2">
            <a:extLst>
              <a:ext uri="{FF2B5EF4-FFF2-40B4-BE49-F238E27FC236}">
                <a16:creationId xmlns:a16="http://schemas.microsoft.com/office/drawing/2014/main" id="{281E8487-64E6-B84E-EB33-DDEC626E20BB}"/>
              </a:ext>
            </a:extLst>
          </p:cNvPr>
          <p:cNvSpPr txBox="1">
            <a:spLocks noGrp="1"/>
          </p:cNvSpPr>
          <p:nvPr>
            <p:ph type="title"/>
          </p:nvPr>
        </p:nvSpPr>
        <p:spPr>
          <a:xfrm>
            <a:off x="1716182" y="218874"/>
            <a:ext cx="5709920" cy="513080"/>
          </a:xfrm>
          <a:prstGeom prst="rect">
            <a:avLst/>
          </a:prstGeom>
        </p:spPr>
        <p:txBody>
          <a:bodyPr vert="horz" wrap="square" lIns="0" tIns="12065" rIns="0" bIns="0" rtlCol="0" anchor="t">
            <a:spAutoFit/>
          </a:bodyPr>
          <a:lstStyle/>
          <a:p>
            <a:pPr marL="12700" algn="ctr">
              <a:spcBef>
                <a:spcPts val="95"/>
              </a:spcBef>
            </a:pPr>
            <a:r>
              <a:rPr lang="en-US" spc="-5" dirty="0"/>
              <a:t>Faults</a:t>
            </a:r>
            <a:endParaRPr lang="en-US" dirty="0"/>
          </a:p>
        </p:txBody>
      </p:sp>
      <p:sp>
        <p:nvSpPr>
          <p:cNvPr id="7" name="object 4">
            <a:extLst>
              <a:ext uri="{FF2B5EF4-FFF2-40B4-BE49-F238E27FC236}">
                <a16:creationId xmlns:a16="http://schemas.microsoft.com/office/drawing/2014/main" id="{0B90DC45-8358-F176-A86F-7173B2CCF8E7}"/>
              </a:ext>
            </a:extLst>
          </p:cNvPr>
          <p:cNvSpPr/>
          <p:nvPr/>
        </p:nvSpPr>
        <p:spPr>
          <a:xfrm>
            <a:off x="470154" y="950213"/>
            <a:ext cx="8213725" cy="17780"/>
          </a:xfrm>
          <a:custGeom>
            <a:avLst/>
            <a:gdLst/>
            <a:ahLst/>
            <a:cxnLst/>
            <a:rect l="l" t="t" r="r" b="b"/>
            <a:pathLst>
              <a:path w="8213725" h="17780">
                <a:moveTo>
                  <a:pt x="0" y="17754"/>
                </a:moveTo>
                <a:lnTo>
                  <a:pt x="8213509" y="0"/>
                </a:lnTo>
              </a:path>
            </a:pathLst>
          </a:custGeom>
          <a:ln w="32003">
            <a:solidFill>
              <a:srgbClr val="000000"/>
            </a:solidFill>
          </a:ln>
        </p:spPr>
        <p:txBody>
          <a:bodyPr wrap="square" lIns="0" tIns="0" rIns="0" bIns="0" rtlCol="0"/>
          <a:lstStyle/>
          <a:p>
            <a:endParaRPr/>
          </a:p>
        </p:txBody>
      </p:sp>
      <p:pic>
        <p:nvPicPr>
          <p:cNvPr id="10" name="Picture 9" descr="A picture containing text, businesscard&#10;&#10;Description automatically generated">
            <a:extLst>
              <a:ext uri="{FF2B5EF4-FFF2-40B4-BE49-F238E27FC236}">
                <a16:creationId xmlns:a16="http://schemas.microsoft.com/office/drawing/2014/main" id="{662ABD67-7B3C-BDF6-37FD-3E807FF30D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1600200"/>
            <a:ext cx="7086600" cy="2025934"/>
          </a:xfrm>
          <a:prstGeom prst="rect">
            <a:avLst/>
          </a:prstGeom>
        </p:spPr>
      </p:pic>
      <p:pic>
        <p:nvPicPr>
          <p:cNvPr id="12" name="Picture 11" descr="Diagram, shape&#10;&#10;Description automatically generated">
            <a:extLst>
              <a:ext uri="{FF2B5EF4-FFF2-40B4-BE49-F238E27FC236}">
                <a16:creationId xmlns:a16="http://schemas.microsoft.com/office/drawing/2014/main" id="{01BD56B6-2568-F9F9-D864-BBCDE1B91C39}"/>
              </a:ext>
            </a:extLst>
          </p:cNvPr>
          <p:cNvPicPr>
            <a:picLocks noChangeAspect="1"/>
          </p:cNvPicPr>
          <p:nvPr/>
        </p:nvPicPr>
        <p:blipFill rotWithShape="1">
          <a:blip r:embed="rId3">
            <a:extLst>
              <a:ext uri="{28A0092B-C50C-407E-A947-70E740481C1C}">
                <a14:useLocalDpi xmlns:a14="http://schemas.microsoft.com/office/drawing/2010/main" val="0"/>
              </a:ext>
            </a:extLst>
          </a:blip>
          <a:srcRect t="15184" b="54804"/>
          <a:stretch/>
        </p:blipFill>
        <p:spPr>
          <a:xfrm>
            <a:off x="609600" y="3733800"/>
            <a:ext cx="7871005" cy="2362200"/>
          </a:xfrm>
          <a:prstGeom prst="rect">
            <a:avLst/>
          </a:prstGeom>
        </p:spPr>
      </p:pic>
    </p:spTree>
    <p:extLst>
      <p:ext uri="{BB962C8B-B14F-4D97-AF65-F5344CB8AC3E}">
        <p14:creationId xmlns:p14="http://schemas.microsoft.com/office/powerpoint/2010/main" val="4622391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erson standing next to a large rock&#10;&#10;Description automatically generated with low confidence">
            <a:extLst>
              <a:ext uri="{FF2B5EF4-FFF2-40B4-BE49-F238E27FC236}">
                <a16:creationId xmlns:a16="http://schemas.microsoft.com/office/drawing/2014/main" id="{41A6A042-63A9-6859-F78C-3771B694AF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800" y="914400"/>
            <a:ext cx="6781800" cy="5096042"/>
          </a:xfrm>
          <a:prstGeom prst="rect">
            <a:avLst/>
          </a:prstGeom>
        </p:spPr>
      </p:pic>
      <p:sp>
        <p:nvSpPr>
          <p:cNvPr id="6" name="Arrow: Right 5">
            <a:extLst>
              <a:ext uri="{FF2B5EF4-FFF2-40B4-BE49-F238E27FC236}">
                <a16:creationId xmlns:a16="http://schemas.microsoft.com/office/drawing/2014/main" id="{504E630D-80BB-E75C-C475-CD3AB1988D1C}"/>
              </a:ext>
            </a:extLst>
          </p:cNvPr>
          <p:cNvSpPr/>
          <p:nvPr/>
        </p:nvSpPr>
        <p:spPr>
          <a:xfrm rot="2668928">
            <a:off x="3415788" y="2833322"/>
            <a:ext cx="1905000" cy="306295"/>
          </a:xfrm>
          <a:prstGeom prst="rightArrow">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Right 7">
            <a:extLst>
              <a:ext uri="{FF2B5EF4-FFF2-40B4-BE49-F238E27FC236}">
                <a16:creationId xmlns:a16="http://schemas.microsoft.com/office/drawing/2014/main" id="{9FCC6442-8359-EC5B-37C7-35D4C030E948}"/>
              </a:ext>
            </a:extLst>
          </p:cNvPr>
          <p:cNvSpPr/>
          <p:nvPr/>
        </p:nvSpPr>
        <p:spPr>
          <a:xfrm rot="13517633">
            <a:off x="2501388" y="3442923"/>
            <a:ext cx="1905000" cy="306295"/>
          </a:xfrm>
          <a:prstGeom prst="rightArrow">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00726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7BE122D-7A85-40DD-A079-E2AF9E6257AF}"/>
              </a:ext>
            </a:extLst>
          </p:cNvPr>
          <p:cNvPicPr>
            <a:picLocks noChangeAspect="1"/>
          </p:cNvPicPr>
          <p:nvPr/>
        </p:nvPicPr>
        <p:blipFill rotWithShape="1">
          <a:blip r:embed="rId3"/>
          <a:srcRect b="8889"/>
          <a:stretch/>
        </p:blipFill>
        <p:spPr>
          <a:xfrm>
            <a:off x="381000" y="304800"/>
            <a:ext cx="8172450" cy="5956808"/>
          </a:xfrm>
          <a:prstGeom prst="rect">
            <a:avLst/>
          </a:prstGeom>
        </p:spPr>
      </p:pic>
    </p:spTree>
    <p:extLst>
      <p:ext uri="{BB962C8B-B14F-4D97-AF65-F5344CB8AC3E}">
        <p14:creationId xmlns:p14="http://schemas.microsoft.com/office/powerpoint/2010/main" val="21872569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diagram of a grid with arrows pointing to the same direction&#10;&#10;Description automatically generated">
            <a:extLst>
              <a:ext uri="{FF2B5EF4-FFF2-40B4-BE49-F238E27FC236}">
                <a16:creationId xmlns:a16="http://schemas.microsoft.com/office/drawing/2014/main" id="{4615BCDE-910D-4167-A176-1B278F01BB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400" y="0"/>
            <a:ext cx="6019800" cy="2792186"/>
          </a:xfrm>
          <a:prstGeom prst="rect">
            <a:avLst/>
          </a:prstGeom>
        </p:spPr>
      </p:pic>
      <p:pic>
        <p:nvPicPr>
          <p:cNvPr id="9" name="Picture 8" descr="A diagram of a wave diagram&#10;&#10;Description automatically generated">
            <a:extLst>
              <a:ext uri="{FF2B5EF4-FFF2-40B4-BE49-F238E27FC236}">
                <a16:creationId xmlns:a16="http://schemas.microsoft.com/office/drawing/2014/main" id="{4CDC68D7-1E29-5A62-FD9D-39D09E1C6E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82886" y="9144000"/>
            <a:ext cx="8229600" cy="4114800"/>
          </a:xfrm>
          <a:prstGeom prst="rect">
            <a:avLst/>
          </a:prstGeom>
        </p:spPr>
      </p:pic>
      <p:pic>
        <p:nvPicPr>
          <p:cNvPr id="11" name="Picture 10" descr="A diagram of a wave&#10;&#10;Description automatically generated">
            <a:extLst>
              <a:ext uri="{FF2B5EF4-FFF2-40B4-BE49-F238E27FC236}">
                <a16:creationId xmlns:a16="http://schemas.microsoft.com/office/drawing/2014/main" id="{37629A44-A24F-4A93-C562-A5213326B8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98170" y="3124200"/>
            <a:ext cx="6019799" cy="3244850"/>
          </a:xfrm>
          <a:prstGeom prst="rect">
            <a:avLst/>
          </a:prstGeom>
        </p:spPr>
      </p:pic>
    </p:spTree>
    <p:extLst>
      <p:ext uri="{BB962C8B-B14F-4D97-AF65-F5344CB8AC3E}">
        <p14:creationId xmlns:p14="http://schemas.microsoft.com/office/powerpoint/2010/main" val="37492442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wave&#10;&#10;Description automatically generated">
            <a:extLst>
              <a:ext uri="{FF2B5EF4-FFF2-40B4-BE49-F238E27FC236}">
                <a16:creationId xmlns:a16="http://schemas.microsoft.com/office/drawing/2014/main" id="{B434CB9F-A468-CCA2-ED62-87B9E44273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0231" y="152400"/>
            <a:ext cx="7236372" cy="2743200"/>
          </a:xfrm>
          <a:prstGeom prst="rect">
            <a:avLst/>
          </a:prstGeom>
        </p:spPr>
      </p:pic>
      <p:pic>
        <p:nvPicPr>
          <p:cNvPr id="8" name="Picture 7" descr="A diagram of a wave diagram&#10;&#10;Description automatically generated">
            <a:extLst>
              <a:ext uri="{FF2B5EF4-FFF2-40B4-BE49-F238E27FC236}">
                <a16:creationId xmlns:a16="http://schemas.microsoft.com/office/drawing/2014/main" id="{94727CD2-F626-D302-5383-24F8FA06D7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0864" y="3200400"/>
            <a:ext cx="7236372" cy="3048000"/>
          </a:xfrm>
          <a:prstGeom prst="rect">
            <a:avLst/>
          </a:prstGeom>
        </p:spPr>
      </p:pic>
    </p:spTree>
    <p:extLst>
      <p:ext uri="{BB962C8B-B14F-4D97-AF65-F5344CB8AC3E}">
        <p14:creationId xmlns:p14="http://schemas.microsoft.com/office/powerpoint/2010/main" val="19486540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16182" y="218874"/>
            <a:ext cx="5709920" cy="513080"/>
          </a:xfrm>
          <a:prstGeom prst="rect">
            <a:avLst/>
          </a:prstGeom>
        </p:spPr>
        <p:txBody>
          <a:bodyPr vert="horz" wrap="square" lIns="0" tIns="12065" rIns="0" bIns="0" rtlCol="0" anchor="t">
            <a:spAutoFit/>
          </a:bodyPr>
          <a:lstStyle/>
          <a:p>
            <a:pPr marL="12700" algn="ctr">
              <a:spcBef>
                <a:spcPts val="95"/>
              </a:spcBef>
            </a:pPr>
            <a:r>
              <a:rPr lang="en-US" spc="-5" dirty="0"/>
              <a:t>Seismograph</a:t>
            </a:r>
            <a:endParaRPr lang="en-US" dirty="0"/>
          </a:p>
        </p:txBody>
      </p:sp>
      <p:sp>
        <p:nvSpPr>
          <p:cNvPr id="4" name="object 4"/>
          <p:cNvSpPr/>
          <p:nvPr/>
        </p:nvSpPr>
        <p:spPr>
          <a:xfrm>
            <a:off x="470154" y="950213"/>
            <a:ext cx="8213725" cy="17780"/>
          </a:xfrm>
          <a:custGeom>
            <a:avLst/>
            <a:gdLst/>
            <a:ahLst/>
            <a:cxnLst/>
            <a:rect l="l" t="t" r="r" b="b"/>
            <a:pathLst>
              <a:path w="8213725" h="17780">
                <a:moveTo>
                  <a:pt x="0" y="17754"/>
                </a:moveTo>
                <a:lnTo>
                  <a:pt x="8213509" y="0"/>
                </a:lnTo>
              </a:path>
            </a:pathLst>
          </a:custGeom>
          <a:ln w="32003">
            <a:solidFill>
              <a:srgbClr val="000000"/>
            </a:solidFill>
          </a:ln>
        </p:spPr>
        <p:txBody>
          <a:bodyPr wrap="square" lIns="0" tIns="0" rIns="0" bIns="0" rtlCol="0"/>
          <a:lstStyle/>
          <a:p>
            <a:endParaRPr/>
          </a:p>
        </p:txBody>
      </p:sp>
      <p:pic>
        <p:nvPicPr>
          <p:cNvPr id="5" name="Picture 4" descr="Chart&#10;&#10;Description automatically generated">
            <a:extLst>
              <a:ext uri="{FF2B5EF4-FFF2-40B4-BE49-F238E27FC236}">
                <a16:creationId xmlns:a16="http://schemas.microsoft.com/office/drawing/2014/main" id="{D26EF33E-2465-BAC6-EC6B-53EE4E1FAC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1752600"/>
            <a:ext cx="7058526" cy="3657600"/>
          </a:xfrm>
          <a:prstGeom prst="rect">
            <a:avLst/>
          </a:prstGeom>
        </p:spPr>
      </p:pic>
      <p:sp>
        <p:nvSpPr>
          <p:cNvPr id="6" name="TextBox 5">
            <a:extLst>
              <a:ext uri="{FF2B5EF4-FFF2-40B4-BE49-F238E27FC236}">
                <a16:creationId xmlns:a16="http://schemas.microsoft.com/office/drawing/2014/main" id="{3991C87F-FDBD-C8FB-083A-8211EAC31748}"/>
              </a:ext>
            </a:extLst>
          </p:cNvPr>
          <p:cNvSpPr txBox="1"/>
          <p:nvPr/>
        </p:nvSpPr>
        <p:spPr>
          <a:xfrm>
            <a:off x="1524000" y="2057400"/>
            <a:ext cx="1371600" cy="369332"/>
          </a:xfrm>
          <a:prstGeom prst="rect">
            <a:avLst/>
          </a:prstGeom>
          <a:noFill/>
        </p:spPr>
        <p:txBody>
          <a:bodyPr wrap="square" rtlCol="0">
            <a:spAutoFit/>
          </a:bodyPr>
          <a:lstStyle/>
          <a:p>
            <a:r>
              <a:rPr lang="en-US" dirty="0"/>
              <a:t>(primary)</a:t>
            </a:r>
          </a:p>
        </p:txBody>
      </p:sp>
      <p:sp>
        <p:nvSpPr>
          <p:cNvPr id="9" name="TextBox 8">
            <a:extLst>
              <a:ext uri="{FF2B5EF4-FFF2-40B4-BE49-F238E27FC236}">
                <a16:creationId xmlns:a16="http://schemas.microsoft.com/office/drawing/2014/main" id="{80996020-E846-B915-BA8B-CA006067C4AE}"/>
              </a:ext>
            </a:extLst>
          </p:cNvPr>
          <p:cNvSpPr txBox="1"/>
          <p:nvPr/>
        </p:nvSpPr>
        <p:spPr>
          <a:xfrm>
            <a:off x="3352800" y="2133600"/>
            <a:ext cx="1371600" cy="369332"/>
          </a:xfrm>
          <a:prstGeom prst="rect">
            <a:avLst/>
          </a:prstGeom>
          <a:noFill/>
        </p:spPr>
        <p:txBody>
          <a:bodyPr wrap="square" rtlCol="0">
            <a:spAutoFit/>
          </a:bodyPr>
          <a:lstStyle/>
          <a:p>
            <a:r>
              <a:rPr lang="en-US" dirty="0"/>
              <a:t>(secondary)</a:t>
            </a:r>
          </a:p>
        </p:txBody>
      </p:sp>
    </p:spTree>
    <p:extLst>
      <p:ext uri="{BB962C8B-B14F-4D97-AF65-F5344CB8AC3E}">
        <p14:creationId xmlns:p14="http://schemas.microsoft.com/office/powerpoint/2010/main" val="593712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16182" y="218874"/>
            <a:ext cx="5709920" cy="513080"/>
          </a:xfrm>
          <a:prstGeom prst="rect">
            <a:avLst/>
          </a:prstGeom>
        </p:spPr>
        <p:txBody>
          <a:bodyPr vert="horz" wrap="square" lIns="0" tIns="12065" rIns="0" bIns="0" rtlCol="0" anchor="t">
            <a:spAutoFit/>
          </a:bodyPr>
          <a:lstStyle/>
          <a:p>
            <a:pPr marL="12700" algn="ctr">
              <a:spcBef>
                <a:spcPts val="95"/>
              </a:spcBef>
            </a:pPr>
            <a:r>
              <a:rPr lang="en-US" spc="-5" dirty="0"/>
              <a:t>Seismograph</a:t>
            </a:r>
            <a:endParaRPr lang="en-US" dirty="0"/>
          </a:p>
        </p:txBody>
      </p:sp>
      <p:sp>
        <p:nvSpPr>
          <p:cNvPr id="4" name="object 4"/>
          <p:cNvSpPr/>
          <p:nvPr/>
        </p:nvSpPr>
        <p:spPr>
          <a:xfrm>
            <a:off x="470154" y="950213"/>
            <a:ext cx="8213725" cy="17780"/>
          </a:xfrm>
          <a:custGeom>
            <a:avLst/>
            <a:gdLst/>
            <a:ahLst/>
            <a:cxnLst/>
            <a:rect l="l" t="t" r="r" b="b"/>
            <a:pathLst>
              <a:path w="8213725" h="17780">
                <a:moveTo>
                  <a:pt x="0" y="17754"/>
                </a:moveTo>
                <a:lnTo>
                  <a:pt x="8213509" y="0"/>
                </a:lnTo>
              </a:path>
            </a:pathLst>
          </a:custGeom>
          <a:ln w="32003">
            <a:solidFill>
              <a:srgbClr val="000000"/>
            </a:solidFill>
          </a:ln>
        </p:spPr>
        <p:txBody>
          <a:bodyPr wrap="square" lIns="0" tIns="0" rIns="0" bIns="0" rtlCol="0"/>
          <a:lstStyle/>
          <a:p>
            <a:endParaRPr/>
          </a:p>
        </p:txBody>
      </p:sp>
      <p:pic>
        <p:nvPicPr>
          <p:cNvPr id="5" name="Picture 4" descr="Diagram, schematic&#10;&#10;Description automatically generated">
            <a:extLst>
              <a:ext uri="{FF2B5EF4-FFF2-40B4-BE49-F238E27FC236}">
                <a16:creationId xmlns:a16="http://schemas.microsoft.com/office/drawing/2014/main" id="{A09CEDFD-9580-D421-C37C-22B9C876A6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1584" y="1298826"/>
            <a:ext cx="7260832" cy="5504180"/>
          </a:xfrm>
          <a:prstGeom prst="rect">
            <a:avLst/>
          </a:prstGeom>
        </p:spPr>
      </p:pic>
    </p:spTree>
    <p:extLst>
      <p:ext uri="{BB962C8B-B14F-4D97-AF65-F5344CB8AC3E}">
        <p14:creationId xmlns:p14="http://schemas.microsoft.com/office/powerpoint/2010/main" val="4045900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16182" y="218874"/>
            <a:ext cx="5709920" cy="513080"/>
          </a:xfrm>
          <a:prstGeom prst="rect">
            <a:avLst/>
          </a:prstGeom>
        </p:spPr>
        <p:txBody>
          <a:bodyPr vert="horz" wrap="square" lIns="0" tIns="12065" rIns="0" bIns="0" rtlCol="0" anchor="t">
            <a:spAutoFit/>
          </a:bodyPr>
          <a:lstStyle/>
          <a:p>
            <a:pPr marL="12700" algn="ctr">
              <a:spcBef>
                <a:spcPts val="95"/>
              </a:spcBef>
            </a:pPr>
            <a:r>
              <a:rPr lang="en-US" spc="-5" dirty="0"/>
              <a:t>The Richter Scale</a:t>
            </a:r>
            <a:endParaRPr lang="en-US" dirty="0"/>
          </a:p>
        </p:txBody>
      </p:sp>
      <p:sp>
        <p:nvSpPr>
          <p:cNvPr id="4" name="object 4"/>
          <p:cNvSpPr/>
          <p:nvPr/>
        </p:nvSpPr>
        <p:spPr>
          <a:xfrm>
            <a:off x="470154" y="950213"/>
            <a:ext cx="8213725" cy="17780"/>
          </a:xfrm>
          <a:custGeom>
            <a:avLst/>
            <a:gdLst/>
            <a:ahLst/>
            <a:cxnLst/>
            <a:rect l="l" t="t" r="r" b="b"/>
            <a:pathLst>
              <a:path w="8213725" h="17780">
                <a:moveTo>
                  <a:pt x="0" y="17754"/>
                </a:moveTo>
                <a:lnTo>
                  <a:pt x="8213509" y="0"/>
                </a:lnTo>
              </a:path>
            </a:pathLst>
          </a:custGeom>
          <a:ln w="32003">
            <a:solidFill>
              <a:srgbClr val="000000"/>
            </a:solidFill>
          </a:ln>
        </p:spPr>
        <p:txBody>
          <a:bodyPr wrap="square" lIns="0" tIns="0" rIns="0" bIns="0" rtlCol="0"/>
          <a:lstStyle/>
          <a:p>
            <a:endParaRPr/>
          </a:p>
        </p:txBody>
      </p:sp>
      <p:sp>
        <p:nvSpPr>
          <p:cNvPr id="7" name="TextBox 6">
            <a:extLst>
              <a:ext uri="{FF2B5EF4-FFF2-40B4-BE49-F238E27FC236}">
                <a16:creationId xmlns:a16="http://schemas.microsoft.com/office/drawing/2014/main" id="{AA7C64CA-9839-455F-8C55-FDF0E19FBD75}"/>
              </a:ext>
            </a:extLst>
          </p:cNvPr>
          <p:cNvSpPr txBox="1"/>
          <p:nvPr/>
        </p:nvSpPr>
        <p:spPr>
          <a:xfrm>
            <a:off x="470153" y="1371600"/>
            <a:ext cx="8213725" cy="1200329"/>
          </a:xfrm>
          <a:prstGeom prst="rect">
            <a:avLst/>
          </a:prstGeom>
          <a:noFill/>
        </p:spPr>
        <p:txBody>
          <a:bodyPr wrap="square">
            <a:spAutoFit/>
          </a:bodyPr>
          <a:lstStyle/>
          <a:p>
            <a:pPr algn="just"/>
            <a:r>
              <a:rPr lang="en-US" b="0" i="0" dirty="0">
                <a:effectLst/>
                <a:latin typeface="Arial" panose="020B0604020202020204" pitchFamily="34" charset="0"/>
                <a:cs typeface="Arial" panose="020B0604020202020204" pitchFamily="34" charset="0"/>
              </a:rPr>
              <a:t>The Richter scale was invented by Charles F. Richter in 1934, in order to measure an earthquake's magnitude ( force ), calculated from the amplitude of the strongest seismic wave recorded for a specific earthquake.</a:t>
            </a:r>
          </a:p>
          <a:p>
            <a:pPr algn="just"/>
            <a:endParaRPr lang="en-US" dirty="0">
              <a:solidFill>
                <a:schemeClr val="accent3">
                  <a:lumMod val="50000"/>
                </a:schemeClr>
              </a:solidFill>
              <a:latin typeface="Arial" panose="020B0604020202020204" pitchFamily="34" charset="0"/>
              <a:cs typeface="Arial" panose="020B0604020202020204" pitchFamily="34" charset="0"/>
            </a:endParaRPr>
          </a:p>
        </p:txBody>
      </p:sp>
      <p:pic>
        <p:nvPicPr>
          <p:cNvPr id="24578" name="Picture 2">
            <a:extLst>
              <a:ext uri="{FF2B5EF4-FFF2-40B4-BE49-F238E27FC236}">
                <a16:creationId xmlns:a16="http://schemas.microsoft.com/office/drawing/2014/main" id="{091AD3B5-4DA0-4CBF-920B-3C5031E6D1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122" y="2456180"/>
            <a:ext cx="8443294" cy="3317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07772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16182" y="218874"/>
            <a:ext cx="5709920" cy="513080"/>
          </a:xfrm>
          <a:prstGeom prst="rect">
            <a:avLst/>
          </a:prstGeom>
        </p:spPr>
        <p:txBody>
          <a:bodyPr vert="horz" wrap="square" lIns="0" tIns="12065" rIns="0" bIns="0" rtlCol="0" anchor="t">
            <a:spAutoFit/>
          </a:bodyPr>
          <a:lstStyle/>
          <a:p>
            <a:pPr marL="12700" algn="ctr">
              <a:spcBef>
                <a:spcPts val="95"/>
              </a:spcBef>
            </a:pPr>
            <a:r>
              <a:rPr lang="en-US" spc="-5" dirty="0"/>
              <a:t>The Richter Scale</a:t>
            </a:r>
            <a:endParaRPr lang="en-US" dirty="0"/>
          </a:p>
        </p:txBody>
      </p:sp>
      <p:sp>
        <p:nvSpPr>
          <p:cNvPr id="4" name="object 4"/>
          <p:cNvSpPr/>
          <p:nvPr/>
        </p:nvSpPr>
        <p:spPr>
          <a:xfrm>
            <a:off x="470154" y="950213"/>
            <a:ext cx="8213725" cy="17780"/>
          </a:xfrm>
          <a:custGeom>
            <a:avLst/>
            <a:gdLst/>
            <a:ahLst/>
            <a:cxnLst/>
            <a:rect l="l" t="t" r="r" b="b"/>
            <a:pathLst>
              <a:path w="8213725" h="17780">
                <a:moveTo>
                  <a:pt x="0" y="17754"/>
                </a:moveTo>
                <a:lnTo>
                  <a:pt x="8213509" y="0"/>
                </a:lnTo>
              </a:path>
            </a:pathLst>
          </a:custGeom>
          <a:ln w="32003">
            <a:solidFill>
              <a:srgbClr val="000000"/>
            </a:solidFill>
          </a:ln>
        </p:spPr>
        <p:txBody>
          <a:bodyPr wrap="square" lIns="0" tIns="0" rIns="0" bIns="0" rtlCol="0"/>
          <a:lstStyle/>
          <a:p>
            <a:endParaRPr/>
          </a:p>
        </p:txBody>
      </p:sp>
      <p:pic>
        <p:nvPicPr>
          <p:cNvPr id="5" name="Picture 4" descr="Diagram&#10;&#10;Description automatically generated">
            <a:extLst>
              <a:ext uri="{FF2B5EF4-FFF2-40B4-BE49-F238E27FC236}">
                <a16:creationId xmlns:a16="http://schemas.microsoft.com/office/drawing/2014/main" id="{92AEFFD9-AC2A-9204-4F98-112E5B93BD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5800" y="1295400"/>
            <a:ext cx="3926774" cy="4724400"/>
          </a:xfrm>
          <a:prstGeom prst="rect">
            <a:avLst/>
          </a:prstGeom>
        </p:spPr>
      </p:pic>
      <p:sp>
        <p:nvSpPr>
          <p:cNvPr id="6" name="TextBox 5">
            <a:extLst>
              <a:ext uri="{FF2B5EF4-FFF2-40B4-BE49-F238E27FC236}">
                <a16:creationId xmlns:a16="http://schemas.microsoft.com/office/drawing/2014/main" id="{2AD29495-7311-BA64-C4A5-6D520698F64C}"/>
              </a:ext>
            </a:extLst>
          </p:cNvPr>
          <p:cNvSpPr txBox="1"/>
          <p:nvPr/>
        </p:nvSpPr>
        <p:spPr>
          <a:xfrm>
            <a:off x="609600" y="1600200"/>
            <a:ext cx="3657600" cy="3785652"/>
          </a:xfrm>
          <a:prstGeom prst="rect">
            <a:avLst/>
          </a:prstGeom>
          <a:noFill/>
        </p:spPr>
        <p:txBody>
          <a:bodyPr wrap="square" rtlCol="0">
            <a:spAutoFit/>
          </a:bodyPr>
          <a:lstStyle/>
          <a:p>
            <a:pPr marL="285750" indent="-285750">
              <a:buFont typeface="Arial" panose="020B0604020202020204" pitchFamily="34" charset="0"/>
              <a:buChar char="•"/>
            </a:pPr>
            <a:r>
              <a:rPr lang="en-US" sz="2000" dirty="0"/>
              <a:t>Base-10 Logarithmic Scale</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Each order of magnitude is 10 times more amplified than the last one</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Wave amplitude</a:t>
            </a:r>
          </a:p>
          <a:p>
            <a:pPr marL="742950" lvl="1" indent="-285750">
              <a:buFont typeface="Arial" panose="020B0604020202020204" pitchFamily="34" charset="0"/>
              <a:buChar char="•"/>
            </a:pPr>
            <a:r>
              <a:rPr lang="en-US" sz="2000" dirty="0"/>
              <a:t>Richter 2 is 10 times greater in amplitude than Richter 1</a:t>
            </a:r>
          </a:p>
          <a:p>
            <a:pPr marL="742950" lvl="1" indent="-285750">
              <a:buFont typeface="Arial" panose="020B0604020202020204" pitchFamily="34" charset="0"/>
              <a:buChar char="•"/>
            </a:pPr>
            <a:r>
              <a:rPr lang="en-US" sz="2000" dirty="0"/>
              <a:t>Richter 3 is 100 times greater than Richter 1</a:t>
            </a:r>
          </a:p>
        </p:txBody>
      </p:sp>
    </p:spTree>
    <p:extLst>
      <p:ext uri="{BB962C8B-B14F-4D97-AF65-F5344CB8AC3E}">
        <p14:creationId xmlns:p14="http://schemas.microsoft.com/office/powerpoint/2010/main" val="39288574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9752</TotalTime>
  <Words>529</Words>
  <Application>Microsoft Office PowerPoint</Application>
  <PresentationFormat>On-screen Show (4:3)</PresentationFormat>
  <Paragraphs>64</Paragraphs>
  <Slides>17</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Calibri</vt:lpstr>
      <vt:lpstr>GeographEditWeb</vt:lpstr>
      <vt:lpstr>Google Sans</vt:lpstr>
      <vt:lpstr>Helvetica Neue</vt:lpstr>
      <vt:lpstr>Merriweather</vt:lpstr>
      <vt:lpstr>Open Sans</vt:lpstr>
      <vt:lpstr>Office Theme</vt:lpstr>
      <vt:lpstr>GGIS103 Earth’s Physical Systems</vt:lpstr>
      <vt:lpstr>Objectives</vt:lpstr>
      <vt:lpstr>PowerPoint Presentation</vt:lpstr>
      <vt:lpstr>Plate Boundaries</vt:lpstr>
      <vt:lpstr>Subduction Zone</vt:lpstr>
      <vt:lpstr>PowerPoint Presentation</vt:lpstr>
      <vt:lpstr>Ring of Fire</vt:lpstr>
      <vt:lpstr>Faults</vt:lpstr>
      <vt:lpstr>Faults</vt:lpstr>
      <vt:lpstr>PowerPoint Presentation</vt:lpstr>
      <vt:lpstr>PowerPoint Presentation</vt:lpstr>
      <vt:lpstr>PowerPoint Presentation</vt:lpstr>
      <vt:lpstr>PowerPoint Presentation</vt:lpstr>
      <vt:lpstr>Seismograph</vt:lpstr>
      <vt:lpstr>Seismograph</vt:lpstr>
      <vt:lpstr>The Richter Scale</vt:lpstr>
      <vt:lpstr>The Richter Scale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Piotr Cienciala</dc:creator>
  <cp:lastModifiedBy>Chyon, Sadiul</cp:lastModifiedBy>
  <cp:revision>43</cp:revision>
  <dcterms:created xsi:type="dcterms:W3CDTF">2021-02-09T00:31:15Z</dcterms:created>
  <dcterms:modified xsi:type="dcterms:W3CDTF">2026-02-12T18:59:55Z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2019-01-24T00:00:00Z</vt:filetime>
  </property>
  <property fmtid="{D5CDD505-2E9C-101B-9397-08002B2CF9AE}" pid="3" name="Creator">
    <vt:lpwstr>Acrobat PDFMaker 15 for PowerPoint</vt:lpwstr>
  </property>
  <property fmtid="{D5CDD505-2E9C-101B-9397-08002B2CF9AE}" pid="4" name="LastSaved">
    <vt:filetime>2021-02-09T00:00:00Z</vt:filetime>
  </property>
</Properties>
</file>